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50" b="0" i="0" u="none" strike="noStrike">
                <a:solidFill>
                  <a:srgbClr val="26215C"/>
                </a:solidFill>
                <a:latin typeface="Calibri"/>
              </a:defRPr>
            </a:pPr>
            <a:r>
              <a:rPr sz="850" b="0" i="0" u="none" strike="noStrike">
                <a:solidFill>
                  <a:srgbClr val="26215C"/>
                </a:solidFill>
                <a:latin typeface="Calibri"/>
              </a:rPr>
              <a:t>Cost per person (₹) by people served a year</a:t>
            </a:r>
          </a:p>
        </c:rich>
      </c:tx>
      <c:layout/>
      <c:overlay val="0"/>
    </c:title>
    <c:autoTitleDeleted val="0"/>
    <c:plotArea>
      <c:layout/>
      <c:barChart>
        <c:barDir val="col"/>
        <c:grouping val="clustered"/>
        <c:varyColors val="0"/>
        <c:ser>
          <c:idx val="0"/>
          <c:order val="0"/>
          <c:tx>
            <c:strRef>
              <c:f>Sheet1!$B$1</c:f>
              <c:strCache>
                <c:ptCount val="1"/>
                <c:pt idx="0">
                  <c:v>Our own models</c:v>
                </c:pt>
              </c:strCache>
            </c:strRef>
          </c:tx>
          <c:spPr>
            <a:solidFill>
              <a:srgbClr val="3B3486"/>
            </a:solidFill>
            <a:effectLst/>
          </c:spPr>
          <c:invertIfNegative val="0"/>
          <c:dLbls>
            <c:numFmt formatCode="#,##0" sourceLinked="0"/>
            <c:txPr>
              <a:bodyPr/>
              <a:lstStyle/>
              <a:p>
                <a:pPr>
                  <a:defRPr b="0" i="0" strike="noStrike" sz="700" u="none">
                    <a:solidFill>
                      <a:srgbClr val="1F2937"/>
                    </a:solidFill>
                    <a:latin typeface="Arial"/>
                  </a:defRPr>
                </a:pPr>
              </a:p>
            </c:txPr>
            <c:showLegendKey val="0"/>
            <c:showVal val="1"/>
            <c:showCatName val="0"/>
            <c:showSerName val="0"/>
            <c:showPercent val="0"/>
            <c:showBubbleSize val="0"/>
            <c:showLeaderLines val="0"/>
          </c:dLbls>
          <c:cat>
            <c:multiLvlStrRef>
              <c:f>Sheet1!$A$2:$A$5</c:f>
              <c:multiLvlStrCache>
                <c:ptCount val="4"/>
                <c:lvl>
                  <c:pt idx="0">
                    <c:v>50,000</c:v>
                  </c:pt>
                  <c:pt idx="1">
                    <c:v>1 lakh</c:v>
                  </c:pt>
                  <c:pt idx="2">
                    <c:v>5 lakh</c:v>
                  </c:pt>
                  <c:pt idx="3">
                    <c:v>10 lakh</c:v>
                  </c:pt>
                </c:lvl>
              </c:multiLvlStrCache>
            </c:multiLvlStrRef>
          </c:cat>
          <c:val>
            <c:numRef>
              <c:f>Sheet1!$B$2:$B$5</c:f>
              <c:numCache>
                <c:formatCode>General</c:formatCode>
                <c:ptCount val="4"/>
                <c:pt idx="0">
                  <c:v>163</c:v>
                </c:pt>
                <c:pt idx="1">
                  <c:v>94</c:v>
                </c:pt>
                <c:pt idx="2">
                  <c:v>39</c:v>
                </c:pt>
                <c:pt idx="3">
                  <c:v>32</c:v>
                </c:pt>
              </c:numCache>
            </c:numRef>
          </c:val>
        </c:ser>
        <c:ser>
          <c:idx val="1"/>
          <c:order val="1"/>
          <c:tx>
            <c:strRef>
              <c:f>Sheet1!$C$1</c:f>
              <c:strCache>
                <c:ptCount val="1"/>
                <c:pt idx="0">
                  <c:v>Paid APIs</c:v>
                </c:pt>
              </c:strCache>
            </c:strRef>
          </c:tx>
          <c:spPr>
            <a:solidFill>
              <a:srgbClr val="D6D3EA"/>
            </a:solidFill>
            <a:effectLst/>
          </c:spPr>
          <c:invertIfNegative val="0"/>
          <c:dLbls>
            <c:numFmt formatCode="#,##0" sourceLinked="0"/>
            <c:txPr>
              <a:bodyPr/>
              <a:lstStyle/>
              <a:p>
                <a:pPr>
                  <a:defRPr b="0" i="0" strike="noStrike" sz="700" u="none">
                    <a:solidFill>
                      <a:srgbClr val="1F2937"/>
                    </a:solidFill>
                    <a:latin typeface="Arial"/>
                  </a:defRPr>
                </a:pPr>
              </a:p>
            </c:txPr>
            <c:showLegendKey val="0"/>
            <c:showVal val="1"/>
            <c:showCatName val="0"/>
            <c:showSerName val="0"/>
            <c:showPercent val="0"/>
            <c:showBubbleSize val="0"/>
            <c:showLeaderLines val="0"/>
          </c:dLbls>
          <c:cat>
            <c:multiLvlStrRef>
              <c:f>Sheet1!$A$2:$A$5</c:f>
              <c:multiLvlStrCache>
                <c:ptCount val="4"/>
                <c:lvl>
                  <c:pt idx="0">
                    <c:v>50,000</c:v>
                  </c:pt>
                  <c:pt idx="1">
                    <c:v>1 lakh</c:v>
                  </c:pt>
                  <c:pt idx="2">
                    <c:v>5 lakh</c:v>
                  </c:pt>
                  <c:pt idx="3">
                    <c:v>10 lakh</c:v>
                  </c:pt>
                </c:lvl>
              </c:multiLvlStrCache>
            </c:multiLvlStrRef>
          </c:cat>
          <c:val>
            <c:numRef>
              <c:f>Sheet1!$C$2:$C$5</c:f>
              <c:numCache>
                <c:formatCode>General</c:formatCode>
                <c:ptCount val="4"/>
                <c:pt idx="0">
                  <c:v>121</c:v>
                </c:pt>
                <c:pt idx="1">
                  <c:v>73</c:v>
                </c:pt>
                <c:pt idx="2">
                  <c:v>35</c:v>
                </c:pt>
                <c:pt idx="3">
                  <c:v>30</c:v>
                </c:pt>
              </c:numCache>
            </c:numRef>
          </c:val>
        </c:ser>
        <c:dLbls>
          <c:numFmt formatCode="#,##0" sourceLinked="0"/>
          <c:txPr>
            <a:bodyPr/>
            <a:lstStyle/>
            <a:p>
              <a:pPr>
                <a:defRPr b="0" i="0" strike="noStrike" sz="700" u="none">
                  <a:solidFill>
                    <a:srgbClr val="1F2937"/>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700">
              <a:solidFill>
                <a:srgbClr val="6B728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SIH 2026 title page. Fill Team ID and Team Name exactly as on the SIH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idea and the gap (CAG Report 20 of 2025: 41% of 56 lakh certified PMKVY trainees placed; NSO 2025; Census 2011). Right: the caller's journey in five steps, from a missed call to verified work, and six things only HunarMarg does. The 1600 number needs a government MoU.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call: Exotel takes the missed call and calls back; IndicConformer turns speech into text; Sarvam-30B (with the MuRIL tagger) fills a fixed profile form using only job codes from our list; e5 + BM25 find the NCO occupation; the caller confirms; LightGBM ranks options from government data; Indic Parler-TTS speaks only checked facts. If a GPU fails, the Sarvam API takes over; if the AI is stuck, a human counsellor calls back. After the call: the case is saved with an audit log, an SMS goes out, an officer approves, follow-ups at 1, 3 and 6 months include the Satyavaani liveness check, and only verified jobs retrain the ranker. Full details: docs/MODELS.md.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Costs from scripts/cost_model.py: journey minutes, API cost and team budget from our v4 research; E2E Networks GPU prices (L4 Rs 49/h, L40S Rs 102/h), 12 hours a day. At 50,000 people a year our own models cost Rs 163 per person (Rs 159-172 for carrier Rs 0.60-1.20/min) against Rs 121 on paid APIs; at 10 lakh it is Rs 32 against Rs 30. We choose our own models for 22 languages, dialect tuning and data control. Calls per GPU are estimates to be confirmed by a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CAG Report No. 20 of 2025: 41% of 56 lakh certified PMKVY trainees placed; the GIA target is 70%. J-PAL (Chakravorty et al., DDU-GKY, Bihar and Jharkhand): trainees told about real jobs were 11 points more likely to stay 5+ months (62% to 73%). 109 minutes and Rs 44,136 are our estimates from the v4 idea file. About 50,000 GIA beneficiaries a year (MoSJE factsheet, Sep 2026); the PM-AJAY dashboard covers 47,000+ SC-majority villages (PIB,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GitHub repository public before submitting (both QR codes open it). Add the prototype number and the demo video link, and put their QR codes in the two dashed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slideLayout" Target="../slideLayouts/slideLayout1.xml"/><Relationship Id="rId2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5669280" cy="502920"/>
          </a:xfrm>
          <a:prstGeom prst="rect">
            <a:avLst/>
          </a:prstGeom>
          <a:noFill/>
          <a:ln/>
        </p:spPr>
        <p:txBody>
          <a:bodyPr wrap="square" lIns="0" tIns="0" rIns="0" bIns="0" rtlCol="0" anchor="ctr"/>
          <a:lstStyle/>
          <a:p>
            <a:pPr indent="0" marL="0">
              <a:buNone/>
            </a:pPr>
            <a:r>
              <a:rPr lang="en-US" sz="2800" b="1" dirty="0">
                <a:solidFill>
                  <a:srgbClr val="1F4E79"/>
                </a:solidFill>
                <a:latin typeface="Times New Roman" pitchFamily="34" charset="0"/>
                <a:ea typeface="Times New Roman" pitchFamily="34" charset="-122"/>
                <a:cs typeface="Times New Roman" pitchFamily="34" charset="-120"/>
              </a:rPr>
              <a:t>SMART INDIA HACKATHON 2026</a:t>
            </a:r>
            <a:endParaRPr lang="en-US" sz="2800" dirty="0"/>
          </a:p>
        </p:txBody>
      </p:sp>
      <p:sp>
        <p:nvSpPr>
          <p:cNvPr id="3" name="Text 1"/>
          <p:cNvSpPr txBox="1"/>
          <p:nvPr/>
        </p:nvSpPr>
        <p:spPr>
          <a:xfrm>
            <a:off x="457200" y="868680"/>
            <a:ext cx="5669280" cy="365760"/>
          </a:xfrm>
          <a:prstGeom prst="rect">
            <a:avLst/>
          </a:prstGeom>
          <a:noFill/>
          <a:ln/>
        </p:spPr>
        <p:txBody>
          <a:bodyPr wrap="square" lIns="0" tIns="0" rIns="0" bIns="0" rtlCol="0" anchor="ctr"/>
          <a:lstStyle/>
          <a:p>
            <a:pPr indent="0" marL="0">
              <a:buNone/>
            </a:pPr>
            <a:r>
              <a:rPr lang="en-US" sz="2000" b="1" dirty="0">
                <a:solidFill>
                  <a:srgbClr val="111827"/>
                </a:solidFill>
                <a:latin typeface="Times New Roman" pitchFamily="34" charset="0"/>
                <a:ea typeface="Times New Roman" pitchFamily="34" charset="-122"/>
                <a:cs typeface="Times New Roman" pitchFamily="34" charset="-120"/>
              </a:rPr>
              <a:t>TITLE PAGE</a:t>
            </a:r>
            <a:endParaRPr lang="en-US" sz="2000" dirty="0"/>
          </a:p>
        </p:txBody>
      </p:sp>
      <p:pic>
        <p:nvPicPr>
          <p:cNvPr id="4" name="Image 0" descr="/tmp/pw/sih_logo.png">    </p:cNvPr>
          <p:cNvPicPr>
            <a:picLocks noChangeAspect="1"/>
          </p:cNvPicPr>
          <p:nvPr/>
        </p:nvPicPr>
        <p:blipFill>
          <a:blip r:embed="rId1"/>
          <a:stretch>
            <a:fillRect/>
          </a:stretch>
        </p:blipFill>
        <p:spPr>
          <a:xfrm>
            <a:off x="5577840" y="1417320"/>
            <a:ext cx="3200400" cy="1508760"/>
          </a:xfrm>
          <a:prstGeom prst="rect">
            <a:avLst/>
          </a:prstGeom>
        </p:spPr>
      </p:pic>
      <p:sp>
        <p:nvSpPr>
          <p:cNvPr id="5" name="Text 2"/>
          <p:cNvSpPr txBox="1"/>
          <p:nvPr/>
        </p:nvSpPr>
        <p:spPr>
          <a:xfrm>
            <a:off x="457200" y="1417320"/>
            <a:ext cx="4846320" cy="329184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937"/>
                </a:solidFill>
                <a:latin typeface="Arial" pitchFamily="34" charset="0"/>
                <a:ea typeface="Arial" pitchFamily="34" charset="-122"/>
                <a:cs typeface="Arial" pitchFamily="34" charset="-120"/>
              </a:rPr>
              <a:t>Problem Statement ID – </a:t>
            </a:r>
            <a:pPr indent="0" marL="0">
              <a:spcAft>
                <a:spcPts val="800"/>
              </a:spcAft>
              <a:buNone/>
            </a:pPr>
            <a:r>
              <a:rPr lang="en-US" sz="1300" b="1" dirty="0">
                <a:solidFill>
                  <a:srgbClr val="1F4E79"/>
                </a:solidFill>
                <a:latin typeface="Arial" pitchFamily="34" charset="0"/>
                <a:ea typeface="Arial" pitchFamily="34" charset="-122"/>
                <a:cs typeface="Arial" pitchFamily="34" charset="-120"/>
              </a:rPr>
              <a:t>SIH26097</a:t>
            </a:r>
            <a:endParaRPr lang="en-US" sz="1400" dirty="0"/>
          </a:p>
          <a:p>
            <a:pPr marL="342900" indent="-342900">
              <a:spcAft>
                <a:spcPts val="800"/>
              </a:spcAft>
              <a:buSzPct val="100000"/>
              <a:buChar char="•"/>
            </a:pPr>
            <a:r>
              <a:rPr lang="en-US" sz="1400" b="1" dirty="0">
                <a:solidFill>
                  <a:srgbClr val="1F2937"/>
                </a:solidFill>
                <a:latin typeface="Arial" pitchFamily="34" charset="0"/>
                <a:ea typeface="Arial" pitchFamily="34" charset="-122"/>
                <a:cs typeface="Arial" pitchFamily="34" charset="-120"/>
              </a:rPr>
              <a:t>Problem Statement Title – </a:t>
            </a:r>
            <a:pPr indent="0" marL="0">
              <a:spcAft>
                <a:spcPts val="800"/>
              </a:spcAft>
              <a:buNone/>
            </a:pPr>
            <a:r>
              <a:rPr lang="en-US" sz="1300" b="1" dirty="0">
                <a:solidFill>
                  <a:srgbClr val="1F4E79"/>
                </a:solidFill>
                <a:latin typeface="Arial" pitchFamily="34" charset="0"/>
                <a:ea typeface="Arial" pitchFamily="34" charset="-122"/>
                <a:cs typeface="Arial" pitchFamily="34" charset="-120"/>
              </a:rPr>
              <a:t>AI-driven voice assistant for livelihood mapping and NSQF-aligned skilling recommendations for SC communities under the GIA component of PM-AJAY</a:t>
            </a:r>
            <a:endParaRPr lang="en-US" sz="1400" dirty="0"/>
          </a:p>
          <a:p>
            <a:pPr marL="342900" indent="-342900">
              <a:spcAft>
                <a:spcPts val="800"/>
              </a:spcAft>
              <a:buSzPct val="100000"/>
              <a:buChar char="•"/>
            </a:pPr>
            <a:r>
              <a:rPr lang="en-US" sz="1400" b="1" dirty="0">
                <a:solidFill>
                  <a:srgbClr val="1F2937"/>
                </a:solidFill>
                <a:latin typeface="Arial" pitchFamily="34" charset="0"/>
                <a:ea typeface="Arial" pitchFamily="34" charset="-122"/>
                <a:cs typeface="Arial" pitchFamily="34" charset="-120"/>
              </a:rPr>
              <a:t>Theme – </a:t>
            </a:r>
            <a:pPr indent="0" marL="0">
              <a:spcAft>
                <a:spcPts val="800"/>
              </a:spcAft>
              <a:buNone/>
            </a:pPr>
            <a:r>
              <a:rPr lang="en-US" sz="1300" b="1" dirty="0">
                <a:solidFill>
                  <a:srgbClr val="1F4E79"/>
                </a:solidFill>
                <a:latin typeface="Arial" pitchFamily="34" charset="0"/>
                <a:ea typeface="Arial" pitchFamily="34" charset="-122"/>
                <a:cs typeface="Arial" pitchFamily="34" charset="-120"/>
              </a:rPr>
              <a:t>Agriculture, FoodTech &amp; Rural Development</a:t>
            </a:r>
            <a:endParaRPr lang="en-US" sz="1400" dirty="0"/>
          </a:p>
          <a:p>
            <a:pPr marL="342900" indent="-342900">
              <a:spcAft>
                <a:spcPts val="800"/>
              </a:spcAft>
              <a:buSzPct val="100000"/>
              <a:buChar char="•"/>
            </a:pPr>
            <a:r>
              <a:rPr lang="en-US" sz="1400" b="1" dirty="0">
                <a:solidFill>
                  <a:srgbClr val="1F2937"/>
                </a:solidFill>
                <a:latin typeface="Arial" pitchFamily="34" charset="0"/>
                <a:ea typeface="Arial" pitchFamily="34" charset="-122"/>
                <a:cs typeface="Arial" pitchFamily="34" charset="-120"/>
              </a:rPr>
              <a:t>PS Category – </a:t>
            </a:r>
            <a:pPr indent="0" marL="0">
              <a:spcAft>
                <a:spcPts val="800"/>
              </a:spcAft>
              <a:buNone/>
            </a:pPr>
            <a:r>
              <a:rPr lang="en-US" sz="1300" b="1" dirty="0">
                <a:solidFill>
                  <a:srgbClr val="1F4E79"/>
                </a:solidFill>
                <a:latin typeface="Arial" pitchFamily="34" charset="0"/>
                <a:ea typeface="Arial" pitchFamily="34" charset="-122"/>
                <a:cs typeface="Arial" pitchFamily="34" charset="-120"/>
              </a:rPr>
              <a:t>Software</a:t>
            </a:r>
            <a:endParaRPr lang="en-US" sz="1400" dirty="0"/>
          </a:p>
          <a:p>
            <a:pPr marL="342900" indent="-342900">
              <a:spcAft>
                <a:spcPts val="800"/>
              </a:spcAft>
              <a:buSzPct val="100000"/>
              <a:buChar char="•"/>
            </a:pPr>
            <a:r>
              <a:rPr lang="en-US" sz="1400" b="1" dirty="0">
                <a:solidFill>
                  <a:srgbClr val="1F2937"/>
                </a:solidFill>
                <a:latin typeface="Arial" pitchFamily="34" charset="0"/>
                <a:ea typeface="Arial" pitchFamily="34" charset="-122"/>
                <a:cs typeface="Arial" pitchFamily="34" charset="-120"/>
              </a:rPr>
              <a:t>Team ID – </a:t>
            </a:r>
            <a:pPr indent="0" marL="0">
              <a:spcAft>
                <a:spcPts val="800"/>
              </a:spcAft>
              <a:buNone/>
            </a:pPr>
            <a:r>
              <a:rPr lang="en-US" sz="1300" b="1" dirty="0">
                <a:solidFill>
                  <a:srgbClr val="B4432C"/>
                </a:solidFill>
                <a:latin typeface="Arial" pitchFamily="34" charset="0"/>
                <a:ea typeface="Arial" pitchFamily="34" charset="-122"/>
                <a:cs typeface="Arial" pitchFamily="34" charset="-120"/>
              </a:rPr>
              <a:t>________</a:t>
            </a:r>
            <a:endParaRPr lang="en-US" sz="1400" dirty="0"/>
          </a:p>
          <a:p>
            <a:pPr marL="342900" indent="-342900">
              <a:spcAft>
                <a:spcPts val="800"/>
              </a:spcAft>
              <a:buSzPct val="100000"/>
              <a:buChar char="•"/>
            </a:pPr>
            <a:r>
              <a:rPr lang="en-US" sz="1400" b="1" dirty="0">
                <a:solidFill>
                  <a:srgbClr val="1F2937"/>
                </a:solidFill>
                <a:latin typeface="Arial" pitchFamily="34" charset="0"/>
                <a:ea typeface="Arial" pitchFamily="34" charset="-122"/>
                <a:cs typeface="Arial" pitchFamily="34" charset="-120"/>
              </a:rPr>
              <a:t>Team Name (Registered on portal) – </a:t>
            </a:r>
            <a:pPr indent="0" marL="0">
              <a:spcAft>
                <a:spcPts val="800"/>
              </a:spcAft>
              <a:buNone/>
            </a:pPr>
            <a:r>
              <a:rPr lang="en-US" sz="1300" b="1" dirty="0">
                <a:solidFill>
                  <a:srgbClr val="B4432C"/>
                </a:solidFill>
                <a:latin typeface="Arial" pitchFamily="34" charset="0"/>
                <a:ea typeface="Arial" pitchFamily="34" charset="-122"/>
                <a:cs typeface="Arial" pitchFamily="34" charset="-120"/>
              </a:rPr>
              <a:t>________</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17520" cy="5143500"/>
          </a:xfrm>
          <a:prstGeom prst="rect">
            <a:avLst/>
          </a:prstGeom>
          <a:solidFill>
            <a:srgbClr val="26215C"/>
          </a:solidFill>
          <a:ln w="12700">
            <a:solidFill>
              <a:srgbClr val="26215C"/>
            </a:solidFill>
            <a:prstDash val="solid"/>
          </a:ln>
        </p:spPr>
      </p:sp>
      <p:sp>
        <p:nvSpPr>
          <p:cNvPr id="3" name="Text 1"/>
          <p:cNvSpPr txBox="1"/>
          <p:nvPr/>
        </p:nvSpPr>
        <p:spPr>
          <a:xfrm>
            <a:off x="365760" y="182880"/>
            <a:ext cx="2560320" cy="182880"/>
          </a:xfrm>
          <a:prstGeom prst="rect">
            <a:avLst/>
          </a:prstGeom>
          <a:noFill/>
          <a:ln/>
        </p:spPr>
        <p:txBody>
          <a:bodyPr wrap="square" lIns="0" tIns="0" rIns="0" bIns="0" rtlCol="0" anchor="t"/>
          <a:lstStyle/>
          <a:p>
            <a:pPr indent="0" marL="0">
              <a:buNone/>
            </a:pPr>
            <a:r>
              <a:rPr lang="en-US" sz="900" b="1" spc="200" kern="0" dirty="0">
                <a:solidFill>
                  <a:srgbClr val="F2A33A"/>
                </a:solidFill>
                <a:latin typeface="Calibri" pitchFamily="34" charset="0"/>
                <a:ea typeface="Calibri" pitchFamily="34" charset="-122"/>
                <a:cs typeface="Calibri" pitchFamily="34" charset="-120"/>
              </a:rPr>
              <a:t>02  ·  PROPOSED SOLUTION</a:t>
            </a:r>
            <a:endParaRPr lang="en-US" sz="900" dirty="0"/>
          </a:p>
        </p:txBody>
      </p:sp>
      <p:sp>
        <p:nvSpPr>
          <p:cNvPr id="4" name="Text 2"/>
          <p:cNvSpPr txBox="1"/>
          <p:nvPr/>
        </p:nvSpPr>
        <p:spPr>
          <a:xfrm>
            <a:off x="365760" y="411480"/>
            <a:ext cx="256032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HunarMarg</a:t>
            </a:r>
            <a:endParaRPr lang="en-US" sz="3000" dirty="0"/>
          </a:p>
        </p:txBody>
      </p:sp>
      <p:sp>
        <p:nvSpPr>
          <p:cNvPr id="5" name="Text 3"/>
          <p:cNvSpPr txBox="1"/>
          <p:nvPr/>
        </p:nvSpPr>
        <p:spPr>
          <a:xfrm>
            <a:off x="365760" y="914400"/>
            <a:ext cx="2560320" cy="228600"/>
          </a:xfrm>
          <a:prstGeom prst="rect">
            <a:avLst/>
          </a:prstGeom>
          <a:noFill/>
          <a:ln/>
        </p:spPr>
        <p:txBody>
          <a:bodyPr wrap="square" lIns="0" tIns="0" rIns="0" bIns="0" rtlCol="0" anchor="t"/>
          <a:lstStyle/>
          <a:p>
            <a:pPr indent="0" marL="0">
              <a:buNone/>
            </a:pPr>
            <a:r>
              <a:rPr lang="en-US" sz="1000" i="1" dirty="0">
                <a:solidFill>
                  <a:srgbClr val="F2A33A"/>
                </a:solidFill>
                <a:latin typeface="Calibri" pitchFamily="34" charset="0"/>
                <a:ea typeface="Calibri" pitchFamily="34" charset="-122"/>
                <a:cs typeface="Calibri" pitchFamily="34" charset="-120"/>
              </a:rPr>
              <a:t>हुनरमार्ग · the path from skill to livelihood</a:t>
            </a:r>
            <a:endParaRPr lang="en-US" sz="1000" dirty="0"/>
          </a:p>
        </p:txBody>
      </p:sp>
      <p:sp>
        <p:nvSpPr>
          <p:cNvPr id="6" name="Text 4"/>
          <p:cNvSpPr txBox="1"/>
          <p:nvPr/>
        </p:nvSpPr>
        <p:spPr>
          <a:xfrm>
            <a:off x="365760" y="1353312"/>
            <a:ext cx="2377440" cy="219456"/>
          </a:xfrm>
          <a:prstGeom prst="rect">
            <a:avLst/>
          </a:prstGeom>
          <a:noFill/>
          <a:ln/>
        </p:spPr>
        <p:txBody>
          <a:bodyPr wrap="square" lIns="0" tIns="0" rIns="0" bIns="0" rtlCol="0" anchor="t"/>
          <a:lstStyle/>
          <a:p>
            <a:pPr indent="0" marL="0">
              <a:buNone/>
            </a:pPr>
            <a:r>
              <a:rPr lang="en-US" sz="1100" b="1" spc="100" kern="0" dirty="0">
                <a:solidFill>
                  <a:srgbClr val="C9C6E8"/>
                </a:solidFill>
                <a:latin typeface="Calibri" pitchFamily="34" charset="0"/>
                <a:ea typeface="Calibri" pitchFamily="34" charset="-122"/>
                <a:cs typeface="Calibri" pitchFamily="34" charset="-120"/>
              </a:rPr>
              <a:t>The gap</a:t>
            </a:r>
            <a:endParaRPr lang="en-US" sz="1100" dirty="0"/>
          </a:p>
        </p:txBody>
      </p:sp>
      <p:sp>
        <p:nvSpPr>
          <p:cNvPr id="7" name="Text 5"/>
          <p:cNvSpPr txBox="1"/>
          <p:nvPr/>
        </p:nvSpPr>
        <p:spPr>
          <a:xfrm>
            <a:off x="365760" y="1591056"/>
            <a:ext cx="237744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A form picks the course, not the person, so SC job seekers land in training that doesn't fit them.</a:t>
            </a:r>
            <a:endParaRPr lang="en-US" sz="1100" dirty="0"/>
          </a:p>
        </p:txBody>
      </p:sp>
      <p:sp>
        <p:nvSpPr>
          <p:cNvPr id="8" name="Text 6"/>
          <p:cNvSpPr txBox="1"/>
          <p:nvPr/>
        </p:nvSpPr>
        <p:spPr>
          <a:xfrm>
            <a:off x="365760" y="2331720"/>
            <a:ext cx="1051560" cy="411480"/>
          </a:xfrm>
          <a:prstGeom prst="rect">
            <a:avLst/>
          </a:prstGeom>
          <a:noFill/>
          <a:ln/>
        </p:spPr>
        <p:txBody>
          <a:bodyPr wrap="square" lIns="0" tIns="0" rIns="0" bIns="0" rtlCol="0" anchor="ctr"/>
          <a:lstStyle/>
          <a:p>
            <a:pPr indent="0" marL="0">
              <a:buNone/>
            </a:pPr>
            <a:r>
              <a:rPr lang="en-US" sz="2400" b="1" dirty="0">
                <a:solidFill>
                  <a:srgbClr val="F2A33A"/>
                </a:solidFill>
                <a:latin typeface="Calibri" pitchFamily="34" charset="0"/>
                <a:ea typeface="Calibri" pitchFamily="34" charset="-122"/>
                <a:cs typeface="Calibri" pitchFamily="34" charset="-120"/>
              </a:rPr>
              <a:t>41%</a:t>
            </a:r>
            <a:endParaRPr lang="en-US" sz="2400" dirty="0"/>
          </a:p>
        </p:txBody>
      </p:sp>
      <p:sp>
        <p:nvSpPr>
          <p:cNvPr id="9" name="Text 7"/>
          <p:cNvSpPr txBox="1"/>
          <p:nvPr/>
        </p:nvSpPr>
        <p:spPr>
          <a:xfrm>
            <a:off x="1463040" y="2350008"/>
            <a:ext cx="1371600" cy="548640"/>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of certified trainees were placed</a:t>
            </a:r>
            <a:endParaRPr lang="en-US" sz="900" dirty="0"/>
          </a:p>
          <a:p>
            <a:pPr indent="0" marL="0">
              <a:buNone/>
            </a:pPr>
            <a:r>
              <a:rPr lang="en-US" sz="750" dirty="0">
                <a:solidFill>
                  <a:srgbClr val="A9A5D3"/>
                </a:solidFill>
                <a:latin typeface="Calibri" pitchFamily="34" charset="0"/>
                <a:ea typeface="Calibri" pitchFamily="34" charset="-122"/>
                <a:cs typeface="Calibri" pitchFamily="34" charset="-120"/>
              </a:rPr>
              <a:t>CAG 2025</a:t>
            </a:r>
            <a:endParaRPr lang="en-US" sz="900" dirty="0"/>
          </a:p>
        </p:txBody>
      </p:sp>
      <p:sp>
        <p:nvSpPr>
          <p:cNvPr id="10" name="Text 8"/>
          <p:cNvSpPr txBox="1"/>
          <p:nvPr/>
        </p:nvSpPr>
        <p:spPr>
          <a:xfrm>
            <a:off x="365760" y="3081528"/>
            <a:ext cx="1051560" cy="411480"/>
          </a:xfrm>
          <a:prstGeom prst="rect">
            <a:avLst/>
          </a:prstGeom>
          <a:noFill/>
          <a:ln/>
        </p:spPr>
        <p:txBody>
          <a:bodyPr wrap="square" lIns="0" tIns="0" rIns="0" bIns="0" rtlCol="0" anchor="ctr"/>
          <a:lstStyle/>
          <a:p>
            <a:pPr indent="0" marL="0">
              <a:buNone/>
            </a:pPr>
            <a:r>
              <a:rPr lang="en-US" sz="2400" b="1" dirty="0">
                <a:solidFill>
                  <a:srgbClr val="F2A33A"/>
                </a:solidFill>
                <a:latin typeface="Calibri" pitchFamily="34" charset="0"/>
                <a:ea typeface="Calibri" pitchFamily="34" charset="-122"/>
                <a:cs typeface="Calibri" pitchFamily="34" charset="-120"/>
              </a:rPr>
              <a:t>51.6%</a:t>
            </a:r>
            <a:endParaRPr lang="en-US" sz="2400" dirty="0"/>
          </a:p>
        </p:txBody>
      </p:sp>
      <p:sp>
        <p:nvSpPr>
          <p:cNvPr id="11" name="Text 9"/>
          <p:cNvSpPr txBox="1"/>
          <p:nvPr/>
        </p:nvSpPr>
        <p:spPr>
          <a:xfrm>
            <a:off x="1463040" y="3099816"/>
            <a:ext cx="1371600" cy="548640"/>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of rural women have no phone of their own</a:t>
            </a:r>
            <a:endParaRPr lang="en-US" sz="900" dirty="0"/>
          </a:p>
          <a:p>
            <a:pPr indent="0" marL="0">
              <a:buNone/>
            </a:pPr>
            <a:r>
              <a:rPr lang="en-US" sz="750" dirty="0">
                <a:solidFill>
                  <a:srgbClr val="A9A5D3"/>
                </a:solidFill>
                <a:latin typeface="Calibri" pitchFamily="34" charset="0"/>
                <a:ea typeface="Calibri" pitchFamily="34" charset="-122"/>
                <a:cs typeface="Calibri" pitchFamily="34" charset="-120"/>
              </a:rPr>
              <a:t>NSO 2025</a:t>
            </a:r>
            <a:endParaRPr lang="en-US" sz="900" dirty="0"/>
          </a:p>
        </p:txBody>
      </p:sp>
      <p:sp>
        <p:nvSpPr>
          <p:cNvPr id="12" name="Text 10"/>
          <p:cNvSpPr txBox="1"/>
          <p:nvPr/>
        </p:nvSpPr>
        <p:spPr>
          <a:xfrm>
            <a:off x="365760" y="3831336"/>
            <a:ext cx="1051560" cy="411480"/>
          </a:xfrm>
          <a:prstGeom prst="rect">
            <a:avLst/>
          </a:prstGeom>
          <a:noFill/>
          <a:ln/>
        </p:spPr>
        <p:txBody>
          <a:bodyPr wrap="square" lIns="0" tIns="0" rIns="0" bIns="0" rtlCol="0" anchor="ctr"/>
          <a:lstStyle/>
          <a:p>
            <a:pPr indent="0" marL="0">
              <a:buNone/>
            </a:pPr>
            <a:r>
              <a:rPr lang="en-US" sz="2400" b="1" dirty="0">
                <a:solidFill>
                  <a:srgbClr val="F2A33A"/>
                </a:solidFill>
                <a:latin typeface="Calibri" pitchFamily="34" charset="0"/>
                <a:ea typeface="Calibri" pitchFamily="34" charset="-122"/>
                <a:cs typeface="Calibri" pitchFamily="34" charset="-120"/>
              </a:rPr>
              <a:t>66.1%</a:t>
            </a:r>
            <a:endParaRPr lang="en-US" sz="2400" dirty="0"/>
          </a:p>
        </p:txBody>
      </p:sp>
      <p:sp>
        <p:nvSpPr>
          <p:cNvPr id="13" name="Text 11"/>
          <p:cNvSpPr txBox="1"/>
          <p:nvPr/>
        </p:nvSpPr>
        <p:spPr>
          <a:xfrm>
            <a:off x="1463040" y="3849624"/>
            <a:ext cx="1371600" cy="548640"/>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SC literacy: forms don't reach many</a:t>
            </a:r>
            <a:endParaRPr lang="en-US" sz="900" dirty="0"/>
          </a:p>
          <a:p>
            <a:pPr indent="0" marL="0">
              <a:buNone/>
            </a:pPr>
            <a:r>
              <a:rPr lang="en-US" sz="750" dirty="0">
                <a:solidFill>
                  <a:srgbClr val="A9A5D3"/>
                </a:solidFill>
                <a:latin typeface="Calibri" pitchFamily="34" charset="0"/>
                <a:ea typeface="Calibri" pitchFamily="34" charset="-122"/>
                <a:cs typeface="Calibri" pitchFamily="34" charset="-120"/>
              </a:rPr>
              <a:t>Census 2011</a:t>
            </a:r>
            <a:endParaRPr lang="en-US" sz="900" dirty="0"/>
          </a:p>
        </p:txBody>
      </p:sp>
      <p:sp>
        <p:nvSpPr>
          <p:cNvPr id="14" name="Text 12"/>
          <p:cNvSpPr txBox="1"/>
          <p:nvPr/>
        </p:nvSpPr>
        <p:spPr>
          <a:xfrm>
            <a:off x="365760" y="4846320"/>
            <a:ext cx="2286000" cy="182880"/>
          </a:xfrm>
          <a:prstGeom prst="rect">
            <a:avLst/>
          </a:prstGeom>
          <a:noFill/>
          <a:ln/>
        </p:spPr>
        <p:txBody>
          <a:bodyPr wrap="square" lIns="0" tIns="0" rIns="0" bIns="0" rtlCol="0" anchor="ctr"/>
          <a:lstStyle/>
          <a:p>
            <a:pPr indent="0" marL="0">
              <a:buNone/>
            </a:pPr>
            <a:r>
              <a:rPr lang="en-US" sz="800" b="1" dirty="0">
                <a:solidFill>
                  <a:srgbClr val="C9C6E8"/>
                </a:solidFill>
                <a:latin typeface="Calibri" pitchFamily="34" charset="0"/>
                <a:ea typeface="Calibri" pitchFamily="34" charset="-122"/>
                <a:cs typeface="Calibri" pitchFamily="34" charset="-120"/>
              </a:rPr>
              <a:t>HunarMarg  ·  SIH26097</a:t>
            </a:r>
            <a:endParaRPr lang="en-US" sz="800" dirty="0"/>
          </a:p>
        </p:txBody>
      </p:sp>
      <p:sp>
        <p:nvSpPr>
          <p:cNvPr id="15" name="Shape 13"/>
          <p:cNvSpPr/>
          <p:nvPr/>
        </p:nvSpPr>
        <p:spPr>
          <a:xfrm>
            <a:off x="7680960" y="4937760"/>
            <a:ext cx="1051560" cy="0"/>
          </a:xfrm>
          <a:prstGeom prst="line">
            <a:avLst/>
          </a:prstGeom>
          <a:noFill/>
          <a:ln w="19050">
            <a:solidFill>
              <a:srgbClr val="BDB9DC"/>
            </a:solidFill>
            <a:prstDash val="dash"/>
          </a:ln>
        </p:spPr>
      </p:sp>
      <p:sp>
        <p:nvSpPr>
          <p:cNvPr id="16" name="Shape 14"/>
          <p:cNvSpPr/>
          <p:nvPr/>
        </p:nvSpPr>
        <p:spPr>
          <a:xfrm>
            <a:off x="7589520" y="4846320"/>
            <a:ext cx="182880" cy="182880"/>
          </a:xfrm>
          <a:prstGeom prst="ellipse">
            <a:avLst/>
          </a:prstGeom>
          <a:solidFill>
            <a:srgbClr val="F2A33A"/>
          </a:solidFill>
          <a:ln w="12700">
            <a:solidFill>
              <a:srgbClr val="FFFFFF"/>
            </a:solidFill>
            <a:prstDash val="solid"/>
          </a:ln>
        </p:spPr>
      </p:sp>
      <p:sp>
        <p:nvSpPr>
          <p:cNvPr id="17" name="Text 15"/>
          <p:cNvSpPr txBox="1"/>
          <p:nvPr/>
        </p:nvSpPr>
        <p:spPr>
          <a:xfrm>
            <a:off x="7589520" y="4846320"/>
            <a:ext cx="182880" cy="182880"/>
          </a:xfrm>
          <a:prstGeom prst="rect">
            <a:avLst/>
          </a:prstGeom>
          <a:noFill/>
          <a:ln/>
        </p:spPr>
        <p:txBody>
          <a:bodyPr wrap="square" lIns="0" tIns="0" rIns="0" bIns="0" rtlCol="0" anchor="ctr"/>
          <a:lstStyle/>
          <a:p>
            <a:pPr algn="ctr" indent="0" marL="0">
              <a:buNone/>
            </a:pPr>
            <a:r>
              <a:rPr lang="en-US" sz="750" b="1" dirty="0">
                <a:solidFill>
                  <a:srgbClr val="26215C"/>
                </a:solidFill>
                <a:latin typeface="Calibri" pitchFamily="34" charset="0"/>
                <a:ea typeface="Calibri" pitchFamily="34" charset="-122"/>
                <a:cs typeface="Calibri" pitchFamily="34" charset="-120"/>
              </a:rPr>
              <a:t>2</a:t>
            </a:r>
            <a:endParaRPr lang="en-US" sz="750" dirty="0"/>
          </a:p>
        </p:txBody>
      </p:sp>
      <p:sp>
        <p:nvSpPr>
          <p:cNvPr id="18" name="Shape 16"/>
          <p:cNvSpPr/>
          <p:nvPr/>
        </p:nvSpPr>
        <p:spPr>
          <a:xfrm>
            <a:off x="7891272" y="4892040"/>
            <a:ext cx="91440" cy="91440"/>
          </a:xfrm>
          <a:prstGeom prst="ellipse">
            <a:avLst/>
          </a:prstGeom>
          <a:solidFill>
            <a:srgbClr val="D6D3EA"/>
          </a:solidFill>
          <a:ln w="12700">
            <a:solidFill>
              <a:srgbClr val="FFFFFF"/>
            </a:solidFill>
            <a:prstDash val="solid"/>
          </a:ln>
        </p:spPr>
      </p:sp>
      <p:sp>
        <p:nvSpPr>
          <p:cNvPr id="19" name="Shape 17"/>
          <p:cNvSpPr/>
          <p:nvPr/>
        </p:nvSpPr>
        <p:spPr>
          <a:xfrm>
            <a:off x="8147304" y="4892040"/>
            <a:ext cx="91440" cy="91440"/>
          </a:xfrm>
          <a:prstGeom prst="ellipse">
            <a:avLst/>
          </a:prstGeom>
          <a:solidFill>
            <a:srgbClr val="D6D3EA"/>
          </a:solidFill>
          <a:ln w="12700">
            <a:solidFill>
              <a:srgbClr val="FFFFFF"/>
            </a:solidFill>
            <a:prstDash val="solid"/>
          </a:ln>
        </p:spPr>
      </p:sp>
      <p:sp>
        <p:nvSpPr>
          <p:cNvPr id="20" name="Shape 18"/>
          <p:cNvSpPr/>
          <p:nvPr/>
        </p:nvSpPr>
        <p:spPr>
          <a:xfrm>
            <a:off x="8403336" y="4892040"/>
            <a:ext cx="91440" cy="91440"/>
          </a:xfrm>
          <a:prstGeom prst="ellipse">
            <a:avLst/>
          </a:prstGeom>
          <a:solidFill>
            <a:srgbClr val="D6D3EA"/>
          </a:solidFill>
          <a:ln w="12700">
            <a:solidFill>
              <a:srgbClr val="FFFFFF"/>
            </a:solidFill>
            <a:prstDash val="solid"/>
          </a:ln>
        </p:spPr>
      </p:sp>
      <p:sp>
        <p:nvSpPr>
          <p:cNvPr id="21" name="Shape 19"/>
          <p:cNvSpPr/>
          <p:nvPr/>
        </p:nvSpPr>
        <p:spPr>
          <a:xfrm>
            <a:off x="8659368" y="4892040"/>
            <a:ext cx="91440" cy="91440"/>
          </a:xfrm>
          <a:prstGeom prst="ellipse">
            <a:avLst/>
          </a:prstGeom>
          <a:solidFill>
            <a:srgbClr val="D6D3EA"/>
          </a:solidFill>
          <a:ln w="12700">
            <a:solidFill>
              <a:srgbClr val="FFFFFF"/>
            </a:solidFill>
            <a:prstDash val="solid"/>
          </a:ln>
        </p:spPr>
      </p:sp>
      <p:pic>
        <p:nvPicPr>
          <p:cNvPr id="22" name="Image 0" descr="/tmp/pw/sih_logo.png">    </p:cNvPr>
          <p:cNvPicPr>
            <a:picLocks noChangeAspect="1"/>
          </p:cNvPicPr>
          <p:nvPr/>
        </p:nvPicPr>
        <p:blipFill>
          <a:blip r:embed="rId1"/>
          <a:stretch>
            <a:fillRect/>
          </a:stretch>
        </p:blipFill>
        <p:spPr>
          <a:xfrm>
            <a:off x="7589520" y="128016"/>
            <a:ext cx="1325880" cy="626364"/>
          </a:xfrm>
          <a:prstGeom prst="rect">
            <a:avLst/>
          </a:prstGeom>
        </p:spPr>
      </p:pic>
      <p:sp>
        <p:nvSpPr>
          <p:cNvPr id="23" name="Text 20"/>
          <p:cNvSpPr txBox="1"/>
          <p:nvPr/>
        </p:nvSpPr>
        <p:spPr>
          <a:xfrm>
            <a:off x="3337560" y="868680"/>
            <a:ext cx="420624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The journey: one call, guided end to end</a:t>
            </a:r>
            <a:endParaRPr lang="en-US" sz="1300" dirty="0"/>
          </a:p>
        </p:txBody>
      </p:sp>
      <p:sp>
        <p:nvSpPr>
          <p:cNvPr id="24" name="Shape 21"/>
          <p:cNvSpPr/>
          <p:nvPr/>
        </p:nvSpPr>
        <p:spPr>
          <a:xfrm>
            <a:off x="3657600" y="1600200"/>
            <a:ext cx="4389120" cy="0"/>
          </a:xfrm>
          <a:prstGeom prst="line">
            <a:avLst/>
          </a:prstGeom>
          <a:noFill/>
          <a:ln w="19050">
            <a:solidFill>
              <a:srgbClr val="F2A33A"/>
            </a:solidFill>
            <a:prstDash val="dash"/>
          </a:ln>
        </p:spPr>
      </p:sp>
      <p:sp>
        <p:nvSpPr>
          <p:cNvPr id="25" name="Shape 22"/>
          <p:cNvSpPr/>
          <p:nvPr/>
        </p:nvSpPr>
        <p:spPr>
          <a:xfrm>
            <a:off x="3429000" y="1371600"/>
            <a:ext cx="457200" cy="457200"/>
          </a:xfrm>
          <a:prstGeom prst="ellipse">
            <a:avLst/>
          </a:prstGeom>
          <a:solidFill>
            <a:srgbClr val="26215C"/>
          </a:solidFill>
          <a:ln w="12700">
            <a:solidFill>
              <a:srgbClr val="26215C"/>
            </a:solidFill>
            <a:prstDash val="solid"/>
          </a:ln>
        </p:spPr>
      </p:sp>
      <p:pic>
        <p:nvPicPr>
          <p:cNvPr id="26" name="Image 1" descr="preencoded.png">    </p:cNvPr>
          <p:cNvPicPr>
            <a:picLocks noChangeAspect="1"/>
          </p:cNvPicPr>
          <p:nvPr/>
        </p:nvPicPr>
        <p:blipFill>
          <a:blip r:embed="rId2"/>
          <a:stretch>
            <a:fillRect/>
          </a:stretch>
        </p:blipFill>
        <p:spPr>
          <a:xfrm>
            <a:off x="3547872" y="1490472"/>
            <a:ext cx="219456" cy="219456"/>
          </a:xfrm>
          <a:prstGeom prst="rect">
            <a:avLst/>
          </a:prstGeom>
        </p:spPr>
      </p:pic>
      <p:sp>
        <p:nvSpPr>
          <p:cNvPr id="27" name="Shape 23"/>
          <p:cNvSpPr/>
          <p:nvPr/>
        </p:nvSpPr>
        <p:spPr>
          <a:xfrm>
            <a:off x="3758184" y="1316736"/>
            <a:ext cx="182880" cy="182880"/>
          </a:xfrm>
          <a:prstGeom prst="ellipse">
            <a:avLst/>
          </a:prstGeom>
          <a:solidFill>
            <a:srgbClr val="FFFFFF"/>
          </a:solidFill>
          <a:ln w="12700">
            <a:solidFill>
              <a:srgbClr val="F2A33A"/>
            </a:solidFill>
            <a:prstDash val="solid"/>
          </a:ln>
        </p:spPr>
      </p:sp>
      <p:sp>
        <p:nvSpPr>
          <p:cNvPr id="28" name="Text 24"/>
          <p:cNvSpPr txBox="1"/>
          <p:nvPr/>
        </p:nvSpPr>
        <p:spPr>
          <a:xfrm>
            <a:off x="3758184" y="1316736"/>
            <a:ext cx="182880" cy="182880"/>
          </a:xfrm>
          <a:prstGeom prst="rect">
            <a:avLst/>
          </a:prstGeom>
          <a:noFill/>
          <a:ln/>
        </p:spPr>
        <p:txBody>
          <a:bodyPr wrap="square" lIns="0" tIns="0" rIns="0" bIns="0" rtlCol="0" anchor="ctr"/>
          <a:lstStyle/>
          <a:p>
            <a:pPr algn="ctr" indent="0" marL="0">
              <a:buNone/>
            </a:pPr>
            <a:r>
              <a:rPr lang="en-US" sz="750" b="1" dirty="0">
                <a:solidFill>
                  <a:srgbClr val="C97A12"/>
                </a:solidFill>
                <a:latin typeface="Calibri" pitchFamily="34" charset="0"/>
                <a:ea typeface="Calibri" pitchFamily="34" charset="-122"/>
                <a:cs typeface="Calibri" pitchFamily="34" charset="-120"/>
              </a:rPr>
              <a:t>1</a:t>
            </a:r>
            <a:endParaRPr lang="en-US" sz="750" dirty="0"/>
          </a:p>
        </p:txBody>
      </p:sp>
      <p:sp>
        <p:nvSpPr>
          <p:cNvPr id="29" name="Text 25"/>
          <p:cNvSpPr txBox="1"/>
          <p:nvPr/>
        </p:nvSpPr>
        <p:spPr>
          <a:xfrm>
            <a:off x="3154680" y="1901952"/>
            <a:ext cx="1005840" cy="182880"/>
          </a:xfrm>
          <a:prstGeom prst="rect">
            <a:avLst/>
          </a:prstGeom>
          <a:noFill/>
          <a:ln/>
        </p:spPr>
        <p:txBody>
          <a:bodyPr wrap="square" lIns="0" tIns="0" rIns="0" bIns="0" rtlCol="0" anchor="t"/>
          <a:lstStyle/>
          <a:p>
            <a:pPr algn="ctr" indent="0" marL="0">
              <a:buNone/>
            </a:pPr>
            <a:r>
              <a:rPr lang="en-US" sz="1000" b="1" dirty="0">
                <a:solidFill>
                  <a:srgbClr val="26215C"/>
                </a:solidFill>
                <a:latin typeface="Calibri" pitchFamily="34" charset="0"/>
                <a:ea typeface="Calibri" pitchFamily="34" charset="-122"/>
                <a:cs typeface="Calibri" pitchFamily="34" charset="-120"/>
              </a:rPr>
              <a:t>Missed call</a:t>
            </a:r>
            <a:endParaRPr lang="en-US" sz="1000" dirty="0"/>
          </a:p>
        </p:txBody>
      </p:sp>
      <p:sp>
        <p:nvSpPr>
          <p:cNvPr id="30" name="Text 26"/>
          <p:cNvSpPr txBox="1"/>
          <p:nvPr/>
        </p:nvSpPr>
        <p:spPr>
          <a:xfrm>
            <a:off x="3136392" y="2103120"/>
            <a:ext cx="1042416" cy="566928"/>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free callback from a govt 1600 number*, in their language</a:t>
            </a:r>
            <a:endParaRPr lang="en-US" sz="800" dirty="0"/>
          </a:p>
        </p:txBody>
      </p:sp>
      <p:sp>
        <p:nvSpPr>
          <p:cNvPr id="31" name="Shape 27"/>
          <p:cNvSpPr/>
          <p:nvPr/>
        </p:nvSpPr>
        <p:spPr>
          <a:xfrm>
            <a:off x="4526280" y="1371600"/>
            <a:ext cx="457200" cy="457200"/>
          </a:xfrm>
          <a:prstGeom prst="ellipse">
            <a:avLst/>
          </a:prstGeom>
          <a:solidFill>
            <a:srgbClr val="26215C"/>
          </a:solidFill>
          <a:ln w="12700">
            <a:solidFill>
              <a:srgbClr val="26215C"/>
            </a:solidFill>
            <a:prstDash val="solid"/>
          </a:ln>
        </p:spPr>
      </p:sp>
      <p:pic>
        <p:nvPicPr>
          <p:cNvPr id="32" name="Image 2" descr="preencoded.png">    </p:cNvPr>
          <p:cNvPicPr>
            <a:picLocks noChangeAspect="1"/>
          </p:cNvPicPr>
          <p:nvPr/>
        </p:nvPicPr>
        <p:blipFill>
          <a:blip r:embed="rId3"/>
          <a:stretch>
            <a:fillRect/>
          </a:stretch>
        </p:blipFill>
        <p:spPr>
          <a:xfrm>
            <a:off x="4645152" y="1490472"/>
            <a:ext cx="219456" cy="219456"/>
          </a:xfrm>
          <a:prstGeom prst="rect">
            <a:avLst/>
          </a:prstGeom>
        </p:spPr>
      </p:pic>
      <p:sp>
        <p:nvSpPr>
          <p:cNvPr id="33" name="Shape 28"/>
          <p:cNvSpPr/>
          <p:nvPr/>
        </p:nvSpPr>
        <p:spPr>
          <a:xfrm>
            <a:off x="4855464" y="1316736"/>
            <a:ext cx="182880" cy="182880"/>
          </a:xfrm>
          <a:prstGeom prst="ellipse">
            <a:avLst/>
          </a:prstGeom>
          <a:solidFill>
            <a:srgbClr val="FFFFFF"/>
          </a:solidFill>
          <a:ln w="12700">
            <a:solidFill>
              <a:srgbClr val="F2A33A"/>
            </a:solidFill>
            <a:prstDash val="solid"/>
          </a:ln>
        </p:spPr>
      </p:sp>
      <p:sp>
        <p:nvSpPr>
          <p:cNvPr id="34" name="Text 29"/>
          <p:cNvSpPr txBox="1"/>
          <p:nvPr/>
        </p:nvSpPr>
        <p:spPr>
          <a:xfrm>
            <a:off x="4855464" y="1316736"/>
            <a:ext cx="182880" cy="182880"/>
          </a:xfrm>
          <a:prstGeom prst="rect">
            <a:avLst/>
          </a:prstGeom>
          <a:noFill/>
          <a:ln/>
        </p:spPr>
        <p:txBody>
          <a:bodyPr wrap="square" lIns="0" tIns="0" rIns="0" bIns="0" rtlCol="0" anchor="ctr"/>
          <a:lstStyle/>
          <a:p>
            <a:pPr algn="ctr" indent="0" marL="0">
              <a:buNone/>
            </a:pPr>
            <a:r>
              <a:rPr lang="en-US" sz="750" b="1" dirty="0">
                <a:solidFill>
                  <a:srgbClr val="C97A12"/>
                </a:solidFill>
                <a:latin typeface="Calibri" pitchFamily="34" charset="0"/>
                <a:ea typeface="Calibri" pitchFamily="34" charset="-122"/>
                <a:cs typeface="Calibri" pitchFamily="34" charset="-120"/>
              </a:rPr>
              <a:t>2</a:t>
            </a:r>
            <a:endParaRPr lang="en-US" sz="750" dirty="0"/>
          </a:p>
        </p:txBody>
      </p:sp>
      <p:sp>
        <p:nvSpPr>
          <p:cNvPr id="35" name="Text 30"/>
          <p:cNvSpPr txBox="1"/>
          <p:nvPr/>
        </p:nvSpPr>
        <p:spPr>
          <a:xfrm>
            <a:off x="4251960" y="1901952"/>
            <a:ext cx="1005840" cy="182880"/>
          </a:xfrm>
          <a:prstGeom prst="rect">
            <a:avLst/>
          </a:prstGeom>
          <a:noFill/>
          <a:ln/>
        </p:spPr>
        <p:txBody>
          <a:bodyPr wrap="square" lIns="0" tIns="0" rIns="0" bIns="0" rtlCol="0" anchor="t"/>
          <a:lstStyle/>
          <a:p>
            <a:pPr algn="ctr" indent="0" marL="0">
              <a:buNone/>
            </a:pPr>
            <a:r>
              <a:rPr lang="en-US" sz="1000" b="1" dirty="0">
                <a:solidFill>
                  <a:srgbClr val="26215C"/>
                </a:solidFill>
                <a:latin typeface="Calibri" pitchFamily="34" charset="0"/>
                <a:ea typeface="Calibri" pitchFamily="34" charset="-122"/>
                <a:cs typeface="Calibri" pitchFamily="34" charset="-120"/>
              </a:rPr>
              <a:t>Keypad + voice</a:t>
            </a:r>
            <a:endParaRPr lang="en-US" sz="1000" dirty="0"/>
          </a:p>
        </p:txBody>
      </p:sp>
      <p:sp>
        <p:nvSpPr>
          <p:cNvPr id="36" name="Text 31"/>
          <p:cNvSpPr txBox="1"/>
          <p:nvPr/>
        </p:nvSpPr>
        <p:spPr>
          <a:xfrm>
            <a:off x="4233672" y="2103120"/>
            <a:ext cx="1042416" cy="566928"/>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facts by keypad; they describe their work in their own words</a:t>
            </a:r>
            <a:endParaRPr lang="en-US" sz="800" dirty="0"/>
          </a:p>
        </p:txBody>
      </p:sp>
      <p:sp>
        <p:nvSpPr>
          <p:cNvPr id="37" name="Shape 32"/>
          <p:cNvSpPr/>
          <p:nvPr/>
        </p:nvSpPr>
        <p:spPr>
          <a:xfrm>
            <a:off x="5623560" y="1371600"/>
            <a:ext cx="457200" cy="457200"/>
          </a:xfrm>
          <a:prstGeom prst="ellipse">
            <a:avLst/>
          </a:prstGeom>
          <a:solidFill>
            <a:srgbClr val="26215C"/>
          </a:solidFill>
          <a:ln w="12700">
            <a:solidFill>
              <a:srgbClr val="26215C"/>
            </a:solidFill>
            <a:prstDash val="solid"/>
          </a:ln>
        </p:spPr>
      </p:sp>
      <p:pic>
        <p:nvPicPr>
          <p:cNvPr id="38" name="Image 3" descr="preencoded.png">    </p:cNvPr>
          <p:cNvPicPr>
            <a:picLocks noChangeAspect="1"/>
          </p:cNvPicPr>
          <p:nvPr/>
        </p:nvPicPr>
        <p:blipFill>
          <a:blip r:embed="rId4"/>
          <a:stretch>
            <a:fillRect/>
          </a:stretch>
        </p:blipFill>
        <p:spPr>
          <a:xfrm>
            <a:off x="5742432" y="1490472"/>
            <a:ext cx="219456" cy="219456"/>
          </a:xfrm>
          <a:prstGeom prst="rect">
            <a:avLst/>
          </a:prstGeom>
        </p:spPr>
      </p:pic>
      <p:sp>
        <p:nvSpPr>
          <p:cNvPr id="39" name="Shape 33"/>
          <p:cNvSpPr/>
          <p:nvPr/>
        </p:nvSpPr>
        <p:spPr>
          <a:xfrm>
            <a:off x="5952744" y="1316736"/>
            <a:ext cx="182880" cy="182880"/>
          </a:xfrm>
          <a:prstGeom prst="ellipse">
            <a:avLst/>
          </a:prstGeom>
          <a:solidFill>
            <a:srgbClr val="FFFFFF"/>
          </a:solidFill>
          <a:ln w="12700">
            <a:solidFill>
              <a:srgbClr val="F2A33A"/>
            </a:solidFill>
            <a:prstDash val="solid"/>
          </a:ln>
        </p:spPr>
      </p:sp>
      <p:sp>
        <p:nvSpPr>
          <p:cNvPr id="40" name="Text 34"/>
          <p:cNvSpPr txBox="1"/>
          <p:nvPr/>
        </p:nvSpPr>
        <p:spPr>
          <a:xfrm>
            <a:off x="5952744" y="1316736"/>
            <a:ext cx="182880" cy="182880"/>
          </a:xfrm>
          <a:prstGeom prst="rect">
            <a:avLst/>
          </a:prstGeom>
          <a:noFill/>
          <a:ln/>
        </p:spPr>
        <p:txBody>
          <a:bodyPr wrap="square" lIns="0" tIns="0" rIns="0" bIns="0" rtlCol="0" anchor="ctr"/>
          <a:lstStyle/>
          <a:p>
            <a:pPr algn="ctr" indent="0" marL="0">
              <a:buNone/>
            </a:pPr>
            <a:r>
              <a:rPr lang="en-US" sz="750" b="1" dirty="0">
                <a:solidFill>
                  <a:srgbClr val="C97A12"/>
                </a:solidFill>
                <a:latin typeface="Calibri" pitchFamily="34" charset="0"/>
                <a:ea typeface="Calibri" pitchFamily="34" charset="-122"/>
                <a:cs typeface="Calibri" pitchFamily="34" charset="-120"/>
              </a:rPr>
              <a:t>3</a:t>
            </a:r>
            <a:endParaRPr lang="en-US" sz="750" dirty="0"/>
          </a:p>
        </p:txBody>
      </p:sp>
      <p:sp>
        <p:nvSpPr>
          <p:cNvPr id="41" name="Text 35"/>
          <p:cNvSpPr txBox="1"/>
          <p:nvPr/>
        </p:nvSpPr>
        <p:spPr>
          <a:xfrm>
            <a:off x="5349240" y="1901952"/>
            <a:ext cx="1005840" cy="182880"/>
          </a:xfrm>
          <a:prstGeom prst="rect">
            <a:avLst/>
          </a:prstGeom>
          <a:noFill/>
          <a:ln/>
        </p:spPr>
        <p:txBody>
          <a:bodyPr wrap="square" lIns="0" tIns="0" rIns="0" bIns="0" rtlCol="0" anchor="t"/>
          <a:lstStyle/>
          <a:p>
            <a:pPr algn="ctr" indent="0" marL="0">
              <a:buNone/>
            </a:pPr>
            <a:r>
              <a:rPr lang="en-US" sz="1000" b="1" dirty="0">
                <a:solidFill>
                  <a:srgbClr val="26215C"/>
                </a:solidFill>
                <a:latin typeface="Calibri" pitchFamily="34" charset="0"/>
                <a:ea typeface="Calibri" pitchFamily="34" charset="-122"/>
                <a:cs typeface="Calibri" pitchFamily="34" charset="-120"/>
              </a:rPr>
              <a:t>Full profile</a:t>
            </a:r>
            <a:endParaRPr lang="en-US" sz="1000" dirty="0"/>
          </a:p>
        </p:txBody>
      </p:sp>
      <p:sp>
        <p:nvSpPr>
          <p:cNvPr id="42" name="Text 36"/>
          <p:cNvSpPr txBox="1"/>
          <p:nvPr/>
        </p:nvSpPr>
        <p:spPr>
          <a:xfrm>
            <a:off x="5330952" y="2103120"/>
            <a:ext cx="1042416" cy="566928"/>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AI maps skills to NCO and NSQF; read back, confirmed with 1</a:t>
            </a:r>
            <a:endParaRPr lang="en-US" sz="800" dirty="0"/>
          </a:p>
        </p:txBody>
      </p:sp>
      <p:sp>
        <p:nvSpPr>
          <p:cNvPr id="43" name="Shape 37"/>
          <p:cNvSpPr/>
          <p:nvPr/>
        </p:nvSpPr>
        <p:spPr>
          <a:xfrm>
            <a:off x="6720840" y="1371600"/>
            <a:ext cx="457200" cy="457200"/>
          </a:xfrm>
          <a:prstGeom prst="ellipse">
            <a:avLst/>
          </a:prstGeom>
          <a:solidFill>
            <a:srgbClr val="26215C"/>
          </a:solidFill>
          <a:ln w="12700">
            <a:solidFill>
              <a:srgbClr val="26215C"/>
            </a:solidFill>
            <a:prstDash val="solid"/>
          </a:ln>
        </p:spPr>
      </p:sp>
      <p:pic>
        <p:nvPicPr>
          <p:cNvPr id="44" name="Image 4" descr="preencoded.png">    </p:cNvPr>
          <p:cNvPicPr>
            <a:picLocks noChangeAspect="1"/>
          </p:cNvPicPr>
          <p:nvPr/>
        </p:nvPicPr>
        <p:blipFill>
          <a:blip r:embed="rId5"/>
          <a:stretch>
            <a:fillRect/>
          </a:stretch>
        </p:blipFill>
        <p:spPr>
          <a:xfrm>
            <a:off x="6839712" y="1490472"/>
            <a:ext cx="219456" cy="219456"/>
          </a:xfrm>
          <a:prstGeom prst="rect">
            <a:avLst/>
          </a:prstGeom>
        </p:spPr>
      </p:pic>
      <p:sp>
        <p:nvSpPr>
          <p:cNvPr id="45" name="Shape 38"/>
          <p:cNvSpPr/>
          <p:nvPr/>
        </p:nvSpPr>
        <p:spPr>
          <a:xfrm>
            <a:off x="7050024" y="1316736"/>
            <a:ext cx="182880" cy="182880"/>
          </a:xfrm>
          <a:prstGeom prst="ellipse">
            <a:avLst/>
          </a:prstGeom>
          <a:solidFill>
            <a:srgbClr val="FFFFFF"/>
          </a:solidFill>
          <a:ln w="12700">
            <a:solidFill>
              <a:srgbClr val="F2A33A"/>
            </a:solidFill>
            <a:prstDash val="solid"/>
          </a:ln>
        </p:spPr>
      </p:sp>
      <p:sp>
        <p:nvSpPr>
          <p:cNvPr id="46" name="Text 39"/>
          <p:cNvSpPr txBox="1"/>
          <p:nvPr/>
        </p:nvSpPr>
        <p:spPr>
          <a:xfrm>
            <a:off x="7050024" y="1316736"/>
            <a:ext cx="182880" cy="182880"/>
          </a:xfrm>
          <a:prstGeom prst="rect">
            <a:avLst/>
          </a:prstGeom>
          <a:noFill/>
          <a:ln/>
        </p:spPr>
        <p:txBody>
          <a:bodyPr wrap="square" lIns="0" tIns="0" rIns="0" bIns="0" rtlCol="0" anchor="ctr"/>
          <a:lstStyle/>
          <a:p>
            <a:pPr algn="ctr" indent="0" marL="0">
              <a:buNone/>
            </a:pPr>
            <a:r>
              <a:rPr lang="en-US" sz="750" b="1" dirty="0">
                <a:solidFill>
                  <a:srgbClr val="C97A12"/>
                </a:solidFill>
                <a:latin typeface="Calibri" pitchFamily="34" charset="0"/>
                <a:ea typeface="Calibri" pitchFamily="34" charset="-122"/>
                <a:cs typeface="Calibri" pitchFamily="34" charset="-120"/>
              </a:rPr>
              <a:t>4</a:t>
            </a:r>
            <a:endParaRPr lang="en-US" sz="750" dirty="0"/>
          </a:p>
        </p:txBody>
      </p:sp>
      <p:sp>
        <p:nvSpPr>
          <p:cNvPr id="47" name="Text 40"/>
          <p:cNvSpPr txBox="1"/>
          <p:nvPr/>
        </p:nvSpPr>
        <p:spPr>
          <a:xfrm>
            <a:off x="6446520" y="1901952"/>
            <a:ext cx="1005840" cy="182880"/>
          </a:xfrm>
          <a:prstGeom prst="rect">
            <a:avLst/>
          </a:prstGeom>
          <a:noFill/>
          <a:ln/>
        </p:spPr>
        <p:txBody>
          <a:bodyPr wrap="square" lIns="0" tIns="0" rIns="0" bIns="0" rtlCol="0" anchor="t"/>
          <a:lstStyle/>
          <a:p>
            <a:pPr algn="ctr" indent="0" marL="0">
              <a:buNone/>
            </a:pPr>
            <a:r>
              <a:rPr lang="en-US" sz="1000" b="1" dirty="0">
                <a:solidFill>
                  <a:srgbClr val="26215C"/>
                </a:solidFill>
                <a:latin typeface="Calibri" pitchFamily="34" charset="0"/>
                <a:ea typeface="Calibri" pitchFamily="34" charset="-122"/>
                <a:cs typeface="Calibri" pitchFamily="34" charset="-120"/>
              </a:rPr>
              <a:t>3 pathways</a:t>
            </a:r>
            <a:endParaRPr lang="en-US" sz="1000" dirty="0"/>
          </a:p>
        </p:txBody>
      </p:sp>
      <p:sp>
        <p:nvSpPr>
          <p:cNvPr id="48" name="Text 41"/>
          <p:cNvSpPr txBox="1"/>
          <p:nvPr/>
        </p:nvSpPr>
        <p:spPr>
          <a:xfrm>
            <a:off x="6428232" y="2103120"/>
            <a:ext cx="1042416" cy="566928"/>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training, RPL, apprenticeship or own work, with plan + money path</a:t>
            </a:r>
            <a:endParaRPr lang="en-US" sz="800" dirty="0"/>
          </a:p>
        </p:txBody>
      </p:sp>
      <p:sp>
        <p:nvSpPr>
          <p:cNvPr id="49" name="Shape 42"/>
          <p:cNvSpPr/>
          <p:nvPr/>
        </p:nvSpPr>
        <p:spPr>
          <a:xfrm>
            <a:off x="7818120" y="1371600"/>
            <a:ext cx="457200" cy="457200"/>
          </a:xfrm>
          <a:prstGeom prst="ellipse">
            <a:avLst/>
          </a:prstGeom>
          <a:solidFill>
            <a:srgbClr val="F2A33A"/>
          </a:solidFill>
          <a:ln w="12700">
            <a:solidFill>
              <a:srgbClr val="F2A33A"/>
            </a:solidFill>
            <a:prstDash val="solid"/>
          </a:ln>
        </p:spPr>
      </p:sp>
      <p:pic>
        <p:nvPicPr>
          <p:cNvPr id="50" name="Image 5" descr="preencoded.png">    </p:cNvPr>
          <p:cNvPicPr>
            <a:picLocks noChangeAspect="1"/>
          </p:cNvPicPr>
          <p:nvPr/>
        </p:nvPicPr>
        <p:blipFill>
          <a:blip r:embed="rId6"/>
          <a:stretch>
            <a:fillRect/>
          </a:stretch>
        </p:blipFill>
        <p:spPr>
          <a:xfrm>
            <a:off x="7936992" y="1490472"/>
            <a:ext cx="219456" cy="219456"/>
          </a:xfrm>
          <a:prstGeom prst="rect">
            <a:avLst/>
          </a:prstGeom>
        </p:spPr>
      </p:pic>
      <p:sp>
        <p:nvSpPr>
          <p:cNvPr id="51" name="Shape 43"/>
          <p:cNvSpPr/>
          <p:nvPr/>
        </p:nvSpPr>
        <p:spPr>
          <a:xfrm>
            <a:off x="8147304" y="1316736"/>
            <a:ext cx="182880" cy="182880"/>
          </a:xfrm>
          <a:prstGeom prst="ellipse">
            <a:avLst/>
          </a:prstGeom>
          <a:solidFill>
            <a:srgbClr val="FFFFFF"/>
          </a:solidFill>
          <a:ln w="12700">
            <a:solidFill>
              <a:srgbClr val="F2A33A"/>
            </a:solidFill>
            <a:prstDash val="solid"/>
          </a:ln>
        </p:spPr>
      </p:sp>
      <p:sp>
        <p:nvSpPr>
          <p:cNvPr id="52" name="Text 44"/>
          <p:cNvSpPr txBox="1"/>
          <p:nvPr/>
        </p:nvSpPr>
        <p:spPr>
          <a:xfrm>
            <a:off x="8147304" y="1316736"/>
            <a:ext cx="182880" cy="182880"/>
          </a:xfrm>
          <a:prstGeom prst="rect">
            <a:avLst/>
          </a:prstGeom>
          <a:noFill/>
          <a:ln/>
        </p:spPr>
        <p:txBody>
          <a:bodyPr wrap="square" lIns="0" tIns="0" rIns="0" bIns="0" rtlCol="0" anchor="ctr"/>
          <a:lstStyle/>
          <a:p>
            <a:pPr algn="ctr" indent="0" marL="0">
              <a:buNone/>
            </a:pPr>
            <a:r>
              <a:rPr lang="en-US" sz="750" b="1" dirty="0">
                <a:solidFill>
                  <a:srgbClr val="C97A12"/>
                </a:solidFill>
                <a:latin typeface="Calibri" pitchFamily="34" charset="0"/>
                <a:ea typeface="Calibri" pitchFamily="34" charset="-122"/>
                <a:cs typeface="Calibri" pitchFamily="34" charset="-120"/>
              </a:rPr>
              <a:t>5</a:t>
            </a:r>
            <a:endParaRPr lang="en-US" sz="750" dirty="0"/>
          </a:p>
        </p:txBody>
      </p:sp>
      <p:sp>
        <p:nvSpPr>
          <p:cNvPr id="53" name="Text 45"/>
          <p:cNvSpPr txBox="1"/>
          <p:nvPr/>
        </p:nvSpPr>
        <p:spPr>
          <a:xfrm>
            <a:off x="7543800" y="1901952"/>
            <a:ext cx="1005840" cy="182880"/>
          </a:xfrm>
          <a:prstGeom prst="rect">
            <a:avLst/>
          </a:prstGeom>
          <a:noFill/>
          <a:ln/>
        </p:spPr>
        <p:txBody>
          <a:bodyPr wrap="square" lIns="0" tIns="0" rIns="0" bIns="0" rtlCol="0" anchor="t"/>
          <a:lstStyle/>
          <a:p>
            <a:pPr algn="ctr" indent="0" marL="0">
              <a:buNone/>
            </a:pPr>
            <a:r>
              <a:rPr lang="en-US" sz="1000" b="1" dirty="0">
                <a:solidFill>
                  <a:srgbClr val="26215C"/>
                </a:solidFill>
                <a:latin typeface="Calibri" pitchFamily="34" charset="0"/>
                <a:ea typeface="Calibri" pitchFamily="34" charset="-122"/>
                <a:cs typeface="Calibri" pitchFamily="34" charset="-120"/>
              </a:rPr>
              <a:t>Till they earn</a:t>
            </a:r>
            <a:endParaRPr lang="en-US" sz="1000" dirty="0"/>
          </a:p>
        </p:txBody>
      </p:sp>
      <p:sp>
        <p:nvSpPr>
          <p:cNvPr id="54" name="Text 46"/>
          <p:cNvSpPr txBox="1"/>
          <p:nvPr/>
        </p:nvSpPr>
        <p:spPr>
          <a:xfrm>
            <a:off x="7525512" y="2103120"/>
            <a:ext cx="1042416" cy="566928"/>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SMS case ID, reminders, follow-ups at 1, 3, 6 months</a:t>
            </a:r>
            <a:endParaRPr lang="en-US" sz="800" dirty="0"/>
          </a:p>
        </p:txBody>
      </p:sp>
      <p:sp>
        <p:nvSpPr>
          <p:cNvPr id="55" name="Text 47"/>
          <p:cNvSpPr txBox="1"/>
          <p:nvPr/>
        </p:nvSpPr>
        <p:spPr>
          <a:xfrm>
            <a:off x="3337560" y="2816352"/>
            <a:ext cx="420624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What only HunarMarg does</a:t>
            </a:r>
            <a:endParaRPr lang="en-US" sz="1300" dirty="0"/>
          </a:p>
        </p:txBody>
      </p:sp>
      <p:sp>
        <p:nvSpPr>
          <p:cNvPr id="56" name="Shape 48"/>
          <p:cNvSpPr/>
          <p:nvPr/>
        </p:nvSpPr>
        <p:spPr>
          <a:xfrm>
            <a:off x="3337560" y="3191256"/>
            <a:ext cx="329184" cy="329184"/>
          </a:xfrm>
          <a:prstGeom prst="ellipse">
            <a:avLst/>
          </a:prstGeom>
          <a:solidFill>
            <a:srgbClr val="EEEDF7"/>
          </a:solidFill>
          <a:ln w="12700">
            <a:solidFill>
              <a:srgbClr val="EEEDF7"/>
            </a:solidFill>
            <a:prstDash val="solid"/>
          </a:ln>
        </p:spPr>
      </p:sp>
      <p:pic>
        <p:nvPicPr>
          <p:cNvPr id="57" name="Image 6" descr="preencoded.png">    </p:cNvPr>
          <p:cNvPicPr>
            <a:picLocks noChangeAspect="1"/>
          </p:cNvPicPr>
          <p:nvPr/>
        </p:nvPicPr>
        <p:blipFill>
          <a:blip r:embed="rId7"/>
          <a:stretch>
            <a:fillRect/>
          </a:stretch>
        </p:blipFill>
        <p:spPr>
          <a:xfrm>
            <a:off x="3423148" y="3276844"/>
            <a:ext cx="158008" cy="158008"/>
          </a:xfrm>
          <a:prstGeom prst="rect">
            <a:avLst/>
          </a:prstGeom>
        </p:spPr>
      </p:pic>
      <p:sp>
        <p:nvSpPr>
          <p:cNvPr id="58" name="Text 49"/>
          <p:cNvSpPr txBox="1"/>
          <p:nvPr/>
        </p:nvSpPr>
        <p:spPr>
          <a:xfrm>
            <a:off x="3758184" y="3154680"/>
            <a:ext cx="2286000" cy="420624"/>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Any keypad phone</a:t>
            </a:r>
            <a:endParaRPr lang="en-US" sz="1000" dirty="0"/>
          </a:p>
          <a:p>
            <a:pPr indent="0" marL="0">
              <a:buNone/>
            </a:pPr>
            <a:r>
              <a:rPr lang="en-US" sz="850" dirty="0">
                <a:solidFill>
                  <a:srgbClr val="6B7280"/>
                </a:solidFill>
                <a:latin typeface="Calibri" pitchFamily="34" charset="0"/>
                <a:ea typeface="Calibri" pitchFamily="34" charset="-122"/>
                <a:cs typeface="Calibri" pitchFamily="34" charset="-120"/>
              </a:rPr>
              <a:t>missed call, free, no reading needed</a:t>
            </a:r>
            <a:endParaRPr lang="en-US" sz="1000" dirty="0"/>
          </a:p>
        </p:txBody>
      </p:sp>
      <p:sp>
        <p:nvSpPr>
          <p:cNvPr id="59" name="Shape 50"/>
          <p:cNvSpPr/>
          <p:nvPr/>
        </p:nvSpPr>
        <p:spPr>
          <a:xfrm>
            <a:off x="6126480" y="3191256"/>
            <a:ext cx="329184" cy="329184"/>
          </a:xfrm>
          <a:prstGeom prst="ellipse">
            <a:avLst/>
          </a:prstGeom>
          <a:solidFill>
            <a:srgbClr val="EEEDF7"/>
          </a:solidFill>
          <a:ln w="12700">
            <a:solidFill>
              <a:srgbClr val="EEEDF7"/>
            </a:solidFill>
            <a:prstDash val="solid"/>
          </a:ln>
        </p:spPr>
      </p:sp>
      <p:pic>
        <p:nvPicPr>
          <p:cNvPr id="60" name="Image 7" descr="preencoded.png">    </p:cNvPr>
          <p:cNvPicPr>
            <a:picLocks noChangeAspect="1"/>
          </p:cNvPicPr>
          <p:nvPr/>
        </p:nvPicPr>
        <p:blipFill>
          <a:blip r:embed="rId8"/>
          <a:stretch>
            <a:fillRect/>
          </a:stretch>
        </p:blipFill>
        <p:spPr>
          <a:xfrm>
            <a:off x="6212068" y="3276844"/>
            <a:ext cx="158008" cy="158008"/>
          </a:xfrm>
          <a:prstGeom prst="rect">
            <a:avLst/>
          </a:prstGeom>
        </p:spPr>
      </p:pic>
      <p:sp>
        <p:nvSpPr>
          <p:cNvPr id="61" name="Text 51"/>
          <p:cNvSpPr txBox="1"/>
          <p:nvPr/>
        </p:nvSpPr>
        <p:spPr>
          <a:xfrm>
            <a:off x="6547104" y="3154680"/>
            <a:ext cx="2286000" cy="420624"/>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Never invented</a:t>
            </a:r>
            <a:endParaRPr lang="en-US" sz="1000" dirty="0"/>
          </a:p>
          <a:p>
            <a:pPr indent="0" marL="0">
              <a:buNone/>
            </a:pPr>
            <a:r>
              <a:rPr lang="en-US" sz="850" dirty="0">
                <a:solidFill>
                  <a:srgbClr val="6B7280"/>
                </a:solidFill>
                <a:latin typeface="Calibri" pitchFamily="34" charset="0"/>
                <a:ea typeface="Calibri" pitchFamily="34" charset="-122"/>
                <a:cs typeface="Calibri" pitchFamily="34" charset="-120"/>
              </a:rPr>
              <a:t>every fact from govt data, checked before it is spoken</a:t>
            </a:r>
            <a:endParaRPr lang="en-US" sz="1000" dirty="0"/>
          </a:p>
        </p:txBody>
      </p:sp>
      <p:sp>
        <p:nvSpPr>
          <p:cNvPr id="62" name="Shape 52"/>
          <p:cNvSpPr/>
          <p:nvPr/>
        </p:nvSpPr>
        <p:spPr>
          <a:xfrm>
            <a:off x="3337560" y="3721608"/>
            <a:ext cx="329184" cy="329184"/>
          </a:xfrm>
          <a:prstGeom prst="ellipse">
            <a:avLst/>
          </a:prstGeom>
          <a:solidFill>
            <a:srgbClr val="EEEDF7"/>
          </a:solidFill>
          <a:ln w="12700">
            <a:solidFill>
              <a:srgbClr val="EEEDF7"/>
            </a:solidFill>
            <a:prstDash val="solid"/>
          </a:ln>
        </p:spPr>
      </p:sp>
      <p:pic>
        <p:nvPicPr>
          <p:cNvPr id="63" name="Image 8" descr="preencoded.png">    </p:cNvPr>
          <p:cNvPicPr>
            <a:picLocks noChangeAspect="1"/>
          </p:cNvPicPr>
          <p:nvPr/>
        </p:nvPicPr>
        <p:blipFill>
          <a:blip r:embed="rId9"/>
          <a:stretch>
            <a:fillRect/>
          </a:stretch>
        </p:blipFill>
        <p:spPr>
          <a:xfrm>
            <a:off x="3423148" y="3807196"/>
            <a:ext cx="158008" cy="158008"/>
          </a:xfrm>
          <a:prstGeom prst="rect">
            <a:avLst/>
          </a:prstGeom>
        </p:spPr>
      </p:pic>
      <p:sp>
        <p:nvSpPr>
          <p:cNvPr id="64" name="Text 53"/>
          <p:cNvSpPr txBox="1"/>
          <p:nvPr/>
        </p:nvSpPr>
        <p:spPr>
          <a:xfrm>
            <a:off x="3758184" y="3685032"/>
            <a:ext cx="2286000" cy="420624"/>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Writes the profile itself</a:t>
            </a:r>
            <a:endParaRPr lang="en-US" sz="1000" dirty="0"/>
          </a:p>
          <a:p>
            <a:pPr indent="0" marL="0">
              <a:buNone/>
            </a:pPr>
            <a:r>
              <a:rPr lang="en-US" sz="850" dirty="0">
                <a:solidFill>
                  <a:srgbClr val="6B7280"/>
                </a:solidFill>
                <a:latin typeface="Calibri" pitchFamily="34" charset="0"/>
                <a:ea typeface="Calibri" pitchFamily="34" charset="-122"/>
                <a:cs typeface="Calibri" pitchFamily="34" charset="-120"/>
              </a:rPr>
              <a:t>officers review and approve, no data entry</a:t>
            </a:r>
            <a:endParaRPr lang="en-US" sz="1000" dirty="0"/>
          </a:p>
        </p:txBody>
      </p:sp>
      <p:sp>
        <p:nvSpPr>
          <p:cNvPr id="65" name="Shape 54"/>
          <p:cNvSpPr/>
          <p:nvPr/>
        </p:nvSpPr>
        <p:spPr>
          <a:xfrm>
            <a:off x="6126480" y="3721608"/>
            <a:ext cx="329184" cy="329184"/>
          </a:xfrm>
          <a:prstGeom prst="ellipse">
            <a:avLst/>
          </a:prstGeom>
          <a:solidFill>
            <a:srgbClr val="EEEDF7"/>
          </a:solidFill>
          <a:ln w="12700">
            <a:solidFill>
              <a:srgbClr val="EEEDF7"/>
            </a:solidFill>
            <a:prstDash val="solid"/>
          </a:ln>
        </p:spPr>
      </p:sp>
      <p:pic>
        <p:nvPicPr>
          <p:cNvPr id="66" name="Image 9" descr="preencoded.png">    </p:cNvPr>
          <p:cNvPicPr>
            <a:picLocks noChangeAspect="1"/>
          </p:cNvPicPr>
          <p:nvPr/>
        </p:nvPicPr>
        <p:blipFill>
          <a:blip r:embed="rId10"/>
          <a:stretch>
            <a:fillRect/>
          </a:stretch>
        </p:blipFill>
        <p:spPr>
          <a:xfrm>
            <a:off x="6212068" y="3807196"/>
            <a:ext cx="158008" cy="158008"/>
          </a:xfrm>
          <a:prstGeom prst="rect">
            <a:avLst/>
          </a:prstGeom>
        </p:spPr>
      </p:pic>
      <p:sp>
        <p:nvSpPr>
          <p:cNvPr id="67" name="Text 55"/>
          <p:cNvSpPr txBox="1"/>
          <p:nvPr/>
        </p:nvSpPr>
        <p:spPr>
          <a:xfrm>
            <a:off x="6547104" y="3685032"/>
            <a:ext cx="2286000" cy="420624"/>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Money path</a:t>
            </a:r>
            <a:endParaRPr lang="en-US" sz="1000" dirty="0"/>
          </a:p>
          <a:p>
            <a:pPr indent="0" marL="0">
              <a:buNone/>
            </a:pPr>
            <a:r>
              <a:rPr lang="en-US" sz="850" dirty="0">
                <a:solidFill>
                  <a:srgbClr val="6B7280"/>
                </a:solidFill>
                <a:latin typeface="Calibri" pitchFamily="34" charset="0"/>
                <a:ea typeface="Calibri" pitchFamily="34" charset="-122"/>
                <a:cs typeface="Calibri" pitchFamily="34" charset="-120"/>
              </a:rPr>
              <a:t>which grant or loan fits, and the monthly EMI</a:t>
            </a:r>
            <a:endParaRPr lang="en-US" sz="1000" dirty="0"/>
          </a:p>
        </p:txBody>
      </p:sp>
      <p:sp>
        <p:nvSpPr>
          <p:cNvPr id="68" name="Shape 56"/>
          <p:cNvSpPr/>
          <p:nvPr/>
        </p:nvSpPr>
        <p:spPr>
          <a:xfrm>
            <a:off x="3337560" y="4251960"/>
            <a:ext cx="329184" cy="329184"/>
          </a:xfrm>
          <a:prstGeom prst="ellipse">
            <a:avLst/>
          </a:prstGeom>
          <a:solidFill>
            <a:srgbClr val="EEEDF7"/>
          </a:solidFill>
          <a:ln w="12700">
            <a:solidFill>
              <a:srgbClr val="EEEDF7"/>
            </a:solidFill>
            <a:prstDash val="solid"/>
          </a:ln>
        </p:spPr>
      </p:sp>
      <p:pic>
        <p:nvPicPr>
          <p:cNvPr id="69" name="Image 10" descr="preencoded.png">    </p:cNvPr>
          <p:cNvPicPr>
            <a:picLocks noChangeAspect="1"/>
          </p:cNvPicPr>
          <p:nvPr/>
        </p:nvPicPr>
        <p:blipFill>
          <a:blip r:embed="rId11"/>
          <a:stretch>
            <a:fillRect/>
          </a:stretch>
        </p:blipFill>
        <p:spPr>
          <a:xfrm>
            <a:off x="3423148" y="4337548"/>
            <a:ext cx="158008" cy="158008"/>
          </a:xfrm>
          <a:prstGeom prst="rect">
            <a:avLst/>
          </a:prstGeom>
        </p:spPr>
      </p:pic>
      <p:sp>
        <p:nvSpPr>
          <p:cNvPr id="70" name="Text 57"/>
          <p:cNvSpPr txBox="1"/>
          <p:nvPr/>
        </p:nvSpPr>
        <p:spPr>
          <a:xfrm>
            <a:off x="3758184" y="4215384"/>
            <a:ext cx="2286000" cy="420624"/>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Outcomes that can't be faked</a:t>
            </a:r>
            <a:endParaRPr lang="en-US" sz="1000" dirty="0"/>
          </a:p>
          <a:p>
            <a:pPr indent="0" marL="0">
              <a:buNone/>
            </a:pPr>
            <a:r>
              <a:rPr lang="en-US" sz="850" dirty="0">
                <a:solidFill>
                  <a:srgbClr val="6B7280"/>
                </a:solidFill>
                <a:latin typeface="Calibri" pitchFamily="34" charset="0"/>
                <a:ea typeface="Calibri" pitchFamily="34" charset="-122"/>
                <a:cs typeface="Calibri" pitchFamily="34" charset="-120"/>
              </a:rPr>
              <a:t>random-digit liveness + employer check</a:t>
            </a:r>
            <a:endParaRPr lang="en-US" sz="1000" dirty="0"/>
          </a:p>
        </p:txBody>
      </p:sp>
      <p:sp>
        <p:nvSpPr>
          <p:cNvPr id="71" name="Shape 58"/>
          <p:cNvSpPr/>
          <p:nvPr/>
        </p:nvSpPr>
        <p:spPr>
          <a:xfrm>
            <a:off x="6126480" y="4251960"/>
            <a:ext cx="329184" cy="329184"/>
          </a:xfrm>
          <a:prstGeom prst="ellipse">
            <a:avLst/>
          </a:prstGeom>
          <a:solidFill>
            <a:srgbClr val="EEEDF7"/>
          </a:solidFill>
          <a:ln w="12700">
            <a:solidFill>
              <a:srgbClr val="EEEDF7"/>
            </a:solidFill>
            <a:prstDash val="solid"/>
          </a:ln>
        </p:spPr>
      </p:sp>
      <p:pic>
        <p:nvPicPr>
          <p:cNvPr id="72" name="Image 11" descr="preencoded.png">    </p:cNvPr>
          <p:cNvPicPr>
            <a:picLocks noChangeAspect="1"/>
          </p:cNvPicPr>
          <p:nvPr/>
        </p:nvPicPr>
        <p:blipFill>
          <a:blip r:embed="rId12"/>
          <a:stretch>
            <a:fillRect/>
          </a:stretch>
        </p:blipFill>
        <p:spPr>
          <a:xfrm>
            <a:off x="6212068" y="4337548"/>
            <a:ext cx="158008" cy="158008"/>
          </a:xfrm>
          <a:prstGeom prst="rect">
            <a:avLst/>
          </a:prstGeom>
        </p:spPr>
      </p:pic>
      <p:sp>
        <p:nvSpPr>
          <p:cNvPr id="73" name="Text 59"/>
          <p:cNvSpPr txBox="1"/>
          <p:nvPr/>
        </p:nvSpPr>
        <p:spPr>
          <a:xfrm>
            <a:off x="6547104" y="4215384"/>
            <a:ext cx="2286000" cy="420624"/>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Learns from verified jobs only</a:t>
            </a:r>
            <a:endParaRPr lang="en-US" sz="1000" dirty="0"/>
          </a:p>
          <a:p>
            <a:pPr indent="0" marL="0">
              <a:buNone/>
            </a:pPr>
            <a:r>
              <a:rPr lang="en-US" sz="850" dirty="0">
                <a:solidFill>
                  <a:srgbClr val="6B7280"/>
                </a:solidFill>
                <a:latin typeface="Calibri" pitchFamily="34" charset="0"/>
                <a:ea typeface="Calibri" pitchFamily="34" charset="-122"/>
                <a:cs typeface="Calibri" pitchFamily="34" charset="-120"/>
              </a:rPr>
              <a:t>fake placements can't teach the ranker</a:t>
            </a:r>
            <a:endParaRPr lang="en-US" sz="1000" dirty="0"/>
          </a:p>
        </p:txBody>
      </p:sp>
      <p:sp>
        <p:nvSpPr>
          <p:cNvPr id="74" name="Text 60"/>
          <p:cNvSpPr txBox="1"/>
          <p:nvPr/>
        </p:nvSpPr>
        <p:spPr>
          <a:xfrm>
            <a:off x="5669280" y="4846320"/>
            <a:ext cx="1783080" cy="182880"/>
          </a:xfrm>
          <a:prstGeom prst="rect">
            <a:avLst/>
          </a:prstGeom>
          <a:noFill/>
          <a:ln/>
        </p:spPr>
        <p:txBody>
          <a:bodyPr wrap="square" lIns="0" tIns="0" rIns="0" bIns="0" rtlCol="0" anchor="ctr"/>
          <a:lstStyle/>
          <a:p>
            <a:pPr algn="r" indent="0" marL="0">
              <a:buNone/>
            </a:pPr>
            <a:r>
              <a:rPr lang="en-US" sz="750" i="1" dirty="0">
                <a:solidFill>
                  <a:srgbClr val="6B7280"/>
                </a:solidFill>
                <a:latin typeface="Calibri" pitchFamily="34" charset="0"/>
                <a:ea typeface="Calibri" pitchFamily="34" charset="-122"/>
                <a:cs typeface="Calibri" pitchFamily="34" charset="-120"/>
              </a:rPr>
              <a:t>* needs a government MoU</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82880"/>
            <a:ext cx="5486400" cy="182880"/>
          </a:xfrm>
          <a:prstGeom prst="rect">
            <a:avLst/>
          </a:prstGeom>
          <a:noFill/>
          <a:ln/>
        </p:spPr>
        <p:txBody>
          <a:bodyPr wrap="square" lIns="0" tIns="0" rIns="0" bIns="0" rtlCol="0" anchor="t"/>
          <a:lstStyle/>
          <a:p>
            <a:pPr indent="0" marL="0">
              <a:buNone/>
            </a:pPr>
            <a:r>
              <a:rPr lang="en-US" sz="900" b="1" spc="200" kern="0" dirty="0">
                <a:solidFill>
                  <a:srgbClr val="C97A12"/>
                </a:solidFill>
                <a:latin typeface="Calibri" pitchFamily="34" charset="0"/>
                <a:ea typeface="Calibri" pitchFamily="34" charset="-122"/>
                <a:cs typeface="Calibri" pitchFamily="34" charset="-120"/>
              </a:rPr>
              <a:t>03  ·  TECHNICAL APPROACH</a:t>
            </a:r>
            <a:endParaRPr lang="en-US" sz="900" dirty="0"/>
          </a:p>
        </p:txBody>
      </p:sp>
      <p:sp>
        <p:nvSpPr>
          <p:cNvPr id="3" name="Text 1"/>
          <p:cNvSpPr txBox="1"/>
          <p:nvPr/>
        </p:nvSpPr>
        <p:spPr>
          <a:xfrm>
            <a:off x="365760" y="384048"/>
            <a:ext cx="6949440" cy="420624"/>
          </a:xfrm>
          <a:prstGeom prst="rect">
            <a:avLst/>
          </a:prstGeom>
          <a:noFill/>
          <a:ln/>
        </p:spPr>
        <p:txBody>
          <a:bodyPr wrap="square" lIns="0" tIns="0" rIns="0" bIns="0" rtlCol="0" anchor="ctr"/>
          <a:lstStyle/>
          <a:p>
            <a:pPr indent="0" marL="0">
              <a:buNone/>
            </a:pPr>
            <a:r>
              <a:rPr lang="en-US" sz="2400" b="1" dirty="0">
                <a:solidFill>
                  <a:srgbClr val="26215C"/>
                </a:solidFill>
                <a:latin typeface="Cambria" pitchFamily="34" charset="0"/>
                <a:ea typeface="Cambria" pitchFamily="34" charset="-122"/>
                <a:cs typeface="Cambria" pitchFamily="34" charset="-120"/>
              </a:rPr>
              <a:t>How HunarMarg works</a:t>
            </a:r>
            <a:endParaRPr lang="en-US" sz="2400" dirty="0"/>
          </a:p>
        </p:txBody>
      </p:sp>
      <p:pic>
        <p:nvPicPr>
          <p:cNvPr id="4" name="Image 0" descr="/tmp/pw/sih_logo.png">    </p:cNvPr>
          <p:cNvPicPr>
            <a:picLocks noChangeAspect="1"/>
          </p:cNvPicPr>
          <p:nvPr/>
        </p:nvPicPr>
        <p:blipFill>
          <a:blip r:embed="rId1"/>
          <a:stretch>
            <a:fillRect/>
          </a:stretch>
        </p:blipFill>
        <p:spPr>
          <a:xfrm>
            <a:off x="7589520" y="128016"/>
            <a:ext cx="1325880" cy="626364"/>
          </a:xfrm>
          <a:prstGeom prst="rect">
            <a:avLst/>
          </a:prstGeom>
        </p:spPr>
      </p:pic>
      <p:sp>
        <p:nvSpPr>
          <p:cNvPr id="5" name="Text 2"/>
          <p:cNvSpPr txBox="1"/>
          <p:nvPr/>
        </p:nvSpPr>
        <p:spPr>
          <a:xfrm>
            <a:off x="365760" y="4846320"/>
            <a:ext cx="2286000" cy="182880"/>
          </a:xfrm>
          <a:prstGeom prst="rect">
            <a:avLst/>
          </a:prstGeom>
          <a:noFill/>
          <a:ln/>
        </p:spPr>
        <p:txBody>
          <a:bodyPr wrap="square" lIns="0" tIns="0" rIns="0" bIns="0"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HunarMarg  ·  SIH26097</a:t>
            </a:r>
            <a:endParaRPr lang="en-US" sz="800" dirty="0"/>
          </a:p>
        </p:txBody>
      </p:sp>
      <p:sp>
        <p:nvSpPr>
          <p:cNvPr id="6" name="Shape 3"/>
          <p:cNvSpPr/>
          <p:nvPr/>
        </p:nvSpPr>
        <p:spPr>
          <a:xfrm>
            <a:off x="7680960" y="4937760"/>
            <a:ext cx="1051560" cy="0"/>
          </a:xfrm>
          <a:prstGeom prst="line">
            <a:avLst/>
          </a:prstGeom>
          <a:noFill/>
          <a:ln w="19050">
            <a:solidFill>
              <a:srgbClr val="BDB9DC"/>
            </a:solidFill>
            <a:prstDash val="dash"/>
          </a:ln>
        </p:spPr>
      </p:sp>
      <p:sp>
        <p:nvSpPr>
          <p:cNvPr id="7" name="Shape 4"/>
          <p:cNvSpPr/>
          <p:nvPr/>
        </p:nvSpPr>
        <p:spPr>
          <a:xfrm>
            <a:off x="7635240" y="4892040"/>
            <a:ext cx="91440" cy="91440"/>
          </a:xfrm>
          <a:prstGeom prst="ellipse">
            <a:avLst/>
          </a:prstGeom>
          <a:solidFill>
            <a:srgbClr val="3B3486"/>
          </a:solidFill>
          <a:ln w="12700">
            <a:solidFill>
              <a:srgbClr val="FFFFFF"/>
            </a:solidFill>
            <a:prstDash val="solid"/>
          </a:ln>
        </p:spPr>
      </p:sp>
      <p:sp>
        <p:nvSpPr>
          <p:cNvPr id="8" name="Shape 5"/>
          <p:cNvSpPr/>
          <p:nvPr/>
        </p:nvSpPr>
        <p:spPr>
          <a:xfrm>
            <a:off x="7845552" y="4846320"/>
            <a:ext cx="182880" cy="182880"/>
          </a:xfrm>
          <a:prstGeom prst="ellipse">
            <a:avLst/>
          </a:prstGeom>
          <a:solidFill>
            <a:srgbClr val="F2A33A"/>
          </a:solidFill>
          <a:ln w="12700">
            <a:solidFill>
              <a:srgbClr val="FFFFFF"/>
            </a:solidFill>
            <a:prstDash val="solid"/>
          </a:ln>
        </p:spPr>
      </p:sp>
      <p:sp>
        <p:nvSpPr>
          <p:cNvPr id="9" name="Text 6"/>
          <p:cNvSpPr txBox="1"/>
          <p:nvPr/>
        </p:nvSpPr>
        <p:spPr>
          <a:xfrm>
            <a:off x="7845552" y="4846320"/>
            <a:ext cx="182880" cy="182880"/>
          </a:xfrm>
          <a:prstGeom prst="rect">
            <a:avLst/>
          </a:prstGeom>
          <a:noFill/>
          <a:ln/>
        </p:spPr>
        <p:txBody>
          <a:bodyPr wrap="square" lIns="0" tIns="0" rIns="0" bIns="0" rtlCol="0" anchor="ctr"/>
          <a:lstStyle/>
          <a:p>
            <a:pPr algn="ctr" indent="0" marL="0">
              <a:buNone/>
            </a:pPr>
            <a:r>
              <a:rPr lang="en-US" sz="750" b="1" dirty="0">
                <a:solidFill>
                  <a:srgbClr val="26215C"/>
                </a:solidFill>
                <a:latin typeface="Calibri" pitchFamily="34" charset="0"/>
                <a:ea typeface="Calibri" pitchFamily="34" charset="-122"/>
                <a:cs typeface="Calibri" pitchFamily="34" charset="-120"/>
              </a:rPr>
              <a:t>3</a:t>
            </a:r>
            <a:endParaRPr lang="en-US" sz="750" dirty="0"/>
          </a:p>
        </p:txBody>
      </p:sp>
      <p:sp>
        <p:nvSpPr>
          <p:cNvPr id="10" name="Shape 7"/>
          <p:cNvSpPr/>
          <p:nvPr/>
        </p:nvSpPr>
        <p:spPr>
          <a:xfrm>
            <a:off x="8147304" y="4892040"/>
            <a:ext cx="91440" cy="91440"/>
          </a:xfrm>
          <a:prstGeom prst="ellipse">
            <a:avLst/>
          </a:prstGeom>
          <a:solidFill>
            <a:srgbClr val="D6D3EA"/>
          </a:solidFill>
          <a:ln w="12700">
            <a:solidFill>
              <a:srgbClr val="FFFFFF"/>
            </a:solidFill>
            <a:prstDash val="solid"/>
          </a:ln>
        </p:spPr>
      </p:sp>
      <p:sp>
        <p:nvSpPr>
          <p:cNvPr id="11" name="Shape 8"/>
          <p:cNvSpPr/>
          <p:nvPr/>
        </p:nvSpPr>
        <p:spPr>
          <a:xfrm>
            <a:off x="8403336" y="4892040"/>
            <a:ext cx="91440" cy="91440"/>
          </a:xfrm>
          <a:prstGeom prst="ellipse">
            <a:avLst/>
          </a:prstGeom>
          <a:solidFill>
            <a:srgbClr val="D6D3EA"/>
          </a:solidFill>
          <a:ln w="12700">
            <a:solidFill>
              <a:srgbClr val="FFFFFF"/>
            </a:solidFill>
            <a:prstDash val="solid"/>
          </a:ln>
        </p:spPr>
      </p:sp>
      <p:sp>
        <p:nvSpPr>
          <p:cNvPr id="12" name="Shape 9"/>
          <p:cNvSpPr/>
          <p:nvPr/>
        </p:nvSpPr>
        <p:spPr>
          <a:xfrm>
            <a:off x="8659368" y="4892040"/>
            <a:ext cx="91440" cy="91440"/>
          </a:xfrm>
          <a:prstGeom prst="ellipse">
            <a:avLst/>
          </a:prstGeom>
          <a:solidFill>
            <a:srgbClr val="D6D3EA"/>
          </a:solidFill>
          <a:ln w="12700">
            <a:solidFill>
              <a:srgbClr val="FFFFFF"/>
            </a:solidFill>
            <a:prstDash val="solid"/>
          </a:ln>
        </p:spPr>
      </p:sp>
      <p:sp>
        <p:nvSpPr>
          <p:cNvPr id="13" name="Text 10"/>
          <p:cNvSpPr txBox="1"/>
          <p:nvPr/>
        </p:nvSpPr>
        <p:spPr>
          <a:xfrm>
            <a:off x="365760" y="978408"/>
            <a:ext cx="960120" cy="457200"/>
          </a:xfrm>
          <a:prstGeom prst="rect">
            <a:avLst/>
          </a:prstGeom>
          <a:noFill/>
          <a:ln/>
        </p:spPr>
        <p:txBody>
          <a:bodyPr wrap="square" lIns="0" tIns="0" rIns="0" bIns="0" rtlCol="0" anchor="t"/>
          <a:lstStyle/>
          <a:p>
            <a:pPr indent="0" marL="0">
              <a:buNone/>
            </a:pPr>
            <a:r>
              <a:rPr lang="en-US" sz="950" b="1" dirty="0">
                <a:solidFill>
                  <a:srgbClr val="26215C"/>
                </a:solidFill>
                <a:latin typeface="Calibri" pitchFamily="34" charset="0"/>
                <a:ea typeface="Calibri" pitchFamily="34" charset="-122"/>
                <a:cs typeface="Calibri" pitchFamily="34" charset="-120"/>
              </a:rPr>
              <a:t>During the call</a:t>
            </a:r>
            <a:endParaRPr lang="en-US" sz="950" dirty="0"/>
          </a:p>
          <a:p>
            <a:pPr indent="0" marL="0">
              <a:buNone/>
            </a:pPr>
            <a:r>
              <a:rPr lang="en-US" sz="800" i="1" dirty="0">
                <a:solidFill>
                  <a:srgbClr val="6B7280"/>
                </a:solidFill>
                <a:latin typeface="Calibri" pitchFamily="34" charset="0"/>
                <a:ea typeface="Calibri" pitchFamily="34" charset="-122"/>
                <a:cs typeface="Calibri" pitchFamily="34" charset="-120"/>
              </a:rPr>
              <a:t>seconds</a:t>
            </a:r>
            <a:endParaRPr lang="en-US" sz="950" dirty="0"/>
          </a:p>
        </p:txBody>
      </p:sp>
      <p:sp>
        <p:nvSpPr>
          <p:cNvPr id="14" name="Shape 11"/>
          <p:cNvSpPr/>
          <p:nvPr/>
        </p:nvSpPr>
        <p:spPr>
          <a:xfrm>
            <a:off x="1609344" y="1152144"/>
            <a:ext cx="4233672" cy="0"/>
          </a:xfrm>
          <a:prstGeom prst="line">
            <a:avLst/>
          </a:prstGeom>
          <a:noFill/>
          <a:ln w="19050">
            <a:solidFill>
              <a:srgbClr val="9C97CF"/>
            </a:solidFill>
            <a:prstDash val="dash"/>
          </a:ln>
        </p:spPr>
      </p:sp>
      <p:sp>
        <p:nvSpPr>
          <p:cNvPr id="15" name="Shape 12"/>
          <p:cNvSpPr/>
          <p:nvPr/>
        </p:nvSpPr>
        <p:spPr>
          <a:xfrm>
            <a:off x="1417320" y="960120"/>
            <a:ext cx="384048" cy="384048"/>
          </a:xfrm>
          <a:prstGeom prst="ellipse">
            <a:avLst/>
          </a:prstGeom>
          <a:solidFill>
            <a:srgbClr val="26215C"/>
          </a:solidFill>
          <a:ln w="12700">
            <a:solidFill>
              <a:srgbClr val="26215C"/>
            </a:solidFill>
            <a:prstDash val="solid"/>
          </a:ln>
        </p:spPr>
      </p:sp>
      <p:pic>
        <p:nvPicPr>
          <p:cNvPr id="16" name="Image 1" descr="preencoded.png">    </p:cNvPr>
          <p:cNvPicPr>
            <a:picLocks noChangeAspect="1"/>
          </p:cNvPicPr>
          <p:nvPr/>
        </p:nvPicPr>
        <p:blipFill>
          <a:blip r:embed="rId2"/>
          <a:stretch>
            <a:fillRect/>
          </a:stretch>
        </p:blipFill>
        <p:spPr>
          <a:xfrm>
            <a:off x="1517172" y="1059972"/>
            <a:ext cx="184343" cy="184343"/>
          </a:xfrm>
          <a:prstGeom prst="rect">
            <a:avLst/>
          </a:prstGeom>
        </p:spPr>
      </p:pic>
      <p:sp>
        <p:nvSpPr>
          <p:cNvPr id="17" name="Text 13"/>
          <p:cNvSpPr txBox="1"/>
          <p:nvPr/>
        </p:nvSpPr>
        <p:spPr>
          <a:xfrm>
            <a:off x="1274826" y="1380744"/>
            <a:ext cx="669036"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Exotel</a:t>
            </a:r>
            <a:endParaRPr lang="en-US" sz="800" dirty="0"/>
          </a:p>
        </p:txBody>
      </p:sp>
      <p:sp>
        <p:nvSpPr>
          <p:cNvPr id="18" name="Text 14"/>
          <p:cNvSpPr txBox="1"/>
          <p:nvPr/>
        </p:nvSpPr>
        <p:spPr>
          <a:xfrm>
            <a:off x="1274826" y="1536192"/>
            <a:ext cx="669036"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callback + keys</a:t>
            </a:r>
            <a:endParaRPr lang="en-US" sz="700" dirty="0"/>
          </a:p>
        </p:txBody>
      </p:sp>
      <p:sp>
        <p:nvSpPr>
          <p:cNvPr id="19" name="Shape 15"/>
          <p:cNvSpPr/>
          <p:nvPr/>
        </p:nvSpPr>
        <p:spPr>
          <a:xfrm>
            <a:off x="2122932" y="960120"/>
            <a:ext cx="384048" cy="384048"/>
          </a:xfrm>
          <a:prstGeom prst="ellipse">
            <a:avLst/>
          </a:prstGeom>
          <a:solidFill>
            <a:srgbClr val="26215C"/>
          </a:solidFill>
          <a:ln w="12700">
            <a:solidFill>
              <a:srgbClr val="26215C"/>
            </a:solidFill>
            <a:prstDash val="solid"/>
          </a:ln>
        </p:spPr>
      </p:sp>
      <p:pic>
        <p:nvPicPr>
          <p:cNvPr id="20" name="Image 2" descr="preencoded.png">    </p:cNvPr>
          <p:cNvPicPr>
            <a:picLocks noChangeAspect="1"/>
          </p:cNvPicPr>
          <p:nvPr/>
        </p:nvPicPr>
        <p:blipFill>
          <a:blip r:embed="rId3"/>
          <a:stretch>
            <a:fillRect/>
          </a:stretch>
        </p:blipFill>
        <p:spPr>
          <a:xfrm>
            <a:off x="2222784" y="1059972"/>
            <a:ext cx="184343" cy="184343"/>
          </a:xfrm>
          <a:prstGeom prst="rect">
            <a:avLst/>
          </a:prstGeom>
        </p:spPr>
      </p:pic>
      <p:sp>
        <p:nvSpPr>
          <p:cNvPr id="21" name="Text 16"/>
          <p:cNvSpPr txBox="1"/>
          <p:nvPr/>
        </p:nvSpPr>
        <p:spPr>
          <a:xfrm>
            <a:off x="1980438" y="1380744"/>
            <a:ext cx="669036"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IndicConformer</a:t>
            </a:r>
            <a:endParaRPr lang="en-US" sz="800" dirty="0"/>
          </a:p>
        </p:txBody>
      </p:sp>
      <p:sp>
        <p:nvSpPr>
          <p:cNvPr id="22" name="Text 17"/>
          <p:cNvSpPr txBox="1"/>
          <p:nvPr/>
        </p:nvSpPr>
        <p:spPr>
          <a:xfrm>
            <a:off x="1980438" y="1536192"/>
            <a:ext cx="669036"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speech → text</a:t>
            </a:r>
            <a:endParaRPr lang="en-US" sz="700" dirty="0"/>
          </a:p>
        </p:txBody>
      </p:sp>
      <p:sp>
        <p:nvSpPr>
          <p:cNvPr id="23" name="Shape 18"/>
          <p:cNvSpPr/>
          <p:nvPr/>
        </p:nvSpPr>
        <p:spPr>
          <a:xfrm>
            <a:off x="2828544" y="960120"/>
            <a:ext cx="384048" cy="384048"/>
          </a:xfrm>
          <a:prstGeom prst="ellipse">
            <a:avLst/>
          </a:prstGeom>
          <a:solidFill>
            <a:srgbClr val="26215C"/>
          </a:solidFill>
          <a:ln w="12700">
            <a:solidFill>
              <a:srgbClr val="26215C"/>
            </a:solidFill>
            <a:prstDash val="solid"/>
          </a:ln>
        </p:spPr>
      </p:sp>
      <p:pic>
        <p:nvPicPr>
          <p:cNvPr id="24" name="Image 3" descr="preencoded.png">    </p:cNvPr>
          <p:cNvPicPr>
            <a:picLocks noChangeAspect="1"/>
          </p:cNvPicPr>
          <p:nvPr/>
        </p:nvPicPr>
        <p:blipFill>
          <a:blip r:embed="rId4"/>
          <a:stretch>
            <a:fillRect/>
          </a:stretch>
        </p:blipFill>
        <p:spPr>
          <a:xfrm>
            <a:off x="2928396" y="1059972"/>
            <a:ext cx="184343" cy="184343"/>
          </a:xfrm>
          <a:prstGeom prst="rect">
            <a:avLst/>
          </a:prstGeom>
        </p:spPr>
      </p:pic>
      <p:sp>
        <p:nvSpPr>
          <p:cNvPr id="25" name="Text 19"/>
          <p:cNvSpPr txBox="1"/>
          <p:nvPr/>
        </p:nvSpPr>
        <p:spPr>
          <a:xfrm>
            <a:off x="2686050" y="1380744"/>
            <a:ext cx="669036"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Sarvam-30B</a:t>
            </a:r>
            <a:endParaRPr lang="en-US" sz="800" dirty="0"/>
          </a:p>
        </p:txBody>
      </p:sp>
      <p:sp>
        <p:nvSpPr>
          <p:cNvPr id="26" name="Text 20"/>
          <p:cNvSpPr txBox="1"/>
          <p:nvPr/>
        </p:nvSpPr>
        <p:spPr>
          <a:xfrm>
            <a:off x="2686050" y="1536192"/>
            <a:ext cx="669036"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fills the profile form</a:t>
            </a:r>
            <a:endParaRPr lang="en-US" sz="700" dirty="0"/>
          </a:p>
        </p:txBody>
      </p:sp>
      <p:sp>
        <p:nvSpPr>
          <p:cNvPr id="27" name="Shape 21"/>
          <p:cNvSpPr/>
          <p:nvPr/>
        </p:nvSpPr>
        <p:spPr>
          <a:xfrm>
            <a:off x="3534156" y="960120"/>
            <a:ext cx="384048" cy="384048"/>
          </a:xfrm>
          <a:prstGeom prst="ellipse">
            <a:avLst/>
          </a:prstGeom>
          <a:solidFill>
            <a:srgbClr val="26215C"/>
          </a:solidFill>
          <a:ln w="12700">
            <a:solidFill>
              <a:srgbClr val="26215C"/>
            </a:solidFill>
            <a:prstDash val="solid"/>
          </a:ln>
        </p:spPr>
      </p:sp>
      <p:pic>
        <p:nvPicPr>
          <p:cNvPr id="28" name="Image 4" descr="preencoded.png">    </p:cNvPr>
          <p:cNvPicPr>
            <a:picLocks noChangeAspect="1"/>
          </p:cNvPicPr>
          <p:nvPr/>
        </p:nvPicPr>
        <p:blipFill>
          <a:blip r:embed="rId5"/>
          <a:stretch>
            <a:fillRect/>
          </a:stretch>
        </p:blipFill>
        <p:spPr>
          <a:xfrm>
            <a:off x="3634008" y="1059972"/>
            <a:ext cx="184343" cy="184343"/>
          </a:xfrm>
          <a:prstGeom prst="rect">
            <a:avLst/>
          </a:prstGeom>
        </p:spPr>
      </p:pic>
      <p:sp>
        <p:nvSpPr>
          <p:cNvPr id="29" name="Text 22"/>
          <p:cNvSpPr txBox="1"/>
          <p:nvPr/>
        </p:nvSpPr>
        <p:spPr>
          <a:xfrm>
            <a:off x="3391662" y="1380744"/>
            <a:ext cx="669036"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e5 + BM25</a:t>
            </a:r>
            <a:endParaRPr lang="en-US" sz="800" dirty="0"/>
          </a:p>
        </p:txBody>
      </p:sp>
      <p:sp>
        <p:nvSpPr>
          <p:cNvPr id="30" name="Text 23"/>
          <p:cNvSpPr txBox="1"/>
          <p:nvPr/>
        </p:nvSpPr>
        <p:spPr>
          <a:xfrm>
            <a:off x="3391662" y="1536192"/>
            <a:ext cx="669036"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finds the NCO job</a:t>
            </a:r>
            <a:endParaRPr lang="en-US" sz="700" dirty="0"/>
          </a:p>
        </p:txBody>
      </p:sp>
      <p:sp>
        <p:nvSpPr>
          <p:cNvPr id="31" name="Shape 24"/>
          <p:cNvSpPr/>
          <p:nvPr/>
        </p:nvSpPr>
        <p:spPr>
          <a:xfrm>
            <a:off x="4239768" y="960120"/>
            <a:ext cx="384048" cy="384048"/>
          </a:xfrm>
          <a:prstGeom prst="ellipse">
            <a:avLst/>
          </a:prstGeom>
          <a:solidFill>
            <a:srgbClr val="26215C"/>
          </a:solidFill>
          <a:ln w="12700">
            <a:solidFill>
              <a:srgbClr val="26215C"/>
            </a:solidFill>
            <a:prstDash val="solid"/>
          </a:ln>
        </p:spPr>
      </p:sp>
      <p:pic>
        <p:nvPicPr>
          <p:cNvPr id="32" name="Image 5" descr="preencoded.png">    </p:cNvPr>
          <p:cNvPicPr>
            <a:picLocks noChangeAspect="1"/>
          </p:cNvPicPr>
          <p:nvPr/>
        </p:nvPicPr>
        <p:blipFill>
          <a:blip r:embed="rId6"/>
          <a:stretch>
            <a:fillRect/>
          </a:stretch>
        </p:blipFill>
        <p:spPr>
          <a:xfrm>
            <a:off x="4339620" y="1059972"/>
            <a:ext cx="184343" cy="184343"/>
          </a:xfrm>
          <a:prstGeom prst="rect">
            <a:avLst/>
          </a:prstGeom>
        </p:spPr>
      </p:pic>
      <p:sp>
        <p:nvSpPr>
          <p:cNvPr id="33" name="Text 25"/>
          <p:cNvSpPr txBox="1"/>
          <p:nvPr/>
        </p:nvSpPr>
        <p:spPr>
          <a:xfrm>
            <a:off x="4097274" y="1380744"/>
            <a:ext cx="669036"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Read-back</a:t>
            </a:r>
            <a:endParaRPr lang="en-US" sz="800" dirty="0"/>
          </a:p>
        </p:txBody>
      </p:sp>
      <p:sp>
        <p:nvSpPr>
          <p:cNvPr id="34" name="Text 26"/>
          <p:cNvSpPr txBox="1"/>
          <p:nvPr/>
        </p:nvSpPr>
        <p:spPr>
          <a:xfrm>
            <a:off x="4097274" y="1536192"/>
            <a:ext cx="669036"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caller confirms</a:t>
            </a:r>
            <a:endParaRPr lang="en-US" sz="700" dirty="0"/>
          </a:p>
        </p:txBody>
      </p:sp>
      <p:sp>
        <p:nvSpPr>
          <p:cNvPr id="35" name="Shape 27"/>
          <p:cNvSpPr/>
          <p:nvPr/>
        </p:nvSpPr>
        <p:spPr>
          <a:xfrm>
            <a:off x="4945380" y="960120"/>
            <a:ext cx="384048" cy="384048"/>
          </a:xfrm>
          <a:prstGeom prst="ellipse">
            <a:avLst/>
          </a:prstGeom>
          <a:solidFill>
            <a:srgbClr val="26215C"/>
          </a:solidFill>
          <a:ln w="12700">
            <a:solidFill>
              <a:srgbClr val="26215C"/>
            </a:solidFill>
            <a:prstDash val="solid"/>
          </a:ln>
        </p:spPr>
      </p:sp>
      <p:pic>
        <p:nvPicPr>
          <p:cNvPr id="36" name="Image 6" descr="preencoded.png">    </p:cNvPr>
          <p:cNvPicPr>
            <a:picLocks noChangeAspect="1"/>
          </p:cNvPicPr>
          <p:nvPr/>
        </p:nvPicPr>
        <p:blipFill>
          <a:blip r:embed="rId7"/>
          <a:stretch>
            <a:fillRect/>
          </a:stretch>
        </p:blipFill>
        <p:spPr>
          <a:xfrm>
            <a:off x="5045232" y="1059972"/>
            <a:ext cx="184343" cy="184343"/>
          </a:xfrm>
          <a:prstGeom prst="rect">
            <a:avLst/>
          </a:prstGeom>
        </p:spPr>
      </p:pic>
      <p:sp>
        <p:nvSpPr>
          <p:cNvPr id="37" name="Text 28"/>
          <p:cNvSpPr txBox="1"/>
          <p:nvPr/>
        </p:nvSpPr>
        <p:spPr>
          <a:xfrm>
            <a:off x="4802886" y="1380744"/>
            <a:ext cx="669036"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LightGBM</a:t>
            </a:r>
            <a:endParaRPr lang="en-US" sz="800" dirty="0"/>
          </a:p>
        </p:txBody>
      </p:sp>
      <p:sp>
        <p:nvSpPr>
          <p:cNvPr id="38" name="Text 29"/>
          <p:cNvSpPr txBox="1"/>
          <p:nvPr/>
        </p:nvSpPr>
        <p:spPr>
          <a:xfrm>
            <a:off x="4802886" y="1536192"/>
            <a:ext cx="669036"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ranks on govt data</a:t>
            </a:r>
            <a:endParaRPr lang="en-US" sz="700" dirty="0"/>
          </a:p>
        </p:txBody>
      </p:sp>
      <p:sp>
        <p:nvSpPr>
          <p:cNvPr id="39" name="Shape 30"/>
          <p:cNvSpPr/>
          <p:nvPr/>
        </p:nvSpPr>
        <p:spPr>
          <a:xfrm>
            <a:off x="5650992" y="960120"/>
            <a:ext cx="384048" cy="384048"/>
          </a:xfrm>
          <a:prstGeom prst="ellipse">
            <a:avLst/>
          </a:prstGeom>
          <a:solidFill>
            <a:srgbClr val="26215C"/>
          </a:solidFill>
          <a:ln w="12700">
            <a:solidFill>
              <a:srgbClr val="26215C"/>
            </a:solidFill>
            <a:prstDash val="solid"/>
          </a:ln>
        </p:spPr>
      </p:sp>
      <p:pic>
        <p:nvPicPr>
          <p:cNvPr id="40" name="Image 7" descr="preencoded.png">    </p:cNvPr>
          <p:cNvPicPr>
            <a:picLocks noChangeAspect="1"/>
          </p:cNvPicPr>
          <p:nvPr/>
        </p:nvPicPr>
        <p:blipFill>
          <a:blip r:embed="rId8"/>
          <a:stretch>
            <a:fillRect/>
          </a:stretch>
        </p:blipFill>
        <p:spPr>
          <a:xfrm>
            <a:off x="5750844" y="1059972"/>
            <a:ext cx="184343" cy="184343"/>
          </a:xfrm>
          <a:prstGeom prst="rect">
            <a:avLst/>
          </a:prstGeom>
        </p:spPr>
      </p:pic>
      <p:sp>
        <p:nvSpPr>
          <p:cNvPr id="41" name="Text 31"/>
          <p:cNvSpPr txBox="1"/>
          <p:nvPr/>
        </p:nvSpPr>
        <p:spPr>
          <a:xfrm>
            <a:off x="5508498" y="1380744"/>
            <a:ext cx="669036"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Parler-TTS</a:t>
            </a:r>
            <a:endParaRPr lang="en-US" sz="800" dirty="0"/>
          </a:p>
        </p:txBody>
      </p:sp>
      <p:sp>
        <p:nvSpPr>
          <p:cNvPr id="42" name="Text 32"/>
          <p:cNvSpPr txBox="1"/>
          <p:nvPr/>
        </p:nvSpPr>
        <p:spPr>
          <a:xfrm>
            <a:off x="5508498" y="1536192"/>
            <a:ext cx="669036"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speaks checked facts</a:t>
            </a:r>
            <a:endParaRPr lang="en-US" sz="700" dirty="0"/>
          </a:p>
        </p:txBody>
      </p:sp>
      <p:sp>
        <p:nvSpPr>
          <p:cNvPr id="43" name="Text 33"/>
          <p:cNvSpPr txBox="1"/>
          <p:nvPr/>
        </p:nvSpPr>
        <p:spPr>
          <a:xfrm>
            <a:off x="365760" y="1956816"/>
            <a:ext cx="960120" cy="457200"/>
          </a:xfrm>
          <a:prstGeom prst="rect">
            <a:avLst/>
          </a:prstGeom>
          <a:noFill/>
          <a:ln/>
        </p:spPr>
        <p:txBody>
          <a:bodyPr wrap="square" lIns="0" tIns="0" rIns="0" bIns="0" rtlCol="0" anchor="t"/>
          <a:lstStyle/>
          <a:p>
            <a:pPr indent="0" marL="0">
              <a:buNone/>
            </a:pPr>
            <a:r>
              <a:rPr lang="en-US" sz="950" b="1" dirty="0">
                <a:solidFill>
                  <a:srgbClr val="C97A12"/>
                </a:solidFill>
                <a:latin typeface="Calibri" pitchFamily="34" charset="0"/>
                <a:ea typeface="Calibri" pitchFamily="34" charset="-122"/>
                <a:cs typeface="Calibri" pitchFamily="34" charset="-120"/>
              </a:rPr>
              <a:t>After the call</a:t>
            </a:r>
            <a:endParaRPr lang="en-US" sz="950" dirty="0"/>
          </a:p>
          <a:p>
            <a:pPr indent="0" marL="0">
              <a:buNone/>
            </a:pPr>
            <a:r>
              <a:rPr lang="en-US" sz="800" i="1" dirty="0">
                <a:solidFill>
                  <a:srgbClr val="6B7280"/>
                </a:solidFill>
                <a:latin typeface="Calibri" pitchFamily="34" charset="0"/>
                <a:ea typeface="Calibri" pitchFamily="34" charset="-122"/>
                <a:cs typeface="Calibri" pitchFamily="34" charset="-120"/>
              </a:rPr>
              <a:t>days</a:t>
            </a:r>
            <a:endParaRPr lang="en-US" sz="950" dirty="0"/>
          </a:p>
        </p:txBody>
      </p:sp>
      <p:sp>
        <p:nvSpPr>
          <p:cNvPr id="44" name="Shape 34"/>
          <p:cNvSpPr/>
          <p:nvPr/>
        </p:nvSpPr>
        <p:spPr>
          <a:xfrm>
            <a:off x="1609344" y="2130552"/>
            <a:ext cx="4233672" cy="0"/>
          </a:xfrm>
          <a:prstGeom prst="line">
            <a:avLst/>
          </a:prstGeom>
          <a:noFill/>
          <a:ln w="19050">
            <a:solidFill>
              <a:srgbClr val="F2A33A"/>
            </a:solidFill>
            <a:prstDash val="dash"/>
          </a:ln>
        </p:spPr>
      </p:sp>
      <p:sp>
        <p:nvSpPr>
          <p:cNvPr id="45" name="Shape 35"/>
          <p:cNvSpPr/>
          <p:nvPr/>
        </p:nvSpPr>
        <p:spPr>
          <a:xfrm>
            <a:off x="1417320" y="1938528"/>
            <a:ext cx="384048" cy="384048"/>
          </a:xfrm>
          <a:prstGeom prst="ellipse">
            <a:avLst/>
          </a:prstGeom>
          <a:solidFill>
            <a:srgbClr val="C97A12"/>
          </a:solidFill>
          <a:ln w="12700">
            <a:solidFill>
              <a:srgbClr val="C97A12"/>
            </a:solidFill>
            <a:prstDash val="solid"/>
          </a:ln>
        </p:spPr>
      </p:sp>
      <p:pic>
        <p:nvPicPr>
          <p:cNvPr id="46" name="Image 8" descr="preencoded.png">    </p:cNvPr>
          <p:cNvPicPr>
            <a:picLocks noChangeAspect="1"/>
          </p:cNvPicPr>
          <p:nvPr/>
        </p:nvPicPr>
        <p:blipFill>
          <a:blip r:embed="rId9"/>
          <a:stretch>
            <a:fillRect/>
          </a:stretch>
        </p:blipFill>
        <p:spPr>
          <a:xfrm>
            <a:off x="1517172" y="2038380"/>
            <a:ext cx="184343" cy="184343"/>
          </a:xfrm>
          <a:prstGeom prst="rect">
            <a:avLst/>
          </a:prstGeom>
        </p:spPr>
      </p:pic>
      <p:sp>
        <p:nvSpPr>
          <p:cNvPr id="47" name="Text 36"/>
          <p:cNvSpPr txBox="1"/>
          <p:nvPr/>
        </p:nvSpPr>
        <p:spPr>
          <a:xfrm>
            <a:off x="1143000" y="2359152"/>
            <a:ext cx="932688"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Case</a:t>
            </a:r>
            <a:endParaRPr lang="en-US" sz="800" dirty="0"/>
          </a:p>
        </p:txBody>
      </p:sp>
      <p:sp>
        <p:nvSpPr>
          <p:cNvPr id="48" name="Text 37"/>
          <p:cNvSpPr txBox="1"/>
          <p:nvPr/>
        </p:nvSpPr>
        <p:spPr>
          <a:xfrm>
            <a:off x="1143000" y="2514600"/>
            <a:ext cx="932688"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profile + audit log</a:t>
            </a:r>
            <a:endParaRPr lang="en-US" sz="700" dirty="0"/>
          </a:p>
        </p:txBody>
      </p:sp>
      <p:sp>
        <p:nvSpPr>
          <p:cNvPr id="49" name="Shape 38"/>
          <p:cNvSpPr/>
          <p:nvPr/>
        </p:nvSpPr>
        <p:spPr>
          <a:xfrm>
            <a:off x="2475738" y="1938528"/>
            <a:ext cx="384048" cy="384048"/>
          </a:xfrm>
          <a:prstGeom prst="ellipse">
            <a:avLst/>
          </a:prstGeom>
          <a:solidFill>
            <a:srgbClr val="C97A12"/>
          </a:solidFill>
          <a:ln w="12700">
            <a:solidFill>
              <a:srgbClr val="C97A12"/>
            </a:solidFill>
            <a:prstDash val="solid"/>
          </a:ln>
        </p:spPr>
      </p:sp>
      <p:pic>
        <p:nvPicPr>
          <p:cNvPr id="50" name="Image 9" descr="preencoded.png">    </p:cNvPr>
          <p:cNvPicPr>
            <a:picLocks noChangeAspect="1"/>
          </p:cNvPicPr>
          <p:nvPr/>
        </p:nvPicPr>
        <p:blipFill>
          <a:blip r:embed="rId10"/>
          <a:stretch>
            <a:fillRect/>
          </a:stretch>
        </p:blipFill>
        <p:spPr>
          <a:xfrm>
            <a:off x="2575590" y="2038380"/>
            <a:ext cx="184343" cy="184343"/>
          </a:xfrm>
          <a:prstGeom prst="rect">
            <a:avLst/>
          </a:prstGeom>
        </p:spPr>
      </p:pic>
      <p:sp>
        <p:nvSpPr>
          <p:cNvPr id="51" name="Text 39"/>
          <p:cNvSpPr txBox="1"/>
          <p:nvPr/>
        </p:nvSpPr>
        <p:spPr>
          <a:xfrm>
            <a:off x="2201418" y="2359152"/>
            <a:ext cx="932688"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SMS</a:t>
            </a:r>
            <a:endParaRPr lang="en-US" sz="800" dirty="0"/>
          </a:p>
        </p:txBody>
      </p:sp>
      <p:sp>
        <p:nvSpPr>
          <p:cNvPr id="52" name="Text 40"/>
          <p:cNvSpPr txBox="1"/>
          <p:nvPr/>
        </p:nvSpPr>
        <p:spPr>
          <a:xfrm>
            <a:off x="2201418" y="2514600"/>
            <a:ext cx="932688"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case ID + documents</a:t>
            </a:r>
            <a:endParaRPr lang="en-US" sz="700" dirty="0"/>
          </a:p>
        </p:txBody>
      </p:sp>
      <p:sp>
        <p:nvSpPr>
          <p:cNvPr id="53" name="Shape 41"/>
          <p:cNvSpPr/>
          <p:nvPr/>
        </p:nvSpPr>
        <p:spPr>
          <a:xfrm>
            <a:off x="3534156" y="1938528"/>
            <a:ext cx="384048" cy="384048"/>
          </a:xfrm>
          <a:prstGeom prst="ellipse">
            <a:avLst/>
          </a:prstGeom>
          <a:solidFill>
            <a:srgbClr val="C97A12"/>
          </a:solidFill>
          <a:ln w="12700">
            <a:solidFill>
              <a:srgbClr val="C97A12"/>
            </a:solidFill>
            <a:prstDash val="solid"/>
          </a:ln>
        </p:spPr>
      </p:sp>
      <p:pic>
        <p:nvPicPr>
          <p:cNvPr id="54" name="Image 10" descr="preencoded.png">    </p:cNvPr>
          <p:cNvPicPr>
            <a:picLocks noChangeAspect="1"/>
          </p:cNvPicPr>
          <p:nvPr/>
        </p:nvPicPr>
        <p:blipFill>
          <a:blip r:embed="rId11"/>
          <a:stretch>
            <a:fillRect/>
          </a:stretch>
        </p:blipFill>
        <p:spPr>
          <a:xfrm>
            <a:off x="3634008" y="2038380"/>
            <a:ext cx="184343" cy="184343"/>
          </a:xfrm>
          <a:prstGeom prst="rect">
            <a:avLst/>
          </a:prstGeom>
        </p:spPr>
      </p:pic>
      <p:sp>
        <p:nvSpPr>
          <p:cNvPr id="55" name="Text 42"/>
          <p:cNvSpPr txBox="1"/>
          <p:nvPr/>
        </p:nvSpPr>
        <p:spPr>
          <a:xfrm>
            <a:off x="3259836" y="2359152"/>
            <a:ext cx="932688"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Officer*</a:t>
            </a:r>
            <a:endParaRPr lang="en-US" sz="800" dirty="0"/>
          </a:p>
        </p:txBody>
      </p:sp>
      <p:sp>
        <p:nvSpPr>
          <p:cNvPr id="56" name="Text 43"/>
          <p:cNvSpPr txBox="1"/>
          <p:nvPr/>
        </p:nvSpPr>
        <p:spPr>
          <a:xfrm>
            <a:off x="3259836" y="2514600"/>
            <a:ext cx="932688"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approves on console</a:t>
            </a:r>
            <a:endParaRPr lang="en-US" sz="700" dirty="0"/>
          </a:p>
        </p:txBody>
      </p:sp>
      <p:sp>
        <p:nvSpPr>
          <p:cNvPr id="57" name="Shape 44"/>
          <p:cNvSpPr/>
          <p:nvPr/>
        </p:nvSpPr>
        <p:spPr>
          <a:xfrm>
            <a:off x="4592574" y="1938528"/>
            <a:ext cx="384048" cy="384048"/>
          </a:xfrm>
          <a:prstGeom prst="ellipse">
            <a:avLst/>
          </a:prstGeom>
          <a:solidFill>
            <a:srgbClr val="C97A12"/>
          </a:solidFill>
          <a:ln w="12700">
            <a:solidFill>
              <a:srgbClr val="C97A12"/>
            </a:solidFill>
            <a:prstDash val="solid"/>
          </a:ln>
        </p:spPr>
      </p:sp>
      <p:pic>
        <p:nvPicPr>
          <p:cNvPr id="58" name="Image 11" descr="preencoded.png">    </p:cNvPr>
          <p:cNvPicPr>
            <a:picLocks noChangeAspect="1"/>
          </p:cNvPicPr>
          <p:nvPr/>
        </p:nvPicPr>
        <p:blipFill>
          <a:blip r:embed="rId12"/>
          <a:stretch>
            <a:fillRect/>
          </a:stretch>
        </p:blipFill>
        <p:spPr>
          <a:xfrm>
            <a:off x="4692426" y="2038380"/>
            <a:ext cx="184343" cy="184343"/>
          </a:xfrm>
          <a:prstGeom prst="rect">
            <a:avLst/>
          </a:prstGeom>
        </p:spPr>
      </p:pic>
      <p:sp>
        <p:nvSpPr>
          <p:cNvPr id="59" name="Text 45"/>
          <p:cNvSpPr txBox="1"/>
          <p:nvPr/>
        </p:nvSpPr>
        <p:spPr>
          <a:xfrm>
            <a:off x="4318254" y="2359152"/>
            <a:ext cx="932688"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Follow-ups</a:t>
            </a:r>
            <a:endParaRPr lang="en-US" sz="800" dirty="0"/>
          </a:p>
        </p:txBody>
      </p:sp>
      <p:sp>
        <p:nvSpPr>
          <p:cNvPr id="60" name="Text 46"/>
          <p:cNvSpPr txBox="1"/>
          <p:nvPr/>
        </p:nvSpPr>
        <p:spPr>
          <a:xfrm>
            <a:off x="4318254" y="2514600"/>
            <a:ext cx="932688"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1·3·6 months + liveness</a:t>
            </a:r>
            <a:endParaRPr lang="en-US" sz="700" dirty="0"/>
          </a:p>
        </p:txBody>
      </p:sp>
      <p:sp>
        <p:nvSpPr>
          <p:cNvPr id="61" name="Shape 47"/>
          <p:cNvSpPr/>
          <p:nvPr/>
        </p:nvSpPr>
        <p:spPr>
          <a:xfrm>
            <a:off x="5650992" y="1938528"/>
            <a:ext cx="384048" cy="384048"/>
          </a:xfrm>
          <a:prstGeom prst="ellipse">
            <a:avLst/>
          </a:prstGeom>
          <a:solidFill>
            <a:srgbClr val="C97A12"/>
          </a:solidFill>
          <a:ln w="12700">
            <a:solidFill>
              <a:srgbClr val="C97A12"/>
            </a:solidFill>
            <a:prstDash val="solid"/>
          </a:ln>
        </p:spPr>
      </p:sp>
      <p:pic>
        <p:nvPicPr>
          <p:cNvPr id="62" name="Image 12" descr="preencoded.png">    </p:cNvPr>
          <p:cNvPicPr>
            <a:picLocks noChangeAspect="1"/>
          </p:cNvPicPr>
          <p:nvPr/>
        </p:nvPicPr>
        <p:blipFill>
          <a:blip r:embed="rId13"/>
          <a:stretch>
            <a:fillRect/>
          </a:stretch>
        </p:blipFill>
        <p:spPr>
          <a:xfrm>
            <a:off x="5750844" y="2038380"/>
            <a:ext cx="184343" cy="184343"/>
          </a:xfrm>
          <a:prstGeom prst="rect">
            <a:avLst/>
          </a:prstGeom>
        </p:spPr>
      </p:pic>
      <p:sp>
        <p:nvSpPr>
          <p:cNvPr id="63" name="Text 48"/>
          <p:cNvSpPr txBox="1"/>
          <p:nvPr/>
        </p:nvSpPr>
        <p:spPr>
          <a:xfrm>
            <a:off x="5376672" y="2359152"/>
            <a:ext cx="932688" cy="164592"/>
          </a:xfrm>
          <a:prstGeom prst="rect">
            <a:avLst/>
          </a:prstGeom>
          <a:noFill/>
          <a:ln/>
        </p:spPr>
        <p:txBody>
          <a:bodyPr wrap="square" lIns="0" tIns="0" rIns="0" bIns="0" rtlCol="0" anchor="t"/>
          <a:lstStyle/>
          <a:p>
            <a:pPr algn="ctr" indent="0" marL="0">
              <a:buNone/>
            </a:pPr>
            <a:r>
              <a:rPr lang="en-US" sz="800" b="1" dirty="0">
                <a:solidFill>
                  <a:srgbClr val="26215C"/>
                </a:solidFill>
                <a:latin typeface="Calibri" pitchFamily="34" charset="0"/>
                <a:ea typeface="Calibri" pitchFamily="34" charset="-122"/>
                <a:cs typeface="Calibri" pitchFamily="34" charset="-120"/>
              </a:rPr>
              <a:t>Learning</a:t>
            </a:r>
            <a:endParaRPr lang="en-US" sz="800" dirty="0"/>
          </a:p>
        </p:txBody>
      </p:sp>
      <p:sp>
        <p:nvSpPr>
          <p:cNvPr id="64" name="Text 49"/>
          <p:cNvSpPr txBox="1"/>
          <p:nvPr/>
        </p:nvSpPr>
        <p:spPr>
          <a:xfrm>
            <a:off x="5376672" y="2514600"/>
            <a:ext cx="932688" cy="274320"/>
          </a:xfrm>
          <a:prstGeom prst="rect">
            <a:avLst/>
          </a:prstGeom>
          <a:noFill/>
          <a:ln/>
        </p:spPr>
        <p:txBody>
          <a:bodyPr wrap="square" lIns="0" tIns="0" rIns="0" bIns="0" rtlCol="0" anchor="t"/>
          <a:lstStyle/>
          <a:p>
            <a:pPr algn="ctr" indent="0" marL="0">
              <a:buNone/>
            </a:pPr>
            <a:r>
              <a:rPr lang="en-US" sz="700" dirty="0">
                <a:solidFill>
                  <a:srgbClr val="6B7280"/>
                </a:solidFill>
                <a:latin typeface="Calibri" pitchFamily="34" charset="0"/>
                <a:ea typeface="Calibri" pitchFamily="34" charset="-122"/>
                <a:cs typeface="Calibri" pitchFamily="34" charset="-120"/>
              </a:rPr>
              <a:t>retrains on verified jobs</a:t>
            </a:r>
            <a:endParaRPr lang="en-US" sz="700" dirty="0"/>
          </a:p>
        </p:txBody>
      </p:sp>
      <p:sp>
        <p:nvSpPr>
          <p:cNvPr id="65" name="Shape 50"/>
          <p:cNvSpPr/>
          <p:nvPr/>
        </p:nvSpPr>
        <p:spPr>
          <a:xfrm>
            <a:off x="365760" y="2852928"/>
            <a:ext cx="5806440" cy="274320"/>
          </a:xfrm>
          <a:prstGeom prst="roundRect">
            <a:avLst>
              <a:gd name="adj" fmla="val 50000"/>
            </a:avLst>
          </a:prstGeom>
          <a:solidFill>
            <a:srgbClr val="EEEDF7"/>
          </a:solidFill>
          <a:ln w="12700">
            <a:solidFill>
              <a:srgbClr val="EEEDF7"/>
            </a:solidFill>
            <a:prstDash val="solid"/>
          </a:ln>
        </p:spPr>
      </p:sp>
      <p:sp>
        <p:nvSpPr>
          <p:cNvPr id="66" name="Text 51"/>
          <p:cNvSpPr txBox="1"/>
          <p:nvPr/>
        </p:nvSpPr>
        <p:spPr>
          <a:xfrm>
            <a:off x="365760" y="2852928"/>
            <a:ext cx="5806440" cy="274320"/>
          </a:xfrm>
          <a:prstGeom prst="rect">
            <a:avLst/>
          </a:prstGeom>
          <a:noFill/>
          <a:ln/>
        </p:spPr>
        <p:txBody>
          <a:bodyPr wrap="square" lIns="0" tIns="0" rIns="0" bIns="0" rtlCol="0" anchor="ctr"/>
          <a:lstStyle/>
          <a:p>
            <a:pPr algn="ctr" indent="0" marL="0">
              <a:buNone/>
            </a:pPr>
            <a:r>
              <a:rPr lang="en-US" sz="950" b="1" dirty="0">
                <a:solidFill>
                  <a:srgbClr val="26215C"/>
                </a:solidFill>
                <a:latin typeface="Calibri" pitchFamily="34" charset="0"/>
                <a:ea typeface="Calibri" pitchFamily="34" charset="-122"/>
                <a:cs typeface="Calibri" pitchFamily="34" charset="-120"/>
              </a:rPr>
              <a:t>AI understands  →  rules and data decide  →  facts checked  →  people approve</a:t>
            </a:r>
            <a:endParaRPr lang="en-US" sz="950" dirty="0"/>
          </a:p>
        </p:txBody>
      </p:sp>
      <p:sp>
        <p:nvSpPr>
          <p:cNvPr id="67" name="Shape 52"/>
          <p:cNvSpPr/>
          <p:nvPr/>
        </p:nvSpPr>
        <p:spPr>
          <a:xfrm>
            <a:off x="6400800" y="914400"/>
            <a:ext cx="2468880" cy="2212848"/>
          </a:xfrm>
          <a:prstGeom prst="roundRect">
            <a:avLst>
              <a:gd name="adj" fmla="val 3306"/>
            </a:avLst>
          </a:prstGeom>
          <a:solidFill>
            <a:srgbClr val="EEEDF7"/>
          </a:solidFill>
          <a:ln w="12700">
            <a:solidFill>
              <a:srgbClr val="EEEDF7"/>
            </a:solidFill>
            <a:prstDash val="solid"/>
          </a:ln>
        </p:spPr>
      </p:sp>
      <p:sp>
        <p:nvSpPr>
          <p:cNvPr id="68" name="Text 53"/>
          <p:cNvSpPr txBox="1"/>
          <p:nvPr/>
        </p:nvSpPr>
        <p:spPr>
          <a:xfrm>
            <a:off x="6537960" y="969264"/>
            <a:ext cx="219456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Stack</a:t>
            </a:r>
            <a:endParaRPr lang="en-US" sz="1300" dirty="0"/>
          </a:p>
        </p:txBody>
      </p:sp>
      <p:sp>
        <p:nvSpPr>
          <p:cNvPr id="69" name="Text 54"/>
          <p:cNvSpPr txBox="1"/>
          <p:nvPr/>
        </p:nvSpPr>
        <p:spPr>
          <a:xfrm>
            <a:off x="6537960" y="1261872"/>
            <a:ext cx="2240280" cy="420624"/>
          </a:xfrm>
          <a:prstGeom prst="rect">
            <a:avLst/>
          </a:prstGeom>
          <a:noFill/>
          <a:ln/>
        </p:spPr>
        <p:txBody>
          <a:bodyPr wrap="square" lIns="0" tIns="0" rIns="0" bIns="0" rtlCol="0" anchor="t"/>
          <a:lstStyle/>
          <a:p>
            <a:pPr indent="0" marL="0">
              <a:buNone/>
            </a:pPr>
            <a:r>
              <a:rPr lang="en-US" sz="800" b="1" dirty="0">
                <a:solidFill>
                  <a:srgbClr val="C97A12"/>
                </a:solidFill>
                <a:latin typeface="Calibri" pitchFamily="34" charset="0"/>
                <a:ea typeface="Calibri" pitchFamily="34" charset="-122"/>
                <a:cs typeface="Calibri" pitchFamily="34" charset="-120"/>
              </a:rPr>
              <a:t>Calls  </a:t>
            </a:r>
            <a:pPr indent="0" marL="0">
              <a:buNone/>
            </a:pPr>
            <a:r>
              <a:rPr lang="en-US" sz="800" dirty="0">
                <a:solidFill>
                  <a:srgbClr val="1F2937"/>
                </a:solidFill>
                <a:latin typeface="Calibri" pitchFamily="34" charset="0"/>
                <a:ea typeface="Calibri" pitchFamily="34" charset="-122"/>
                <a:cs typeface="Calibri" pitchFamily="34" charset="-120"/>
              </a:rPr>
              <a:t>Exotel · 1600 number* · SMS</a:t>
            </a:r>
            <a:endParaRPr lang="en-US" sz="800" dirty="0"/>
          </a:p>
        </p:txBody>
      </p:sp>
      <p:sp>
        <p:nvSpPr>
          <p:cNvPr id="70" name="Text 55"/>
          <p:cNvSpPr txBox="1"/>
          <p:nvPr/>
        </p:nvSpPr>
        <p:spPr>
          <a:xfrm>
            <a:off x="6537960" y="1591056"/>
            <a:ext cx="2240280" cy="420624"/>
          </a:xfrm>
          <a:prstGeom prst="rect">
            <a:avLst/>
          </a:prstGeom>
          <a:noFill/>
          <a:ln/>
        </p:spPr>
        <p:txBody>
          <a:bodyPr wrap="square" lIns="0" tIns="0" rIns="0" bIns="0" rtlCol="0" anchor="t"/>
          <a:lstStyle/>
          <a:p>
            <a:pPr indent="0" marL="0">
              <a:buNone/>
            </a:pPr>
            <a:r>
              <a:rPr lang="en-US" sz="800" b="1" dirty="0">
                <a:solidFill>
                  <a:srgbClr val="C97A12"/>
                </a:solidFill>
                <a:latin typeface="Calibri" pitchFamily="34" charset="0"/>
                <a:ea typeface="Calibri" pitchFamily="34" charset="-122"/>
                <a:cs typeface="Calibri" pitchFamily="34" charset="-120"/>
              </a:rPr>
              <a:t>AI (fine-tuned)  </a:t>
            </a:r>
            <a:pPr indent="0" marL="0">
              <a:buNone/>
            </a:pPr>
            <a:r>
              <a:rPr lang="en-US" sz="800" dirty="0">
                <a:solidFill>
                  <a:srgbClr val="1F2937"/>
                </a:solidFill>
                <a:latin typeface="Calibri" pitchFamily="34" charset="0"/>
                <a:ea typeface="Calibri" pitchFamily="34" charset="-122"/>
                <a:cs typeface="Calibri" pitchFamily="34" charset="-120"/>
              </a:rPr>
              <a:t>IndicConformer · Indic Parler-TTS · Sarvam-30B · MuRIL · e5 · LightGBM · Satyavaani</a:t>
            </a:r>
            <a:endParaRPr lang="en-US" sz="800" dirty="0"/>
          </a:p>
        </p:txBody>
      </p:sp>
      <p:sp>
        <p:nvSpPr>
          <p:cNvPr id="71" name="Text 56"/>
          <p:cNvSpPr txBox="1"/>
          <p:nvPr/>
        </p:nvSpPr>
        <p:spPr>
          <a:xfrm>
            <a:off x="6537960" y="2048256"/>
            <a:ext cx="2240280" cy="420624"/>
          </a:xfrm>
          <a:prstGeom prst="rect">
            <a:avLst/>
          </a:prstGeom>
          <a:noFill/>
          <a:ln/>
        </p:spPr>
        <p:txBody>
          <a:bodyPr wrap="square" lIns="0" tIns="0" rIns="0" bIns="0" rtlCol="0" anchor="t"/>
          <a:lstStyle/>
          <a:p>
            <a:pPr indent="0" marL="0">
              <a:buNone/>
            </a:pPr>
            <a:r>
              <a:rPr lang="en-US" sz="800" b="1" dirty="0">
                <a:solidFill>
                  <a:srgbClr val="C97A12"/>
                </a:solidFill>
                <a:latin typeface="Calibri" pitchFamily="34" charset="0"/>
                <a:ea typeface="Calibri" pitchFamily="34" charset="-122"/>
                <a:cs typeface="Calibri" pitchFamily="34" charset="-120"/>
              </a:rPr>
              <a:t>Govt data  </a:t>
            </a:r>
            <a:pPr indent="0" marL="0">
              <a:buNone/>
            </a:pPr>
            <a:r>
              <a:rPr lang="en-US" sz="800" dirty="0">
                <a:solidFill>
                  <a:srgbClr val="1F2937"/>
                </a:solidFill>
                <a:latin typeface="Calibri" pitchFamily="34" charset="0"/>
                <a:ea typeface="Calibri" pitchFamily="34" charset="-122"/>
                <a:cs typeface="Calibri" pitchFamily="34" charset="-120"/>
              </a:rPr>
              <a:t>NCO-2015 · NQR · schemes · DigiLocker* · AJAY app*</a:t>
            </a:r>
            <a:endParaRPr lang="en-US" sz="800" dirty="0"/>
          </a:p>
        </p:txBody>
      </p:sp>
      <p:sp>
        <p:nvSpPr>
          <p:cNvPr id="72" name="Text 57"/>
          <p:cNvSpPr txBox="1"/>
          <p:nvPr/>
        </p:nvSpPr>
        <p:spPr>
          <a:xfrm>
            <a:off x="6537960" y="2432304"/>
            <a:ext cx="914400" cy="146304"/>
          </a:xfrm>
          <a:prstGeom prst="rect">
            <a:avLst/>
          </a:prstGeom>
          <a:noFill/>
          <a:ln/>
        </p:spPr>
        <p:txBody>
          <a:bodyPr wrap="square" lIns="0" tIns="0" rIns="0" bIns="0" rtlCol="0" anchor="t"/>
          <a:lstStyle/>
          <a:p>
            <a:pPr indent="0" marL="0">
              <a:buNone/>
            </a:pPr>
            <a:r>
              <a:rPr lang="en-US" sz="800" b="1" dirty="0">
                <a:solidFill>
                  <a:srgbClr val="C97A12"/>
                </a:solidFill>
                <a:latin typeface="Calibri" pitchFamily="34" charset="0"/>
                <a:ea typeface="Calibri" pitchFamily="34" charset="-122"/>
                <a:cs typeface="Calibri" pitchFamily="34" charset="-120"/>
              </a:rPr>
              <a:t>Backend</a:t>
            </a:r>
            <a:endParaRPr lang="en-US" sz="800" dirty="0"/>
          </a:p>
        </p:txBody>
      </p:sp>
      <p:pic>
        <p:nvPicPr>
          <p:cNvPr id="73" name="Image 13" descr="preencoded.png">    </p:cNvPr>
          <p:cNvPicPr>
            <a:picLocks noChangeAspect="1"/>
          </p:cNvPicPr>
          <p:nvPr/>
        </p:nvPicPr>
        <p:blipFill>
          <a:blip r:embed="rId14"/>
          <a:stretch>
            <a:fillRect/>
          </a:stretch>
        </p:blipFill>
        <p:spPr>
          <a:xfrm>
            <a:off x="6537960" y="2633472"/>
            <a:ext cx="219456" cy="219456"/>
          </a:xfrm>
          <a:prstGeom prst="rect">
            <a:avLst/>
          </a:prstGeom>
        </p:spPr>
      </p:pic>
      <p:pic>
        <p:nvPicPr>
          <p:cNvPr id="74" name="Image 14" descr="preencoded.png">    </p:cNvPr>
          <p:cNvPicPr>
            <a:picLocks noChangeAspect="1"/>
          </p:cNvPicPr>
          <p:nvPr/>
        </p:nvPicPr>
        <p:blipFill>
          <a:blip r:embed="rId15"/>
          <a:stretch>
            <a:fillRect/>
          </a:stretch>
        </p:blipFill>
        <p:spPr>
          <a:xfrm>
            <a:off x="6867144" y="2633472"/>
            <a:ext cx="219456" cy="219456"/>
          </a:xfrm>
          <a:prstGeom prst="rect">
            <a:avLst/>
          </a:prstGeom>
        </p:spPr>
      </p:pic>
      <p:pic>
        <p:nvPicPr>
          <p:cNvPr id="75" name="Image 15" descr="preencoded.png">    </p:cNvPr>
          <p:cNvPicPr>
            <a:picLocks noChangeAspect="1"/>
          </p:cNvPicPr>
          <p:nvPr/>
        </p:nvPicPr>
        <p:blipFill>
          <a:blip r:embed="rId16"/>
          <a:stretch>
            <a:fillRect/>
          </a:stretch>
        </p:blipFill>
        <p:spPr>
          <a:xfrm>
            <a:off x="7196328" y="2633472"/>
            <a:ext cx="219456" cy="219456"/>
          </a:xfrm>
          <a:prstGeom prst="rect">
            <a:avLst/>
          </a:prstGeom>
        </p:spPr>
      </p:pic>
      <p:pic>
        <p:nvPicPr>
          <p:cNvPr id="76" name="Image 16" descr="preencoded.png">    </p:cNvPr>
          <p:cNvPicPr>
            <a:picLocks noChangeAspect="1"/>
          </p:cNvPicPr>
          <p:nvPr/>
        </p:nvPicPr>
        <p:blipFill>
          <a:blip r:embed="rId17"/>
          <a:stretch>
            <a:fillRect/>
          </a:stretch>
        </p:blipFill>
        <p:spPr>
          <a:xfrm>
            <a:off x="7525512" y="2633472"/>
            <a:ext cx="219456" cy="219456"/>
          </a:xfrm>
          <a:prstGeom prst="rect">
            <a:avLst/>
          </a:prstGeom>
        </p:spPr>
      </p:pic>
      <p:pic>
        <p:nvPicPr>
          <p:cNvPr id="77" name="Image 17" descr="preencoded.png">    </p:cNvPr>
          <p:cNvPicPr>
            <a:picLocks noChangeAspect="1"/>
          </p:cNvPicPr>
          <p:nvPr/>
        </p:nvPicPr>
        <p:blipFill>
          <a:blip r:embed="rId18"/>
          <a:stretch>
            <a:fillRect/>
          </a:stretch>
        </p:blipFill>
        <p:spPr>
          <a:xfrm>
            <a:off x="7854696" y="2633472"/>
            <a:ext cx="219456" cy="219456"/>
          </a:xfrm>
          <a:prstGeom prst="rect">
            <a:avLst/>
          </a:prstGeom>
        </p:spPr>
      </p:pic>
      <p:pic>
        <p:nvPicPr>
          <p:cNvPr id="78" name="Image 18" descr="preencoded.png">    </p:cNvPr>
          <p:cNvPicPr>
            <a:picLocks noChangeAspect="1"/>
          </p:cNvPicPr>
          <p:nvPr/>
        </p:nvPicPr>
        <p:blipFill>
          <a:blip r:embed="rId19"/>
          <a:stretch>
            <a:fillRect/>
          </a:stretch>
        </p:blipFill>
        <p:spPr>
          <a:xfrm>
            <a:off x="8183880" y="2633472"/>
            <a:ext cx="219456" cy="219456"/>
          </a:xfrm>
          <a:prstGeom prst="rect">
            <a:avLst/>
          </a:prstGeom>
        </p:spPr>
      </p:pic>
      <p:sp>
        <p:nvSpPr>
          <p:cNvPr id="79" name="Text 58"/>
          <p:cNvSpPr txBox="1"/>
          <p:nvPr/>
        </p:nvSpPr>
        <p:spPr>
          <a:xfrm>
            <a:off x="6537960" y="2889504"/>
            <a:ext cx="2194560" cy="146304"/>
          </a:xfrm>
          <a:prstGeom prst="rect">
            <a:avLst/>
          </a:prstGeom>
          <a:noFill/>
          <a:ln/>
        </p:spPr>
        <p:txBody>
          <a:bodyPr wrap="square" lIns="0" tIns="0" rIns="0" bIns="0" rtlCol="0" anchor="t"/>
          <a:lstStyle/>
          <a:p>
            <a:pPr indent="0" marL="0">
              <a:buNone/>
            </a:pPr>
            <a:r>
              <a:rPr lang="en-US" sz="700" i="1" dirty="0">
                <a:solidFill>
                  <a:srgbClr val="6B7280"/>
                </a:solidFill>
                <a:latin typeface="Calibri" pitchFamily="34" charset="0"/>
                <a:ea typeface="Calibri" pitchFamily="34" charset="-122"/>
                <a:cs typeface="Calibri" pitchFamily="34" charset="-120"/>
              </a:rPr>
              <a:t>on Indian GPU cloud</a:t>
            </a:r>
            <a:endParaRPr lang="en-US" sz="700" dirty="0"/>
          </a:p>
        </p:txBody>
      </p:sp>
      <p:sp>
        <p:nvSpPr>
          <p:cNvPr id="80" name="Text 59"/>
          <p:cNvSpPr txBox="1"/>
          <p:nvPr/>
        </p:nvSpPr>
        <p:spPr>
          <a:xfrm>
            <a:off x="365760" y="3218688"/>
            <a:ext cx="457200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Models we fine-tune</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3493008"/>
          <a:ext cx="8503920" cy="914400"/>
        </p:xfrm>
        <a:graphic>
          <a:graphicData uri="http://schemas.openxmlformats.org/drawingml/2006/table">
            <a:tbl>
              <a:tblPr/>
              <a:tblGrid>
                <a:gridCol w="1600200"/>
                <a:gridCol w="1920240"/>
                <a:gridCol w="3611880"/>
                <a:gridCol w="1371600"/>
              </a:tblGrid>
              <a:tr h="178308">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Model</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26215C"/>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What it does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26215C"/>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How we train it</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26215C"/>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Must pass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26215C"/>
                    </a:solidFill>
                  </a:tcPr>
                </a:tc>
              </a:tr>
              <a:tr h="178308">
                <a:tc>
                  <a:txBody>
                    <a:bodyPr/>
                    <a:lstStyle/>
                    <a:p>
                      <a:pPr indent="0" marL="0">
                        <a:buNone/>
                      </a:pPr>
                      <a:r>
                        <a:rPr lang="en-US" sz="750" b="1" dirty="0">
                          <a:solidFill>
                            <a:srgbClr val="26215C"/>
                          </a:solidFill>
                          <a:latin typeface="Calibri" pitchFamily="34" charset="0"/>
                          <a:ea typeface="Calibri" pitchFamily="34" charset="-122"/>
                          <a:cs typeface="Calibri" pitchFamily="34" charset="-120"/>
                        </a:rPr>
                        <a:t>IndicConformer-600M</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speech → text, 22 languages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100 h consented phone calls per language + IndicVoices · ~72 GPU-h</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c>
                  <a:txBody>
                    <a:bodyPr/>
                    <a:lstStyle/>
                    <a:p>
                      <a:pPr indent="0" marL="0">
                        <a:buNone/>
                      </a:pPr>
                      <a:r>
                        <a:rPr lang="en-US" sz="750" dirty="0">
                          <a:solidFill>
                            <a:srgbClr val="C97A12"/>
                          </a:solidFill>
                          <a:latin typeface="Calibri" pitchFamily="34" charset="0"/>
                          <a:ea typeface="Calibri" pitchFamily="34" charset="-122"/>
                          <a:cs typeface="Calibri" pitchFamily="34" charset="-120"/>
                        </a:rPr>
                        <a:t>Hindi error ≤ 20%</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r>
              <a:tr h="178308">
                <a:tc>
                  <a:txBody>
                    <a:bodyPr/>
                    <a:lstStyle/>
                    <a:p>
                      <a:pPr indent="0" marL="0">
                        <a:buNone/>
                      </a:pPr>
                      <a:r>
                        <a:rPr lang="en-US" sz="750" b="1" dirty="0">
                          <a:solidFill>
                            <a:srgbClr val="26215C"/>
                          </a:solidFill>
                          <a:latin typeface="Calibri" pitchFamily="34" charset="0"/>
                          <a:ea typeface="Calibri" pitchFamily="34" charset="-122"/>
                          <a:cs typeface="Calibri" pitchFamily="34" charset="-120"/>
                        </a:rPr>
                        <a:t>Indic Parler-TTS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voice, 21 languages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12 h of one local voice artist per language · ~24 GPU-h</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c>
                  <a:txBody>
                    <a:bodyPr/>
                    <a:lstStyle/>
                    <a:p>
                      <a:pPr indent="0" marL="0">
                        <a:buNone/>
                      </a:pPr>
                      <a:r>
                        <a:rPr lang="en-US" sz="750" dirty="0">
                          <a:solidFill>
                            <a:srgbClr val="C97A12"/>
                          </a:solidFill>
                          <a:latin typeface="Calibri" pitchFamily="34" charset="0"/>
                          <a:ea typeface="Calibri" pitchFamily="34" charset="-122"/>
                          <a:cs typeface="Calibri" pitchFamily="34" charset="-120"/>
                        </a:rPr>
                        <a:t>listeners ≥ 4/5</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r>
              <a:tr h="178308">
                <a:tc>
                  <a:txBody>
                    <a:bodyPr/>
                    <a:lstStyle/>
                    <a:p>
                      <a:pPr indent="0" marL="0">
                        <a:buNone/>
                      </a:pPr>
                      <a:r>
                        <a:rPr lang="en-US" sz="750" b="1" dirty="0">
                          <a:solidFill>
                            <a:srgbClr val="26215C"/>
                          </a:solidFill>
                          <a:latin typeface="Calibri" pitchFamily="34" charset="0"/>
                          <a:ea typeface="Calibri" pitchFamily="34" charset="-122"/>
                          <a:cs typeface="Calibri" pitchFamily="34" charset="-120"/>
                        </a:rPr>
                        <a:t>Sarvam-30B</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reads the story, fills a fixed form</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LoRA on 5,000 story → form pairs checked by people · ~16 GPU-h</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c>
                  <a:txBody>
                    <a:bodyPr/>
                    <a:lstStyle/>
                    <a:p>
                      <a:pPr indent="0" marL="0">
                        <a:buNone/>
                      </a:pPr>
                      <a:r>
                        <a:rPr lang="en-US" sz="750" dirty="0">
                          <a:solidFill>
                            <a:srgbClr val="C97A12"/>
                          </a:solidFill>
                          <a:latin typeface="Calibri" pitchFamily="34" charset="0"/>
                          <a:ea typeface="Calibri" pitchFamily="34" charset="-122"/>
                          <a:cs typeface="Calibri" pitchFamily="34" charset="-120"/>
                        </a:rPr>
                        <a:t>right job in top 3 ≥ 90%</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r>
              <a:tr h="178308">
                <a:tc>
                  <a:txBody>
                    <a:bodyPr/>
                    <a:lstStyle/>
                    <a:p>
                      <a:pPr indent="0" marL="0">
                        <a:buNone/>
                      </a:pPr>
                      <a:r>
                        <a:rPr lang="en-US" sz="750" b="1" dirty="0">
                          <a:solidFill>
                            <a:srgbClr val="26215C"/>
                          </a:solidFill>
                          <a:latin typeface="Calibri" pitchFamily="34" charset="0"/>
                          <a:ea typeface="Calibri" pitchFamily="34" charset="-122"/>
                          <a:cs typeface="Calibri" pitchFamily="34" charset="-120"/>
                        </a:rPr>
                        <a:t>multilingual-e5 + BM25</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keyword + meaning job search</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every “1” at read-back = right pair, “none” = wrong pair</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c>
                  <a:txBody>
                    <a:bodyPr/>
                    <a:lstStyle/>
                    <a:p>
                      <a:pPr indent="0" marL="0">
                        <a:buNone/>
                      </a:pPr>
                      <a:r>
                        <a:rPr lang="en-US" sz="750" dirty="0">
                          <a:solidFill>
                            <a:srgbClr val="C97A12"/>
                          </a:solidFill>
                          <a:latin typeface="Calibri" pitchFamily="34" charset="0"/>
                          <a:ea typeface="Calibri" pitchFamily="34" charset="-122"/>
                          <a:cs typeface="Calibri" pitchFamily="34" charset="-120"/>
                        </a:rPr>
                        <a:t>right job in top 5 ≥ 90%</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r>
              <a:tr h="178308">
                <a:tc>
                  <a:txBody>
                    <a:bodyPr/>
                    <a:lstStyle/>
                    <a:p>
                      <a:pPr indent="0" marL="0">
                        <a:buNone/>
                      </a:pPr>
                      <a:r>
                        <a:rPr lang="en-US" sz="750" b="1" dirty="0">
                          <a:solidFill>
                            <a:srgbClr val="26215C"/>
                          </a:solidFill>
                          <a:latin typeface="Calibri" pitchFamily="34" charset="0"/>
                          <a:ea typeface="Calibri" pitchFamily="34" charset="-122"/>
                          <a:cs typeface="Calibri" pitchFamily="34" charset="-120"/>
                        </a:rPr>
                        <a:t>LightGBM LambdaRank</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filters, then scores 6 factors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officer-set weights (AHP) first, then verified jobs at 6 months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c>
                  <a:txBody>
                    <a:bodyPr/>
                    <a:lstStyle/>
                    <a:p>
                      <a:pPr indent="0" marL="0">
                        <a:buNone/>
                      </a:pPr>
                      <a:r>
                        <a:rPr lang="en-US" sz="750" dirty="0">
                          <a:solidFill>
                            <a:srgbClr val="C97A12"/>
                          </a:solidFill>
                          <a:latin typeface="Calibri" pitchFamily="34" charset="0"/>
                          <a:ea typeface="Calibri" pitchFamily="34" charset="-122"/>
                          <a:cs typeface="Calibri" pitchFamily="34" charset="-120"/>
                        </a:rPr>
                        <a:t>gender gap ≤ 5 pts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7F6FC"/>
                    </a:solidFill>
                  </a:tcPr>
                </a:tc>
              </a:tr>
              <a:tr h="178308">
                <a:tc>
                  <a:txBody>
                    <a:bodyPr/>
                    <a:lstStyle/>
                    <a:p>
                      <a:pPr indent="0" marL="0">
                        <a:buNone/>
                      </a:pPr>
                      <a:r>
                        <a:rPr lang="en-US" sz="750" b="1" dirty="0">
                          <a:solidFill>
                            <a:srgbClr val="26215C"/>
                          </a:solidFill>
                          <a:latin typeface="Calibri" pitchFamily="34" charset="0"/>
                          <a:ea typeface="Calibri" pitchFamily="34" charset="-122"/>
                          <a:cs typeface="Calibri" pitchFamily="34" charset="-120"/>
                        </a:rPr>
                        <a:t>Satyavaani (team's own)</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liveness on follow-up calls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c>
                  <a:txBody>
                    <a:bodyPr/>
                    <a:lstStyle/>
                    <a:p>
                      <a:pPr indent="0" marL="0">
                        <a:buNone/>
                      </a:pPr>
                      <a:r>
                        <a:rPr lang="en-US" sz="750" dirty="0">
                          <a:solidFill>
                            <a:srgbClr val="1F2937"/>
                          </a:solidFill>
                          <a:latin typeface="Calibri" pitchFamily="34" charset="0"/>
                          <a:ea typeface="Calibri" pitchFamily="34" charset="-122"/>
                          <a:cs typeface="Calibri" pitchFamily="34" charset="-120"/>
                        </a:rPr>
                        <a:t>Indian phone speech + 3 voice-cloning tools; no voiceprint</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c>
                  <a:txBody>
                    <a:bodyPr/>
                    <a:lstStyle/>
                    <a:p>
                      <a:pPr indent="0" marL="0">
                        <a:buNone/>
                      </a:pPr>
                      <a:r>
                        <a:rPr lang="en-US" sz="750" dirty="0">
                          <a:solidFill>
                            <a:srgbClr val="C97A12"/>
                          </a:solidFill>
                          <a:latin typeface="Calibri" pitchFamily="34" charset="0"/>
                          <a:ea typeface="Calibri" pitchFamily="34" charset="-122"/>
                          <a:cs typeface="Calibri" pitchFamily="34" charset="-120"/>
                        </a:rPr>
                        <a:t>flags, never rejects</a:t>
                      </a:r>
                      <a:endParaRPr lang="en-US" sz="750" dirty="0">
                        <a:latin typeface="Calibri" charset="0"/>
                        <a:ea typeface="Calibri" charset="0"/>
                        <a:cs typeface="Calibri" charset="0"/>
                      </a:endParaRPr>
                    </a:p>
                  </a:txBody>
                  <a:tcPr marL="54864" marR="54864" marT="18288" marB="18288" anchor="ctr">
                    <a:lnL w="6350" cap="flat" cmpd="sng" algn="ctr">
                      <a:solidFill>
                        <a:srgbClr val="D9D7EA"/>
                      </a:solidFill>
                      <a:prstDash val="solid"/>
                      <a:round/>
                      <a:headEnd type="none" w="med" len="med"/>
                      <a:tailEnd type="none" w="med" len="med"/>
                    </a:lnL>
                    <a:lnR w="6350" cap="flat" cmpd="sng" algn="ctr">
                      <a:solidFill>
                        <a:srgbClr val="D9D7EA"/>
                      </a:solidFill>
                      <a:prstDash val="solid"/>
                      <a:round/>
                      <a:headEnd type="none" w="med" len="med"/>
                      <a:tailEnd type="none" w="med" len="med"/>
                    </a:lnR>
                    <a:lnT w="6350" cap="flat" cmpd="sng" algn="ctr">
                      <a:solidFill>
                        <a:srgbClr val="D9D7EA"/>
                      </a:solidFill>
                      <a:prstDash val="solid"/>
                      <a:round/>
                      <a:headEnd type="none" w="med" len="med"/>
                      <a:tailEnd type="none" w="med" len="med"/>
                    </a:lnT>
                    <a:lnB w="6350" cap="flat" cmpd="sng" algn="ctr">
                      <a:solidFill>
                        <a:srgbClr val="D9D7EA"/>
                      </a:solidFill>
                      <a:prstDash val="solid"/>
                      <a:round/>
                      <a:headEnd type="none" w="med" len="med"/>
                      <a:tailEnd type="none" w="med" len="med"/>
                    </a:lnB>
                    <a:solidFill>
                      <a:srgbClr val="FFFFFF"/>
                    </a:solidFill>
                  </a:tcPr>
                </a:tc>
              </a:tr>
            </a:tbl>
          </a:graphicData>
        </a:graphic>
      </p:graphicFrame>
      <p:sp>
        <p:nvSpPr>
          <p:cNvPr id="82" name="Text 60"/>
          <p:cNvSpPr txBox="1"/>
          <p:nvPr/>
        </p:nvSpPr>
        <p:spPr>
          <a:xfrm>
            <a:off x="2286000" y="4846320"/>
            <a:ext cx="5212080" cy="182880"/>
          </a:xfrm>
          <a:prstGeom prst="rect">
            <a:avLst/>
          </a:prstGeom>
          <a:noFill/>
          <a:ln/>
        </p:spPr>
        <p:txBody>
          <a:bodyPr wrap="square" lIns="0" tIns="0" rIns="0" bIns="0" rtlCol="0" anchor="ctr"/>
          <a:lstStyle/>
          <a:p>
            <a:pPr algn="ctr" indent="0" marL="0">
              <a:buNone/>
            </a:pPr>
            <a:r>
              <a:rPr lang="en-US" sz="700" i="1" dirty="0">
                <a:solidFill>
                  <a:srgbClr val="6B7280"/>
                </a:solidFill>
                <a:latin typeface="Calibri" pitchFamily="34" charset="0"/>
                <a:ea typeface="Calibri" pitchFamily="34" charset="-122"/>
                <a:cs typeface="Calibri" pitchFamily="34" charset="-120"/>
              </a:rPr>
              <a:t>No Aadhaar number stored · caste never asked · consent logged (DPDP 2025) · data in India · * govt MoU</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82880"/>
            <a:ext cx="5486400" cy="182880"/>
          </a:xfrm>
          <a:prstGeom prst="rect">
            <a:avLst/>
          </a:prstGeom>
          <a:noFill/>
          <a:ln/>
        </p:spPr>
        <p:txBody>
          <a:bodyPr wrap="square" lIns="0" tIns="0" rIns="0" bIns="0" rtlCol="0" anchor="t"/>
          <a:lstStyle/>
          <a:p>
            <a:pPr indent="0" marL="0">
              <a:buNone/>
            </a:pPr>
            <a:r>
              <a:rPr lang="en-US" sz="900" b="1" spc="200" kern="0" dirty="0">
                <a:solidFill>
                  <a:srgbClr val="C97A12"/>
                </a:solidFill>
                <a:latin typeface="Calibri" pitchFamily="34" charset="0"/>
                <a:ea typeface="Calibri" pitchFamily="34" charset="-122"/>
                <a:cs typeface="Calibri" pitchFamily="34" charset="-120"/>
              </a:rPr>
              <a:t>04  ·  FEASIBILITY &amp; VIABILITY</a:t>
            </a:r>
            <a:endParaRPr lang="en-US" sz="900" dirty="0"/>
          </a:p>
        </p:txBody>
      </p:sp>
      <p:sp>
        <p:nvSpPr>
          <p:cNvPr id="3" name="Text 1"/>
          <p:cNvSpPr txBox="1"/>
          <p:nvPr/>
        </p:nvSpPr>
        <p:spPr>
          <a:xfrm>
            <a:off x="365760" y="384048"/>
            <a:ext cx="6949440" cy="420624"/>
          </a:xfrm>
          <a:prstGeom prst="rect">
            <a:avLst/>
          </a:prstGeom>
          <a:noFill/>
          <a:ln/>
        </p:spPr>
        <p:txBody>
          <a:bodyPr wrap="square" lIns="0" tIns="0" rIns="0" bIns="0" rtlCol="0" anchor="ctr"/>
          <a:lstStyle/>
          <a:p>
            <a:pPr indent="0" marL="0">
              <a:buNone/>
            </a:pPr>
            <a:r>
              <a:rPr lang="en-US" sz="2400" b="1" dirty="0">
                <a:solidFill>
                  <a:srgbClr val="26215C"/>
                </a:solidFill>
                <a:latin typeface="Cambria" pitchFamily="34" charset="0"/>
                <a:ea typeface="Cambria" pitchFamily="34" charset="-122"/>
                <a:cs typeface="Cambria" pitchFamily="34" charset="-120"/>
              </a:rPr>
              <a:t>Can it be built and run? Yes.</a:t>
            </a:r>
            <a:endParaRPr lang="en-US" sz="2400" dirty="0"/>
          </a:p>
        </p:txBody>
      </p:sp>
      <p:pic>
        <p:nvPicPr>
          <p:cNvPr id="4" name="Image 0" descr="/tmp/pw/sih_logo.png">    </p:cNvPr>
          <p:cNvPicPr>
            <a:picLocks noChangeAspect="1"/>
          </p:cNvPicPr>
          <p:nvPr/>
        </p:nvPicPr>
        <p:blipFill>
          <a:blip r:embed="rId1"/>
          <a:stretch>
            <a:fillRect/>
          </a:stretch>
        </p:blipFill>
        <p:spPr>
          <a:xfrm>
            <a:off x="7589520" y="128016"/>
            <a:ext cx="1325880" cy="626364"/>
          </a:xfrm>
          <a:prstGeom prst="rect">
            <a:avLst/>
          </a:prstGeom>
        </p:spPr>
      </p:pic>
      <p:sp>
        <p:nvSpPr>
          <p:cNvPr id="5" name="Text 2"/>
          <p:cNvSpPr txBox="1"/>
          <p:nvPr/>
        </p:nvSpPr>
        <p:spPr>
          <a:xfrm>
            <a:off x="365760" y="4846320"/>
            <a:ext cx="2286000" cy="182880"/>
          </a:xfrm>
          <a:prstGeom prst="rect">
            <a:avLst/>
          </a:prstGeom>
          <a:noFill/>
          <a:ln/>
        </p:spPr>
        <p:txBody>
          <a:bodyPr wrap="square" lIns="0" tIns="0" rIns="0" bIns="0"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HunarMarg  ·  SIH26097</a:t>
            </a:r>
            <a:endParaRPr lang="en-US" sz="800" dirty="0"/>
          </a:p>
        </p:txBody>
      </p:sp>
      <p:sp>
        <p:nvSpPr>
          <p:cNvPr id="6" name="Shape 3"/>
          <p:cNvSpPr/>
          <p:nvPr/>
        </p:nvSpPr>
        <p:spPr>
          <a:xfrm>
            <a:off x="7680960" y="4937760"/>
            <a:ext cx="1051560" cy="0"/>
          </a:xfrm>
          <a:prstGeom prst="line">
            <a:avLst/>
          </a:prstGeom>
          <a:noFill/>
          <a:ln w="19050">
            <a:solidFill>
              <a:srgbClr val="BDB9DC"/>
            </a:solidFill>
            <a:prstDash val="dash"/>
          </a:ln>
        </p:spPr>
      </p:sp>
      <p:sp>
        <p:nvSpPr>
          <p:cNvPr id="7" name="Shape 4"/>
          <p:cNvSpPr/>
          <p:nvPr/>
        </p:nvSpPr>
        <p:spPr>
          <a:xfrm>
            <a:off x="7635240" y="4892040"/>
            <a:ext cx="91440" cy="91440"/>
          </a:xfrm>
          <a:prstGeom prst="ellipse">
            <a:avLst/>
          </a:prstGeom>
          <a:solidFill>
            <a:srgbClr val="3B3486"/>
          </a:solidFill>
          <a:ln w="12700">
            <a:solidFill>
              <a:srgbClr val="FFFFFF"/>
            </a:solidFill>
            <a:prstDash val="solid"/>
          </a:ln>
        </p:spPr>
      </p:sp>
      <p:sp>
        <p:nvSpPr>
          <p:cNvPr id="8" name="Shape 5"/>
          <p:cNvSpPr/>
          <p:nvPr/>
        </p:nvSpPr>
        <p:spPr>
          <a:xfrm>
            <a:off x="7891272" y="4892040"/>
            <a:ext cx="91440" cy="91440"/>
          </a:xfrm>
          <a:prstGeom prst="ellipse">
            <a:avLst/>
          </a:prstGeom>
          <a:solidFill>
            <a:srgbClr val="3B3486"/>
          </a:solidFill>
          <a:ln w="12700">
            <a:solidFill>
              <a:srgbClr val="FFFFFF"/>
            </a:solidFill>
            <a:prstDash val="solid"/>
          </a:ln>
        </p:spPr>
      </p:sp>
      <p:sp>
        <p:nvSpPr>
          <p:cNvPr id="9" name="Shape 6"/>
          <p:cNvSpPr/>
          <p:nvPr/>
        </p:nvSpPr>
        <p:spPr>
          <a:xfrm>
            <a:off x="8101584" y="4846320"/>
            <a:ext cx="182880" cy="182880"/>
          </a:xfrm>
          <a:prstGeom prst="ellipse">
            <a:avLst/>
          </a:prstGeom>
          <a:solidFill>
            <a:srgbClr val="F2A33A"/>
          </a:solidFill>
          <a:ln w="12700">
            <a:solidFill>
              <a:srgbClr val="FFFFFF"/>
            </a:solidFill>
            <a:prstDash val="solid"/>
          </a:ln>
        </p:spPr>
      </p:sp>
      <p:sp>
        <p:nvSpPr>
          <p:cNvPr id="10" name="Text 7"/>
          <p:cNvSpPr txBox="1"/>
          <p:nvPr/>
        </p:nvSpPr>
        <p:spPr>
          <a:xfrm>
            <a:off x="8101584" y="4846320"/>
            <a:ext cx="182880" cy="182880"/>
          </a:xfrm>
          <a:prstGeom prst="rect">
            <a:avLst/>
          </a:prstGeom>
          <a:noFill/>
          <a:ln/>
        </p:spPr>
        <p:txBody>
          <a:bodyPr wrap="square" lIns="0" tIns="0" rIns="0" bIns="0" rtlCol="0" anchor="ctr"/>
          <a:lstStyle/>
          <a:p>
            <a:pPr algn="ctr" indent="0" marL="0">
              <a:buNone/>
            </a:pPr>
            <a:r>
              <a:rPr lang="en-US" sz="750" b="1" dirty="0">
                <a:solidFill>
                  <a:srgbClr val="26215C"/>
                </a:solidFill>
                <a:latin typeface="Calibri" pitchFamily="34" charset="0"/>
                <a:ea typeface="Calibri" pitchFamily="34" charset="-122"/>
                <a:cs typeface="Calibri" pitchFamily="34" charset="-120"/>
              </a:rPr>
              <a:t>4</a:t>
            </a:r>
            <a:endParaRPr lang="en-US" sz="750" dirty="0"/>
          </a:p>
        </p:txBody>
      </p:sp>
      <p:sp>
        <p:nvSpPr>
          <p:cNvPr id="11" name="Shape 8"/>
          <p:cNvSpPr/>
          <p:nvPr/>
        </p:nvSpPr>
        <p:spPr>
          <a:xfrm>
            <a:off x="8403336" y="4892040"/>
            <a:ext cx="91440" cy="91440"/>
          </a:xfrm>
          <a:prstGeom prst="ellipse">
            <a:avLst/>
          </a:prstGeom>
          <a:solidFill>
            <a:srgbClr val="D6D3EA"/>
          </a:solidFill>
          <a:ln w="12700">
            <a:solidFill>
              <a:srgbClr val="FFFFFF"/>
            </a:solidFill>
            <a:prstDash val="solid"/>
          </a:ln>
        </p:spPr>
      </p:sp>
      <p:sp>
        <p:nvSpPr>
          <p:cNvPr id="12" name="Shape 9"/>
          <p:cNvSpPr/>
          <p:nvPr/>
        </p:nvSpPr>
        <p:spPr>
          <a:xfrm>
            <a:off x="8659368" y="4892040"/>
            <a:ext cx="91440" cy="91440"/>
          </a:xfrm>
          <a:prstGeom prst="ellipse">
            <a:avLst/>
          </a:prstGeom>
          <a:solidFill>
            <a:srgbClr val="D6D3EA"/>
          </a:solidFill>
          <a:ln w="12700">
            <a:solidFill>
              <a:srgbClr val="FFFFFF"/>
            </a:solidFill>
            <a:prstDash val="solid"/>
          </a:ln>
        </p:spPr>
      </p:sp>
      <p:sp>
        <p:nvSpPr>
          <p:cNvPr id="13" name="Text 10"/>
          <p:cNvSpPr txBox="1"/>
          <p:nvPr/>
        </p:nvSpPr>
        <p:spPr>
          <a:xfrm>
            <a:off x="365760" y="896112"/>
            <a:ext cx="274320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Proof it can work</a:t>
            </a:r>
            <a:endParaRPr lang="en-US" sz="1300" dirty="0"/>
          </a:p>
        </p:txBody>
      </p:sp>
      <p:sp>
        <p:nvSpPr>
          <p:cNvPr id="14" name="Text 11"/>
          <p:cNvSpPr txBox="1"/>
          <p:nvPr/>
        </p:nvSpPr>
        <p:spPr>
          <a:xfrm>
            <a:off x="365760" y="1188720"/>
            <a:ext cx="868680" cy="457200"/>
          </a:xfrm>
          <a:prstGeom prst="rect">
            <a:avLst/>
          </a:prstGeom>
          <a:noFill/>
          <a:ln/>
        </p:spPr>
        <p:txBody>
          <a:bodyPr wrap="square" lIns="0" tIns="0" rIns="0" bIns="0" rtlCol="0" anchor="ctr"/>
          <a:lstStyle/>
          <a:p>
            <a:pPr indent="0" marL="0">
              <a:buNone/>
            </a:pPr>
            <a:r>
              <a:rPr lang="en-US" sz="1700" b="1" dirty="0">
                <a:solidFill>
                  <a:srgbClr val="C97A12"/>
                </a:solidFill>
                <a:latin typeface="Calibri" pitchFamily="34" charset="0"/>
                <a:ea typeface="Calibri" pitchFamily="34" charset="-122"/>
                <a:cs typeface="Calibri" pitchFamily="34" charset="-120"/>
              </a:rPr>
              <a:t>22 cr</a:t>
            </a:r>
            <a:endParaRPr lang="en-US" sz="1700" dirty="0"/>
          </a:p>
        </p:txBody>
      </p:sp>
      <p:sp>
        <p:nvSpPr>
          <p:cNvPr id="15" name="Text 12"/>
          <p:cNvSpPr txBox="1"/>
          <p:nvPr/>
        </p:nvSpPr>
        <p:spPr>
          <a:xfrm>
            <a:off x="1261872" y="1207008"/>
            <a:ext cx="1874520" cy="512064"/>
          </a:xfrm>
          <a:prstGeom prst="rect">
            <a:avLst/>
          </a:prstGeom>
          <a:noFill/>
          <a:ln/>
        </p:spPr>
        <p:txBody>
          <a:bodyPr wrap="square" lIns="0" tIns="0" rIns="0" bIns="0" rtlCol="0" anchor="t"/>
          <a:lstStyle/>
          <a:p>
            <a:pPr indent="0" marL="0">
              <a:buNone/>
            </a:pPr>
            <a:r>
              <a:rPr lang="en-US" sz="850" dirty="0">
                <a:solidFill>
                  <a:srgbClr val="1F2937"/>
                </a:solidFill>
                <a:latin typeface="Calibri" pitchFamily="34" charset="0"/>
                <a:ea typeface="Calibri" pitchFamily="34" charset="-122"/>
                <a:cs typeface="Calibri" pitchFamily="34" charset="-120"/>
              </a:rPr>
              <a:t>feature-phone users: the channel exists</a:t>
            </a:r>
            <a:endParaRPr lang="en-US" sz="850" dirty="0"/>
          </a:p>
          <a:p>
            <a:pPr indent="0" marL="0">
              <a:buNone/>
            </a:pPr>
            <a:r>
              <a:rPr lang="en-US" sz="700" dirty="0">
                <a:solidFill>
                  <a:srgbClr val="6B7280"/>
                </a:solidFill>
                <a:latin typeface="Calibri" pitchFamily="34" charset="0"/>
                <a:ea typeface="Calibri" pitchFamily="34" charset="-122"/>
                <a:cs typeface="Calibri" pitchFamily="34" charset="-120"/>
              </a:rPr>
              <a:t>Business Standard 2026</a:t>
            </a:r>
            <a:endParaRPr lang="en-US" sz="850" dirty="0"/>
          </a:p>
        </p:txBody>
      </p:sp>
      <p:sp>
        <p:nvSpPr>
          <p:cNvPr id="16" name="Shape 13"/>
          <p:cNvSpPr/>
          <p:nvPr/>
        </p:nvSpPr>
        <p:spPr>
          <a:xfrm>
            <a:off x="365760" y="1728216"/>
            <a:ext cx="2788920" cy="0"/>
          </a:xfrm>
          <a:prstGeom prst="line">
            <a:avLst/>
          </a:prstGeom>
          <a:noFill/>
          <a:ln w="6350">
            <a:solidFill>
              <a:srgbClr val="D9D7EA"/>
            </a:solidFill>
            <a:prstDash val="solid"/>
          </a:ln>
        </p:spPr>
      </p:sp>
      <p:sp>
        <p:nvSpPr>
          <p:cNvPr id="17" name="Text 14"/>
          <p:cNvSpPr txBox="1"/>
          <p:nvPr/>
        </p:nvSpPr>
        <p:spPr>
          <a:xfrm>
            <a:off x="365760" y="1755648"/>
            <a:ext cx="868680" cy="457200"/>
          </a:xfrm>
          <a:prstGeom prst="rect">
            <a:avLst/>
          </a:prstGeom>
          <a:noFill/>
          <a:ln/>
        </p:spPr>
        <p:txBody>
          <a:bodyPr wrap="square" lIns="0" tIns="0" rIns="0" bIns="0" rtlCol="0" anchor="ctr"/>
          <a:lstStyle/>
          <a:p>
            <a:pPr indent="0" marL="0">
              <a:buNone/>
            </a:pPr>
            <a:r>
              <a:rPr lang="en-US" sz="1700" b="1" dirty="0">
                <a:solidFill>
                  <a:srgbClr val="C97A12"/>
                </a:solidFill>
                <a:latin typeface="Calibri" pitchFamily="34" charset="0"/>
                <a:ea typeface="Calibri" pitchFamily="34" charset="-122"/>
                <a:cs typeface="Calibri" pitchFamily="34" charset="-120"/>
              </a:rPr>
              <a:t>3 cr+</a:t>
            </a:r>
            <a:endParaRPr lang="en-US" sz="1700" dirty="0"/>
          </a:p>
        </p:txBody>
      </p:sp>
      <p:sp>
        <p:nvSpPr>
          <p:cNvPr id="18" name="Text 15"/>
          <p:cNvSpPr txBox="1"/>
          <p:nvPr/>
        </p:nvSpPr>
        <p:spPr>
          <a:xfrm>
            <a:off x="1261872" y="1773936"/>
            <a:ext cx="1874520" cy="512064"/>
          </a:xfrm>
          <a:prstGeom prst="rect">
            <a:avLst/>
          </a:prstGeom>
          <a:noFill/>
          <a:ln/>
        </p:spPr>
        <p:txBody>
          <a:bodyPr wrap="square" lIns="0" tIns="0" rIns="0" bIns="0" rtlCol="0" anchor="t"/>
          <a:lstStyle/>
          <a:p>
            <a:pPr indent="0" marL="0">
              <a:buNone/>
            </a:pPr>
            <a:r>
              <a:rPr lang="en-US" sz="850" dirty="0">
                <a:solidFill>
                  <a:srgbClr val="1F2937"/>
                </a:solidFill>
                <a:latin typeface="Calibri" pitchFamily="34" charset="0"/>
                <a:ea typeface="Calibri" pitchFamily="34" charset="-122"/>
                <a:cs typeface="Calibri" pitchFamily="34" charset="-120"/>
              </a:rPr>
              <a:t>reached by Kilkari, a govt voice-call line; answers 50% → 76% by the 3rd try</a:t>
            </a:r>
            <a:endParaRPr lang="en-US" sz="850" dirty="0"/>
          </a:p>
          <a:p>
            <a:pPr indent="0" marL="0">
              <a:buNone/>
            </a:pPr>
            <a:r>
              <a:rPr lang="en-US" sz="700" dirty="0">
                <a:solidFill>
                  <a:srgbClr val="6B7280"/>
                </a:solidFill>
                <a:latin typeface="Calibri" pitchFamily="34" charset="0"/>
                <a:ea typeface="Calibri" pitchFamily="34" charset="-122"/>
                <a:cs typeface="Calibri" pitchFamily="34" charset="-120"/>
              </a:rPr>
              <a:t>BMJ Global Health</a:t>
            </a:r>
            <a:endParaRPr lang="en-US" sz="850" dirty="0"/>
          </a:p>
        </p:txBody>
      </p:sp>
      <p:sp>
        <p:nvSpPr>
          <p:cNvPr id="19" name="Shape 16"/>
          <p:cNvSpPr/>
          <p:nvPr/>
        </p:nvSpPr>
        <p:spPr>
          <a:xfrm>
            <a:off x="365760" y="2295144"/>
            <a:ext cx="2788920" cy="0"/>
          </a:xfrm>
          <a:prstGeom prst="line">
            <a:avLst/>
          </a:prstGeom>
          <a:noFill/>
          <a:ln w="6350">
            <a:solidFill>
              <a:srgbClr val="D9D7EA"/>
            </a:solidFill>
            <a:prstDash val="solid"/>
          </a:ln>
        </p:spPr>
      </p:sp>
      <p:sp>
        <p:nvSpPr>
          <p:cNvPr id="20" name="Text 17"/>
          <p:cNvSpPr txBox="1"/>
          <p:nvPr/>
        </p:nvSpPr>
        <p:spPr>
          <a:xfrm>
            <a:off x="365760" y="2322576"/>
            <a:ext cx="868680" cy="457200"/>
          </a:xfrm>
          <a:prstGeom prst="rect">
            <a:avLst/>
          </a:prstGeom>
          <a:noFill/>
          <a:ln/>
        </p:spPr>
        <p:txBody>
          <a:bodyPr wrap="square" lIns="0" tIns="0" rIns="0" bIns="0" rtlCol="0" anchor="ctr"/>
          <a:lstStyle/>
          <a:p>
            <a:pPr indent="0" marL="0">
              <a:buNone/>
            </a:pPr>
            <a:r>
              <a:rPr lang="en-US" sz="1700" b="1" dirty="0">
                <a:solidFill>
                  <a:srgbClr val="C97A12"/>
                </a:solidFill>
                <a:latin typeface="Calibri" pitchFamily="34" charset="0"/>
                <a:ea typeface="Calibri" pitchFamily="34" charset="-122"/>
                <a:cs typeface="Calibri" pitchFamily="34" charset="-120"/>
              </a:rPr>
              <a:t>22 · 21</a:t>
            </a:r>
            <a:endParaRPr lang="en-US" sz="1700" dirty="0"/>
          </a:p>
        </p:txBody>
      </p:sp>
      <p:sp>
        <p:nvSpPr>
          <p:cNvPr id="21" name="Text 18"/>
          <p:cNvSpPr txBox="1"/>
          <p:nvPr/>
        </p:nvSpPr>
        <p:spPr>
          <a:xfrm>
            <a:off x="1261872" y="2340864"/>
            <a:ext cx="1874520" cy="512064"/>
          </a:xfrm>
          <a:prstGeom prst="rect">
            <a:avLst/>
          </a:prstGeom>
          <a:noFill/>
          <a:ln/>
        </p:spPr>
        <p:txBody>
          <a:bodyPr wrap="square" lIns="0" tIns="0" rIns="0" bIns="0" rtlCol="0" anchor="t"/>
          <a:lstStyle/>
          <a:p>
            <a:pPr indent="0" marL="0">
              <a:buNone/>
            </a:pPr>
            <a:r>
              <a:rPr lang="en-US" sz="850" dirty="0">
                <a:solidFill>
                  <a:srgbClr val="1F2937"/>
                </a:solidFill>
                <a:latin typeface="Calibri" pitchFamily="34" charset="0"/>
                <a:ea typeface="Calibri" pitchFamily="34" charset="-122"/>
                <a:cs typeface="Calibri" pitchFamily="34" charset="-120"/>
              </a:rPr>
              <a:t>languages in open Indian speech and voice models</a:t>
            </a:r>
            <a:endParaRPr lang="en-US" sz="850" dirty="0"/>
          </a:p>
          <a:p>
            <a:pPr indent="0" marL="0">
              <a:buNone/>
            </a:pPr>
            <a:r>
              <a:rPr lang="en-US" sz="700" dirty="0">
                <a:solidFill>
                  <a:srgbClr val="6B7280"/>
                </a:solidFill>
                <a:latin typeface="Calibri" pitchFamily="34" charset="0"/>
                <a:ea typeface="Calibri" pitchFamily="34" charset="-122"/>
                <a:cs typeface="Calibri" pitchFamily="34" charset="-120"/>
              </a:rPr>
              <a:t>AI4Bharat</a:t>
            </a:r>
            <a:endParaRPr lang="en-US" sz="850" dirty="0"/>
          </a:p>
        </p:txBody>
      </p:sp>
      <p:sp>
        <p:nvSpPr>
          <p:cNvPr id="22" name="Shape 19"/>
          <p:cNvSpPr/>
          <p:nvPr/>
        </p:nvSpPr>
        <p:spPr>
          <a:xfrm>
            <a:off x="365760" y="2862072"/>
            <a:ext cx="2788920" cy="0"/>
          </a:xfrm>
          <a:prstGeom prst="line">
            <a:avLst/>
          </a:prstGeom>
          <a:noFill/>
          <a:ln w="6350">
            <a:solidFill>
              <a:srgbClr val="D9D7EA"/>
            </a:solidFill>
            <a:prstDash val="solid"/>
          </a:ln>
        </p:spPr>
      </p:sp>
      <p:sp>
        <p:nvSpPr>
          <p:cNvPr id="23" name="Text 20"/>
          <p:cNvSpPr txBox="1"/>
          <p:nvPr/>
        </p:nvSpPr>
        <p:spPr>
          <a:xfrm>
            <a:off x="365760" y="2889504"/>
            <a:ext cx="868680" cy="457200"/>
          </a:xfrm>
          <a:prstGeom prst="rect">
            <a:avLst/>
          </a:prstGeom>
          <a:noFill/>
          <a:ln/>
        </p:spPr>
        <p:txBody>
          <a:bodyPr wrap="square" lIns="0" tIns="0" rIns="0" bIns="0" rtlCol="0" anchor="ctr"/>
          <a:lstStyle/>
          <a:p>
            <a:pPr indent="0" marL="0">
              <a:buNone/>
            </a:pPr>
            <a:r>
              <a:rPr lang="en-US" sz="1700" b="1" dirty="0">
                <a:solidFill>
                  <a:srgbClr val="C97A12"/>
                </a:solidFill>
                <a:latin typeface="Calibri" pitchFamily="34" charset="0"/>
                <a:ea typeface="Calibri" pitchFamily="34" charset="-122"/>
                <a:cs typeface="Calibri" pitchFamily="34" charset="-120"/>
              </a:rPr>
              <a:t>19.3%</a:t>
            </a:r>
            <a:endParaRPr lang="en-US" sz="1700" dirty="0"/>
          </a:p>
        </p:txBody>
      </p:sp>
      <p:sp>
        <p:nvSpPr>
          <p:cNvPr id="24" name="Text 21"/>
          <p:cNvSpPr txBox="1"/>
          <p:nvPr/>
        </p:nvSpPr>
        <p:spPr>
          <a:xfrm>
            <a:off x="1261872" y="2907792"/>
            <a:ext cx="1874520" cy="512064"/>
          </a:xfrm>
          <a:prstGeom prst="rect">
            <a:avLst/>
          </a:prstGeom>
          <a:noFill/>
          <a:ln/>
        </p:spPr>
        <p:txBody>
          <a:bodyPr wrap="square" lIns="0" tIns="0" rIns="0" bIns="0" rtlCol="0" anchor="t"/>
          <a:lstStyle/>
          <a:p>
            <a:pPr indent="0" marL="0">
              <a:buNone/>
            </a:pPr>
            <a:r>
              <a:rPr lang="en-US" sz="850" dirty="0">
                <a:solidFill>
                  <a:srgbClr val="1F2937"/>
                </a:solidFill>
                <a:latin typeface="Calibri" pitchFamily="34" charset="0"/>
                <a:ea typeface="Calibri" pitchFamily="34" charset="-122"/>
                <a:cs typeface="Calibri" pitchFamily="34" charset="-120"/>
              </a:rPr>
              <a:t>best Indian speech error on IndicVoices: our bar before we switch</a:t>
            </a:r>
            <a:endParaRPr lang="en-US" sz="850" dirty="0"/>
          </a:p>
          <a:p>
            <a:pPr indent="0" marL="0">
              <a:buNone/>
            </a:pPr>
            <a:r>
              <a:rPr lang="en-US" sz="700" dirty="0">
                <a:solidFill>
                  <a:srgbClr val="6B7280"/>
                </a:solidFill>
                <a:latin typeface="Calibri" pitchFamily="34" charset="0"/>
                <a:ea typeface="Calibri" pitchFamily="34" charset="-122"/>
                <a:cs typeface="Calibri" pitchFamily="34" charset="-120"/>
              </a:rPr>
              <a:t>Sarvam 2026</a:t>
            </a:r>
            <a:endParaRPr lang="en-US" sz="850" dirty="0"/>
          </a:p>
        </p:txBody>
      </p:sp>
      <p:sp>
        <p:nvSpPr>
          <p:cNvPr id="25" name="Shape 22"/>
          <p:cNvSpPr/>
          <p:nvPr/>
        </p:nvSpPr>
        <p:spPr>
          <a:xfrm>
            <a:off x="365760" y="3429000"/>
            <a:ext cx="2788920" cy="0"/>
          </a:xfrm>
          <a:prstGeom prst="line">
            <a:avLst/>
          </a:prstGeom>
          <a:noFill/>
          <a:ln w="6350">
            <a:solidFill>
              <a:srgbClr val="D9D7EA"/>
            </a:solidFill>
            <a:prstDash val="solid"/>
          </a:ln>
        </p:spPr>
      </p:sp>
      <p:sp>
        <p:nvSpPr>
          <p:cNvPr id="26" name="Text 23"/>
          <p:cNvSpPr txBox="1"/>
          <p:nvPr/>
        </p:nvSpPr>
        <p:spPr>
          <a:xfrm>
            <a:off x="365760" y="3456432"/>
            <a:ext cx="868680" cy="457200"/>
          </a:xfrm>
          <a:prstGeom prst="rect">
            <a:avLst/>
          </a:prstGeom>
          <a:noFill/>
          <a:ln/>
        </p:spPr>
        <p:txBody>
          <a:bodyPr wrap="square" lIns="0" tIns="0" rIns="0" bIns="0" rtlCol="0" anchor="ctr"/>
          <a:lstStyle/>
          <a:p>
            <a:pPr indent="0" marL="0">
              <a:buNone/>
            </a:pPr>
            <a:r>
              <a:rPr lang="en-US" sz="2200" b="1" dirty="0">
                <a:solidFill>
                  <a:srgbClr val="2E7D5B"/>
                </a:solidFill>
                <a:latin typeface="Calibri" pitchFamily="34" charset="0"/>
                <a:ea typeface="Calibri" pitchFamily="34" charset="-122"/>
                <a:cs typeface="Calibri" pitchFamily="34" charset="-120"/>
              </a:rPr>
              <a:t>✓</a:t>
            </a:r>
            <a:endParaRPr lang="en-US" sz="2200" dirty="0"/>
          </a:p>
        </p:txBody>
      </p:sp>
      <p:sp>
        <p:nvSpPr>
          <p:cNvPr id="27" name="Text 24"/>
          <p:cNvSpPr txBox="1"/>
          <p:nvPr/>
        </p:nvSpPr>
        <p:spPr>
          <a:xfrm>
            <a:off x="1261872" y="3474720"/>
            <a:ext cx="1874520" cy="512064"/>
          </a:xfrm>
          <a:prstGeom prst="rect">
            <a:avLst/>
          </a:prstGeom>
          <a:noFill/>
          <a:ln/>
        </p:spPr>
        <p:txBody>
          <a:bodyPr wrap="square" lIns="0" tIns="0" rIns="0" bIns="0" rtlCol="0" anchor="t"/>
          <a:lstStyle/>
          <a:p>
            <a:pPr indent="0" marL="0">
              <a:buNone/>
            </a:pPr>
            <a:r>
              <a:rPr lang="en-US" sz="850" dirty="0">
                <a:solidFill>
                  <a:srgbClr val="1F2937"/>
                </a:solidFill>
                <a:latin typeface="Calibri" pitchFamily="34" charset="0"/>
                <a:ea typeface="Calibri" pitchFamily="34" charset="-122"/>
                <a:cs typeface="Calibri" pitchFamily="34" charset="-120"/>
              </a:rPr>
              <a:t>our prototype takes real calls in 3 languages and gives top 3 options</a:t>
            </a:r>
            <a:endParaRPr lang="en-US" sz="850" dirty="0"/>
          </a:p>
          <a:p>
            <a:pPr indent="0" marL="0">
              <a:buNone/>
            </a:pPr>
            <a:r>
              <a:rPr lang="en-US" sz="700" dirty="0">
                <a:solidFill>
                  <a:srgbClr val="6B7280"/>
                </a:solidFill>
                <a:latin typeface="Calibri" pitchFamily="34" charset="0"/>
                <a:ea typeface="Calibri" pitchFamily="34" charset="-122"/>
                <a:cs typeface="Calibri" pitchFamily="34" charset="-120"/>
              </a:rPr>
              <a:t>GitHub</a:t>
            </a:r>
            <a:endParaRPr lang="en-US" sz="850" dirty="0"/>
          </a:p>
        </p:txBody>
      </p:sp>
      <p:sp>
        <p:nvSpPr>
          <p:cNvPr id="28" name="Text 25"/>
          <p:cNvSpPr txBox="1"/>
          <p:nvPr/>
        </p:nvSpPr>
        <p:spPr>
          <a:xfrm>
            <a:off x="3474720" y="896112"/>
            <a:ext cx="274320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What it costs</a:t>
            </a:r>
            <a:endParaRPr lang="en-US" sz="1300" dirty="0"/>
          </a:p>
        </p:txBody>
      </p:sp>
      <p:sp>
        <p:nvSpPr>
          <p:cNvPr id="29" name="Shape 26"/>
          <p:cNvSpPr/>
          <p:nvPr/>
        </p:nvSpPr>
        <p:spPr>
          <a:xfrm>
            <a:off x="3474720" y="1188720"/>
            <a:ext cx="1280160" cy="658368"/>
          </a:xfrm>
          <a:prstGeom prst="roundRect">
            <a:avLst>
              <a:gd name="adj" fmla="val 11111"/>
            </a:avLst>
          </a:prstGeom>
          <a:solidFill>
            <a:srgbClr val="26215C"/>
          </a:solidFill>
          <a:ln w="12700">
            <a:solidFill>
              <a:srgbClr val="26215C"/>
            </a:solidFill>
            <a:prstDash val="solid"/>
          </a:ln>
        </p:spPr>
      </p:sp>
      <p:sp>
        <p:nvSpPr>
          <p:cNvPr id="30" name="Text 27"/>
          <p:cNvSpPr txBox="1"/>
          <p:nvPr/>
        </p:nvSpPr>
        <p:spPr>
          <a:xfrm>
            <a:off x="3566160" y="1225296"/>
            <a:ext cx="1097280" cy="292608"/>
          </a:xfrm>
          <a:prstGeom prst="rect">
            <a:avLst/>
          </a:prstGeom>
          <a:noFill/>
          <a:ln/>
        </p:spPr>
        <p:txBody>
          <a:bodyPr wrap="square" lIns="0" tIns="0" rIns="0" bIns="0" rtlCol="0" anchor="ctr"/>
          <a:lstStyle/>
          <a:p>
            <a:pPr indent="0" marL="0">
              <a:buNone/>
            </a:pPr>
            <a:r>
              <a:rPr lang="en-US" sz="1700" b="1" dirty="0">
                <a:solidFill>
                  <a:srgbClr val="F2A33A"/>
                </a:solidFill>
                <a:latin typeface="Calibri" pitchFamily="34" charset="0"/>
                <a:ea typeface="Calibri" pitchFamily="34" charset="-122"/>
                <a:cs typeface="Calibri" pitchFamily="34" charset="-120"/>
              </a:rPr>
              <a:t>₹163</a:t>
            </a:r>
            <a:endParaRPr lang="en-US" sz="1700" dirty="0"/>
          </a:p>
        </p:txBody>
      </p:sp>
      <p:sp>
        <p:nvSpPr>
          <p:cNvPr id="31" name="Text 28"/>
          <p:cNvSpPr txBox="1"/>
          <p:nvPr/>
        </p:nvSpPr>
        <p:spPr>
          <a:xfrm>
            <a:off x="3566160" y="1517904"/>
            <a:ext cx="1115568" cy="292608"/>
          </a:xfrm>
          <a:prstGeom prst="rect">
            <a:avLst/>
          </a:prstGeom>
          <a:noFill/>
          <a:ln/>
        </p:spPr>
        <p:txBody>
          <a:bodyPr wrap="square" lIns="0" tIns="0" rIns="0" bIns="0" rtlCol="0" anchor="t"/>
          <a:lstStyle/>
          <a:p>
            <a:pPr indent="0" marL="0">
              <a:buNone/>
            </a:pPr>
            <a:r>
              <a:rPr lang="en-US" sz="750" dirty="0">
                <a:solidFill>
                  <a:srgbClr val="FFFFFF"/>
                </a:solidFill>
                <a:latin typeface="Calibri" pitchFamily="34" charset="0"/>
                <a:ea typeface="Calibri" pitchFamily="34" charset="-122"/>
                <a:cs typeface="Calibri" pitchFamily="34" charset="-120"/>
              </a:rPr>
              <a:t>per person, all-in, at 50,000 a year</a:t>
            </a:r>
            <a:endParaRPr lang="en-US" sz="750" dirty="0"/>
          </a:p>
        </p:txBody>
      </p:sp>
      <p:sp>
        <p:nvSpPr>
          <p:cNvPr id="32" name="Shape 29"/>
          <p:cNvSpPr/>
          <p:nvPr/>
        </p:nvSpPr>
        <p:spPr>
          <a:xfrm>
            <a:off x="4846320" y="1188720"/>
            <a:ext cx="1280160" cy="658368"/>
          </a:xfrm>
          <a:prstGeom prst="roundRect">
            <a:avLst>
              <a:gd name="adj" fmla="val 11111"/>
            </a:avLst>
          </a:prstGeom>
          <a:solidFill>
            <a:srgbClr val="EEEDF7"/>
          </a:solidFill>
          <a:ln w="12700">
            <a:solidFill>
              <a:srgbClr val="EEEDF7"/>
            </a:solidFill>
            <a:prstDash val="solid"/>
          </a:ln>
        </p:spPr>
      </p:sp>
      <p:sp>
        <p:nvSpPr>
          <p:cNvPr id="33" name="Text 30"/>
          <p:cNvSpPr txBox="1"/>
          <p:nvPr/>
        </p:nvSpPr>
        <p:spPr>
          <a:xfrm>
            <a:off x="4937760" y="1225296"/>
            <a:ext cx="1097280" cy="292608"/>
          </a:xfrm>
          <a:prstGeom prst="rect">
            <a:avLst/>
          </a:prstGeom>
          <a:noFill/>
          <a:ln/>
        </p:spPr>
        <p:txBody>
          <a:bodyPr wrap="square" lIns="0" tIns="0" rIns="0" bIns="0" rtlCol="0" anchor="ctr"/>
          <a:lstStyle/>
          <a:p>
            <a:pPr indent="0" marL="0">
              <a:buNone/>
            </a:pPr>
            <a:r>
              <a:rPr lang="en-US" sz="1700" b="1" dirty="0">
                <a:solidFill>
                  <a:srgbClr val="26215C"/>
                </a:solidFill>
                <a:latin typeface="Calibri" pitchFamily="34" charset="0"/>
                <a:ea typeface="Calibri" pitchFamily="34" charset="-122"/>
                <a:cs typeface="Calibri" pitchFamily="34" charset="-120"/>
              </a:rPr>
              <a:t>0.24%</a:t>
            </a:r>
            <a:endParaRPr lang="en-US" sz="1700" dirty="0"/>
          </a:p>
        </p:txBody>
      </p:sp>
      <p:sp>
        <p:nvSpPr>
          <p:cNvPr id="34" name="Text 31"/>
          <p:cNvSpPr txBox="1"/>
          <p:nvPr/>
        </p:nvSpPr>
        <p:spPr>
          <a:xfrm>
            <a:off x="4937760" y="1517904"/>
            <a:ext cx="1115568" cy="292608"/>
          </a:xfrm>
          <a:prstGeom prst="rect">
            <a:avLst/>
          </a:prstGeom>
          <a:noFill/>
          <a:ln/>
        </p:spPr>
        <p:txBody>
          <a:bodyPr wrap="square" lIns="0" tIns="0" rIns="0" bIns="0" rtlCol="0" anchor="t"/>
          <a:lstStyle/>
          <a:p>
            <a:pPr indent="0" marL="0">
              <a:buNone/>
            </a:pPr>
            <a:r>
              <a:rPr lang="en-US" sz="750" dirty="0">
                <a:solidFill>
                  <a:srgbClr val="1F2937"/>
                </a:solidFill>
                <a:latin typeface="Calibri" pitchFamily="34" charset="0"/>
                <a:ea typeface="Calibri" pitchFamily="34" charset="-122"/>
                <a:cs typeface="Calibri" pitchFamily="34" charset="-120"/>
              </a:rPr>
              <a:t>of ₹69,200 GIA support per person</a:t>
            </a:r>
            <a:endParaRPr lang="en-US" sz="750" dirty="0"/>
          </a:p>
        </p:txBody>
      </p:sp>
      <p:sp>
        <p:nvSpPr>
          <p:cNvPr id="35" name="Shape 32"/>
          <p:cNvSpPr/>
          <p:nvPr/>
        </p:nvSpPr>
        <p:spPr>
          <a:xfrm>
            <a:off x="6217920" y="1188720"/>
            <a:ext cx="1280160" cy="658368"/>
          </a:xfrm>
          <a:prstGeom prst="roundRect">
            <a:avLst>
              <a:gd name="adj" fmla="val 11111"/>
            </a:avLst>
          </a:prstGeom>
          <a:solidFill>
            <a:srgbClr val="EEEDF7"/>
          </a:solidFill>
          <a:ln w="12700">
            <a:solidFill>
              <a:srgbClr val="EEEDF7"/>
            </a:solidFill>
            <a:prstDash val="solid"/>
          </a:ln>
        </p:spPr>
      </p:sp>
      <p:sp>
        <p:nvSpPr>
          <p:cNvPr id="36" name="Text 33"/>
          <p:cNvSpPr txBox="1"/>
          <p:nvPr/>
        </p:nvSpPr>
        <p:spPr>
          <a:xfrm>
            <a:off x="6309360" y="1225296"/>
            <a:ext cx="1097280" cy="292608"/>
          </a:xfrm>
          <a:prstGeom prst="rect">
            <a:avLst/>
          </a:prstGeom>
          <a:noFill/>
          <a:ln/>
        </p:spPr>
        <p:txBody>
          <a:bodyPr wrap="square" lIns="0" tIns="0" rIns="0" bIns="0" rtlCol="0" anchor="ctr"/>
          <a:lstStyle/>
          <a:p>
            <a:pPr indent="0" marL="0">
              <a:buNone/>
            </a:pPr>
            <a:r>
              <a:rPr lang="en-US" sz="1700" b="1" dirty="0">
                <a:solidFill>
                  <a:srgbClr val="26215C"/>
                </a:solidFill>
                <a:latin typeface="Calibri" pitchFamily="34" charset="0"/>
                <a:ea typeface="Calibri" pitchFamily="34" charset="-122"/>
                <a:cs typeface="Calibri" pitchFamily="34" charset="-120"/>
              </a:rPr>
              <a:t>₹8.8 L</a:t>
            </a:r>
            <a:endParaRPr lang="en-US" sz="1700" dirty="0"/>
          </a:p>
        </p:txBody>
      </p:sp>
      <p:sp>
        <p:nvSpPr>
          <p:cNvPr id="37" name="Text 34"/>
          <p:cNvSpPr txBox="1"/>
          <p:nvPr/>
        </p:nvSpPr>
        <p:spPr>
          <a:xfrm>
            <a:off x="6309360" y="1517904"/>
            <a:ext cx="1115568" cy="292608"/>
          </a:xfrm>
          <a:prstGeom prst="rect">
            <a:avLst/>
          </a:prstGeom>
          <a:noFill/>
          <a:ln/>
        </p:spPr>
        <p:txBody>
          <a:bodyPr wrap="square" lIns="0" tIns="0" rIns="0" bIns="0" rtlCol="0" anchor="t"/>
          <a:lstStyle/>
          <a:p>
            <a:pPr indent="0" marL="0">
              <a:buNone/>
            </a:pPr>
            <a:r>
              <a:rPr lang="en-US" sz="750" dirty="0">
                <a:solidFill>
                  <a:srgbClr val="1F2937"/>
                </a:solidFill>
                <a:latin typeface="Calibri" pitchFamily="34" charset="0"/>
                <a:ea typeface="Calibri" pitchFamily="34" charset="-122"/>
                <a:cs typeface="Calibri" pitchFamily="34" charset="-120"/>
              </a:rPr>
              <a:t>GPUs a year, in India</a:t>
            </a:r>
            <a:endParaRPr lang="en-US" sz="750" dirty="0"/>
          </a:p>
        </p:txBody>
      </p:sp>
      <p:sp>
        <p:nvSpPr>
          <p:cNvPr id="38" name="Shape 35"/>
          <p:cNvSpPr/>
          <p:nvPr/>
        </p:nvSpPr>
        <p:spPr>
          <a:xfrm>
            <a:off x="7589520" y="1188720"/>
            <a:ext cx="1280160" cy="658368"/>
          </a:xfrm>
          <a:prstGeom prst="roundRect">
            <a:avLst>
              <a:gd name="adj" fmla="val 11111"/>
            </a:avLst>
          </a:prstGeom>
          <a:solidFill>
            <a:srgbClr val="EEEDF7"/>
          </a:solidFill>
          <a:ln w="12700">
            <a:solidFill>
              <a:srgbClr val="EEEDF7"/>
            </a:solidFill>
            <a:prstDash val="solid"/>
          </a:ln>
        </p:spPr>
      </p:sp>
      <p:sp>
        <p:nvSpPr>
          <p:cNvPr id="39" name="Text 36"/>
          <p:cNvSpPr txBox="1"/>
          <p:nvPr/>
        </p:nvSpPr>
        <p:spPr>
          <a:xfrm>
            <a:off x="7680960" y="1225296"/>
            <a:ext cx="1097280" cy="292608"/>
          </a:xfrm>
          <a:prstGeom prst="rect">
            <a:avLst/>
          </a:prstGeom>
          <a:noFill/>
          <a:ln/>
        </p:spPr>
        <p:txBody>
          <a:bodyPr wrap="square" lIns="0" tIns="0" rIns="0" bIns="0" rtlCol="0" anchor="ctr"/>
          <a:lstStyle/>
          <a:p>
            <a:pPr indent="0" marL="0">
              <a:buNone/>
            </a:pPr>
            <a:r>
              <a:rPr lang="en-US" sz="1700" b="1" dirty="0">
                <a:solidFill>
                  <a:srgbClr val="26215C"/>
                </a:solidFill>
                <a:latin typeface="Calibri" pitchFamily="34" charset="0"/>
                <a:ea typeface="Calibri" pitchFamily="34" charset="-122"/>
                <a:cs typeface="Calibri" pitchFamily="34" charset="-120"/>
              </a:rPr>
              <a:t>₹2 L</a:t>
            </a:r>
            <a:endParaRPr lang="en-US" sz="1700" dirty="0"/>
          </a:p>
        </p:txBody>
      </p:sp>
      <p:sp>
        <p:nvSpPr>
          <p:cNvPr id="40" name="Text 37"/>
          <p:cNvSpPr txBox="1"/>
          <p:nvPr/>
        </p:nvSpPr>
        <p:spPr>
          <a:xfrm>
            <a:off x="7680960" y="1517904"/>
            <a:ext cx="1115568" cy="292608"/>
          </a:xfrm>
          <a:prstGeom prst="rect">
            <a:avLst/>
          </a:prstGeom>
          <a:noFill/>
          <a:ln/>
        </p:spPr>
        <p:txBody>
          <a:bodyPr wrap="square" lIns="0" tIns="0" rIns="0" bIns="0" rtlCol="0" anchor="t"/>
          <a:lstStyle/>
          <a:p>
            <a:pPr indent="0" marL="0">
              <a:buNone/>
            </a:pPr>
            <a:r>
              <a:rPr lang="en-US" sz="750" dirty="0">
                <a:solidFill>
                  <a:srgbClr val="1F2937"/>
                </a:solidFill>
                <a:latin typeface="Calibri" pitchFamily="34" charset="0"/>
                <a:ea typeface="Calibri" pitchFamily="34" charset="-122"/>
                <a:cs typeface="Calibri" pitchFamily="34" charset="-120"/>
              </a:rPr>
              <a:t>one time per language</a:t>
            </a:r>
            <a:endParaRPr lang="en-US" sz="750" dirty="0"/>
          </a:p>
        </p:txBody>
      </p:sp>
      <p:graphicFrame>
        <p:nvGraphicFramePr>
          <p:cNvPr id="41" name="Chart 0" descr=""/>
          <p:cNvGraphicFramePr/>
          <p:nvPr/>
        </p:nvGraphicFramePr>
        <p:xfrm>
          <a:off x="3429000" y="1920240"/>
          <a:ext cx="5486400" cy="1463040"/>
        </p:xfrm>
        <a:graphic xmlns:a="http://schemas.openxmlformats.org/drawingml/2006/main">
          <a:graphicData uri="http://schemas.openxmlformats.org/drawingml/2006/chart">
            <c:chart xmlns:c="http://schemas.openxmlformats.org/drawingml/2006/chart" r:id="rId2"/>
          </a:graphicData>
        </a:graphic>
      </p:graphicFrame>
      <p:sp>
        <p:nvSpPr>
          <p:cNvPr id="42" name="Text 38"/>
          <p:cNvSpPr txBox="1"/>
          <p:nvPr/>
        </p:nvSpPr>
        <p:spPr>
          <a:xfrm>
            <a:off x="3474720" y="3419856"/>
            <a:ext cx="1371600" cy="182880"/>
          </a:xfrm>
          <a:prstGeom prst="rect">
            <a:avLst/>
          </a:prstGeom>
          <a:noFill/>
          <a:ln/>
        </p:spPr>
        <p:txBody>
          <a:bodyPr wrap="square" lIns="0" tIns="0" rIns="0" bIns="0" rtlCol="0" anchor="t"/>
          <a:lstStyle/>
          <a:p>
            <a:pPr indent="0" marL="0">
              <a:buNone/>
            </a:pPr>
            <a:r>
              <a:rPr lang="en-US" sz="900" b="1" dirty="0">
                <a:solidFill>
                  <a:srgbClr val="26215C"/>
                </a:solidFill>
                <a:latin typeface="Calibri" pitchFamily="34" charset="0"/>
                <a:ea typeface="Calibri" pitchFamily="34" charset="-122"/>
                <a:cs typeface="Calibri" pitchFamily="34" charset="-120"/>
              </a:rPr>
              <a:t>Training plan</a:t>
            </a:r>
            <a:endParaRPr lang="en-US" sz="900" dirty="0"/>
          </a:p>
        </p:txBody>
      </p:sp>
      <p:sp>
        <p:nvSpPr>
          <p:cNvPr id="43" name="Shape 39"/>
          <p:cNvSpPr/>
          <p:nvPr/>
        </p:nvSpPr>
        <p:spPr>
          <a:xfrm>
            <a:off x="3931920" y="3675888"/>
            <a:ext cx="4251960" cy="0"/>
          </a:xfrm>
          <a:prstGeom prst="line">
            <a:avLst/>
          </a:prstGeom>
          <a:noFill/>
          <a:ln w="19050">
            <a:solidFill>
              <a:srgbClr val="F2A33A"/>
            </a:solidFill>
            <a:prstDash val="dash"/>
          </a:ln>
        </p:spPr>
      </p:sp>
      <p:sp>
        <p:nvSpPr>
          <p:cNvPr id="44" name="Shape 40"/>
          <p:cNvSpPr/>
          <p:nvPr/>
        </p:nvSpPr>
        <p:spPr>
          <a:xfrm>
            <a:off x="3858768" y="3602736"/>
            <a:ext cx="146304" cy="146304"/>
          </a:xfrm>
          <a:prstGeom prst="ellipse">
            <a:avLst/>
          </a:prstGeom>
          <a:solidFill>
            <a:srgbClr val="F2A33A"/>
          </a:solidFill>
          <a:ln w="12700">
            <a:solidFill>
              <a:srgbClr val="FFFFFF"/>
            </a:solidFill>
            <a:prstDash val="solid"/>
          </a:ln>
        </p:spPr>
      </p:sp>
      <p:sp>
        <p:nvSpPr>
          <p:cNvPr id="45" name="Text 41"/>
          <p:cNvSpPr txBox="1"/>
          <p:nvPr/>
        </p:nvSpPr>
        <p:spPr>
          <a:xfrm>
            <a:off x="3337560" y="3767328"/>
            <a:ext cx="1188720" cy="292608"/>
          </a:xfrm>
          <a:prstGeom prst="rect">
            <a:avLst/>
          </a:prstGeom>
          <a:noFill/>
          <a:ln/>
        </p:spPr>
        <p:txBody>
          <a:bodyPr wrap="square" lIns="0" tIns="0" rIns="0" bIns="0" rtlCol="0" anchor="t"/>
          <a:lstStyle/>
          <a:p>
            <a:pPr algn="ctr" indent="0" marL="0">
              <a:buNone/>
            </a:pPr>
            <a:r>
              <a:rPr lang="en-US" sz="750" b="1" dirty="0">
                <a:solidFill>
                  <a:srgbClr val="26215C"/>
                </a:solidFill>
                <a:latin typeface="Calibri" pitchFamily="34" charset="0"/>
                <a:ea typeface="Calibri" pitchFamily="34" charset="-122"/>
                <a:cs typeface="Calibri" pitchFamily="34" charset="-120"/>
              </a:rPr>
              <a:t>Collect</a:t>
            </a:r>
            <a:endParaRPr lang="en-US" sz="750" dirty="0"/>
          </a:p>
          <a:p>
            <a:pPr algn="ctr" indent="0" marL="0">
              <a:buNone/>
            </a:pPr>
            <a:r>
              <a:rPr lang="en-US" sz="750" dirty="0">
                <a:solidFill>
                  <a:srgbClr val="6B7280"/>
                </a:solidFill>
                <a:latin typeface="Calibri" pitchFamily="34" charset="0"/>
                <a:ea typeface="Calibri" pitchFamily="34" charset="-122"/>
                <a:cs typeface="Calibri" pitchFamily="34" charset="-120"/>
              </a:rPr>
              <a:t>100 h per language</a:t>
            </a:r>
            <a:endParaRPr lang="en-US" sz="750" dirty="0"/>
          </a:p>
        </p:txBody>
      </p:sp>
      <p:sp>
        <p:nvSpPr>
          <p:cNvPr id="46" name="Shape 42"/>
          <p:cNvSpPr/>
          <p:nvPr/>
        </p:nvSpPr>
        <p:spPr>
          <a:xfrm>
            <a:off x="5276088" y="3602736"/>
            <a:ext cx="146304" cy="146304"/>
          </a:xfrm>
          <a:prstGeom prst="ellipse">
            <a:avLst/>
          </a:prstGeom>
          <a:solidFill>
            <a:srgbClr val="F2A33A"/>
          </a:solidFill>
          <a:ln w="12700">
            <a:solidFill>
              <a:srgbClr val="FFFFFF"/>
            </a:solidFill>
            <a:prstDash val="solid"/>
          </a:ln>
        </p:spPr>
      </p:sp>
      <p:sp>
        <p:nvSpPr>
          <p:cNvPr id="47" name="Text 43"/>
          <p:cNvSpPr txBox="1"/>
          <p:nvPr/>
        </p:nvSpPr>
        <p:spPr>
          <a:xfrm>
            <a:off x="4754880" y="3767328"/>
            <a:ext cx="1188720" cy="292608"/>
          </a:xfrm>
          <a:prstGeom prst="rect">
            <a:avLst/>
          </a:prstGeom>
          <a:noFill/>
          <a:ln/>
        </p:spPr>
        <p:txBody>
          <a:bodyPr wrap="square" lIns="0" tIns="0" rIns="0" bIns="0" rtlCol="0" anchor="t"/>
          <a:lstStyle/>
          <a:p>
            <a:pPr algn="ctr" indent="0" marL="0">
              <a:buNone/>
            </a:pPr>
            <a:r>
              <a:rPr lang="en-US" sz="750" b="1" dirty="0">
                <a:solidFill>
                  <a:srgbClr val="26215C"/>
                </a:solidFill>
                <a:latin typeface="Calibri" pitchFamily="34" charset="0"/>
                <a:ea typeface="Calibri" pitchFamily="34" charset="-122"/>
                <a:cs typeface="Calibri" pitchFamily="34" charset="-120"/>
              </a:rPr>
              <a:t>Fine-tune</a:t>
            </a:r>
            <a:endParaRPr lang="en-US" sz="750" dirty="0"/>
          </a:p>
          <a:p>
            <a:pPr algn="ctr" indent="0" marL="0">
              <a:buNone/>
            </a:pPr>
            <a:r>
              <a:rPr lang="en-US" sz="750" dirty="0">
                <a:solidFill>
                  <a:srgbClr val="6B7280"/>
                </a:solidFill>
                <a:latin typeface="Calibri" pitchFamily="34" charset="0"/>
                <a:ea typeface="Calibri" pitchFamily="34" charset="-122"/>
                <a:cs typeface="Calibri" pitchFamily="34" charset="-120"/>
              </a:rPr>
              <a:t>~112 GPU-hours</a:t>
            </a:r>
            <a:endParaRPr lang="en-US" sz="750" dirty="0"/>
          </a:p>
        </p:txBody>
      </p:sp>
      <p:sp>
        <p:nvSpPr>
          <p:cNvPr id="48" name="Shape 44"/>
          <p:cNvSpPr/>
          <p:nvPr/>
        </p:nvSpPr>
        <p:spPr>
          <a:xfrm>
            <a:off x="6693408" y="3602736"/>
            <a:ext cx="146304" cy="146304"/>
          </a:xfrm>
          <a:prstGeom prst="ellipse">
            <a:avLst/>
          </a:prstGeom>
          <a:solidFill>
            <a:srgbClr val="F2A33A"/>
          </a:solidFill>
          <a:ln w="12700">
            <a:solidFill>
              <a:srgbClr val="FFFFFF"/>
            </a:solidFill>
            <a:prstDash val="solid"/>
          </a:ln>
        </p:spPr>
      </p:sp>
      <p:sp>
        <p:nvSpPr>
          <p:cNvPr id="49" name="Text 45"/>
          <p:cNvSpPr txBox="1"/>
          <p:nvPr/>
        </p:nvSpPr>
        <p:spPr>
          <a:xfrm>
            <a:off x="6172200" y="3767328"/>
            <a:ext cx="1188720" cy="292608"/>
          </a:xfrm>
          <a:prstGeom prst="rect">
            <a:avLst/>
          </a:prstGeom>
          <a:noFill/>
          <a:ln/>
        </p:spPr>
        <p:txBody>
          <a:bodyPr wrap="square" lIns="0" tIns="0" rIns="0" bIns="0" rtlCol="0" anchor="t"/>
          <a:lstStyle/>
          <a:p>
            <a:pPr algn="ctr" indent="0" marL="0">
              <a:buNone/>
            </a:pPr>
            <a:r>
              <a:rPr lang="en-US" sz="750" b="1" dirty="0">
                <a:solidFill>
                  <a:srgbClr val="26215C"/>
                </a:solidFill>
                <a:latin typeface="Calibri" pitchFamily="34" charset="0"/>
                <a:ea typeface="Calibri" pitchFamily="34" charset="-122"/>
                <a:cs typeface="Calibri" pitchFamily="34" charset="-120"/>
              </a:rPr>
              <a:t>Test</a:t>
            </a:r>
            <a:endParaRPr lang="en-US" sz="750" dirty="0"/>
          </a:p>
          <a:p>
            <a:pPr algn="ctr" indent="0" marL="0">
              <a:buNone/>
            </a:pPr>
            <a:r>
              <a:rPr lang="en-US" sz="750" dirty="0">
                <a:solidFill>
                  <a:srgbClr val="6B7280"/>
                </a:solidFill>
                <a:latin typeface="Calibri" pitchFamily="34" charset="0"/>
                <a:ea typeface="Calibri" pitchFamily="34" charset="-122"/>
                <a:cs typeface="Calibri" pitchFamily="34" charset="-120"/>
              </a:rPr>
              <a:t>beat 19.3% error</a:t>
            </a:r>
            <a:endParaRPr lang="en-US" sz="750" dirty="0"/>
          </a:p>
        </p:txBody>
      </p:sp>
      <p:sp>
        <p:nvSpPr>
          <p:cNvPr id="50" name="Shape 46"/>
          <p:cNvSpPr/>
          <p:nvPr/>
        </p:nvSpPr>
        <p:spPr>
          <a:xfrm>
            <a:off x="8110728" y="3602736"/>
            <a:ext cx="146304" cy="146304"/>
          </a:xfrm>
          <a:prstGeom prst="ellipse">
            <a:avLst/>
          </a:prstGeom>
          <a:solidFill>
            <a:srgbClr val="F2A33A"/>
          </a:solidFill>
          <a:ln w="12700">
            <a:solidFill>
              <a:srgbClr val="FFFFFF"/>
            </a:solidFill>
            <a:prstDash val="solid"/>
          </a:ln>
        </p:spPr>
      </p:sp>
      <p:sp>
        <p:nvSpPr>
          <p:cNvPr id="51" name="Text 47"/>
          <p:cNvSpPr txBox="1"/>
          <p:nvPr/>
        </p:nvSpPr>
        <p:spPr>
          <a:xfrm>
            <a:off x="7589520" y="3767328"/>
            <a:ext cx="1188720" cy="292608"/>
          </a:xfrm>
          <a:prstGeom prst="rect">
            <a:avLst/>
          </a:prstGeom>
          <a:noFill/>
          <a:ln/>
        </p:spPr>
        <p:txBody>
          <a:bodyPr wrap="square" lIns="0" tIns="0" rIns="0" bIns="0" rtlCol="0" anchor="t"/>
          <a:lstStyle/>
          <a:p>
            <a:pPr algn="ctr" indent="0" marL="0">
              <a:buNone/>
            </a:pPr>
            <a:r>
              <a:rPr lang="en-US" sz="750" b="1" dirty="0">
                <a:solidFill>
                  <a:srgbClr val="26215C"/>
                </a:solidFill>
                <a:latin typeface="Calibri" pitchFamily="34" charset="0"/>
                <a:ea typeface="Calibri" pitchFamily="34" charset="-122"/>
                <a:cs typeface="Calibri" pitchFamily="34" charset="-120"/>
              </a:rPr>
              <a:t>Improve</a:t>
            </a:r>
            <a:endParaRPr lang="en-US" sz="750" dirty="0"/>
          </a:p>
          <a:p>
            <a:pPr algn="ctr" indent="0" marL="0">
              <a:buNone/>
            </a:pPr>
            <a:r>
              <a:rPr lang="en-US" sz="750" dirty="0">
                <a:solidFill>
                  <a:srgbClr val="6B7280"/>
                </a:solidFill>
                <a:latin typeface="Calibri" pitchFamily="34" charset="0"/>
                <a:ea typeface="Calibri" pitchFamily="34" charset="-122"/>
                <a:cs typeface="Calibri" pitchFamily="34" charset="-120"/>
              </a:rPr>
              <a:t>every month</a:t>
            </a:r>
            <a:endParaRPr lang="en-US" sz="750" dirty="0"/>
          </a:p>
        </p:txBody>
      </p:sp>
      <p:sp>
        <p:nvSpPr>
          <p:cNvPr id="52" name="Text 48"/>
          <p:cNvSpPr txBox="1"/>
          <p:nvPr/>
        </p:nvSpPr>
        <p:spPr>
          <a:xfrm>
            <a:off x="365760" y="4114800"/>
            <a:ext cx="365760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Risks and safeguards</a:t>
            </a:r>
            <a:endParaRPr lang="en-US" sz="1300" dirty="0"/>
          </a:p>
        </p:txBody>
      </p:sp>
      <p:pic>
        <p:nvPicPr>
          <p:cNvPr id="53" name="Image 1" descr="preencoded.png">    </p:cNvPr>
          <p:cNvPicPr>
            <a:picLocks noChangeAspect="1"/>
          </p:cNvPicPr>
          <p:nvPr/>
        </p:nvPicPr>
        <p:blipFill>
          <a:blip r:embed="rId3"/>
          <a:stretch>
            <a:fillRect/>
          </a:stretch>
        </p:blipFill>
        <p:spPr>
          <a:xfrm>
            <a:off x="365760" y="4443984"/>
            <a:ext cx="182880" cy="182880"/>
          </a:xfrm>
          <a:prstGeom prst="rect">
            <a:avLst/>
          </a:prstGeom>
        </p:spPr>
      </p:pic>
      <p:sp>
        <p:nvSpPr>
          <p:cNvPr id="54" name="Text 49"/>
          <p:cNvSpPr txBox="1"/>
          <p:nvPr/>
        </p:nvSpPr>
        <p:spPr>
          <a:xfrm>
            <a:off x="612648" y="4407408"/>
            <a:ext cx="1828800" cy="420624"/>
          </a:xfrm>
          <a:prstGeom prst="rect">
            <a:avLst/>
          </a:prstGeom>
          <a:noFill/>
          <a:ln/>
        </p:spPr>
        <p:txBody>
          <a:bodyPr wrap="square" lIns="0" tIns="0" rIns="0" bIns="0" rtlCol="0" anchor="t"/>
          <a:lstStyle/>
          <a:p>
            <a:pPr indent="0" marL="0">
              <a:buNone/>
            </a:pPr>
            <a:r>
              <a:rPr lang="en-US" sz="800" b="1" dirty="0">
                <a:solidFill>
                  <a:srgbClr val="B4432C"/>
                </a:solidFill>
                <a:latin typeface="Calibri" pitchFamily="34" charset="0"/>
                <a:ea typeface="Calibri" pitchFamily="34" charset="-122"/>
                <a:cs typeface="Calibri" pitchFamily="34" charset="-120"/>
              </a:rPr>
              <a:t>Village dialects</a:t>
            </a:r>
            <a:endParaRPr lang="en-US" sz="800" dirty="0"/>
          </a:p>
          <a:p>
            <a:pPr indent="0" marL="0">
              <a:buNone/>
            </a:pPr>
            <a:r>
              <a:rPr lang="en-US" sz="800" dirty="0">
                <a:solidFill>
                  <a:srgbClr val="1F2937"/>
                </a:solidFill>
                <a:latin typeface="Calibri" pitchFamily="34" charset="0"/>
                <a:ea typeface="Calibri" pitchFamily="34" charset="-122"/>
                <a:cs typeface="Calibri" pitchFamily="34" charset="-120"/>
              </a:rPr>
              <a:t>keypad for facts, everything read back, human fallback</a:t>
            </a:r>
            <a:endParaRPr lang="en-US" sz="800" dirty="0"/>
          </a:p>
        </p:txBody>
      </p:sp>
      <p:pic>
        <p:nvPicPr>
          <p:cNvPr id="55" name="Image 2" descr="preencoded.png">    </p:cNvPr>
          <p:cNvPicPr>
            <a:picLocks noChangeAspect="1"/>
          </p:cNvPicPr>
          <p:nvPr/>
        </p:nvPicPr>
        <p:blipFill>
          <a:blip r:embed="rId4"/>
          <a:stretch>
            <a:fillRect/>
          </a:stretch>
        </p:blipFill>
        <p:spPr>
          <a:xfrm>
            <a:off x="2514600" y="4443984"/>
            <a:ext cx="182880" cy="182880"/>
          </a:xfrm>
          <a:prstGeom prst="rect">
            <a:avLst/>
          </a:prstGeom>
        </p:spPr>
      </p:pic>
      <p:sp>
        <p:nvSpPr>
          <p:cNvPr id="56" name="Text 50"/>
          <p:cNvSpPr txBox="1"/>
          <p:nvPr/>
        </p:nvSpPr>
        <p:spPr>
          <a:xfrm>
            <a:off x="2761488" y="4407408"/>
            <a:ext cx="1828800" cy="420624"/>
          </a:xfrm>
          <a:prstGeom prst="rect">
            <a:avLst/>
          </a:prstGeom>
          <a:noFill/>
          <a:ln/>
        </p:spPr>
        <p:txBody>
          <a:bodyPr wrap="square" lIns="0" tIns="0" rIns="0" bIns="0" rtlCol="0" anchor="t"/>
          <a:lstStyle/>
          <a:p>
            <a:pPr indent="0" marL="0">
              <a:buNone/>
            </a:pPr>
            <a:r>
              <a:rPr lang="en-US" sz="800" b="1" dirty="0">
                <a:solidFill>
                  <a:srgbClr val="B4432C"/>
                </a:solidFill>
                <a:latin typeface="Calibri" pitchFamily="34" charset="0"/>
                <a:ea typeface="Calibri" pitchFamily="34" charset="-122"/>
                <a:cs typeface="Calibri" pitchFamily="34" charset="-120"/>
              </a:rPr>
              <a:t>AI says something wrong</a:t>
            </a:r>
            <a:endParaRPr lang="en-US" sz="800" dirty="0"/>
          </a:p>
          <a:p>
            <a:pPr indent="0" marL="0">
              <a:buNone/>
            </a:pPr>
            <a:r>
              <a:rPr lang="en-US" sz="800" dirty="0">
                <a:solidFill>
                  <a:srgbClr val="1F2937"/>
                </a:solidFill>
                <a:latin typeface="Calibri" pitchFamily="34" charset="0"/>
                <a:ea typeface="Calibri" pitchFamily="34" charset="-122"/>
                <a:cs typeface="Calibri" pitchFamily="34" charset="-120"/>
              </a:rPr>
              <a:t>only facts that match a govt data row are spoken</a:t>
            </a:r>
            <a:endParaRPr lang="en-US" sz="800" dirty="0"/>
          </a:p>
        </p:txBody>
      </p:sp>
      <p:pic>
        <p:nvPicPr>
          <p:cNvPr id="57" name="Image 3" descr="preencoded.png">    </p:cNvPr>
          <p:cNvPicPr>
            <a:picLocks noChangeAspect="1"/>
          </p:cNvPicPr>
          <p:nvPr/>
        </p:nvPicPr>
        <p:blipFill>
          <a:blip r:embed="rId5"/>
          <a:stretch>
            <a:fillRect/>
          </a:stretch>
        </p:blipFill>
        <p:spPr>
          <a:xfrm>
            <a:off x="4663440" y="4443984"/>
            <a:ext cx="182880" cy="182880"/>
          </a:xfrm>
          <a:prstGeom prst="rect">
            <a:avLst/>
          </a:prstGeom>
        </p:spPr>
      </p:pic>
      <p:sp>
        <p:nvSpPr>
          <p:cNvPr id="58" name="Text 51"/>
          <p:cNvSpPr txBox="1"/>
          <p:nvPr/>
        </p:nvSpPr>
        <p:spPr>
          <a:xfrm>
            <a:off x="4910328" y="4407408"/>
            <a:ext cx="1828800" cy="420624"/>
          </a:xfrm>
          <a:prstGeom prst="rect">
            <a:avLst/>
          </a:prstGeom>
          <a:noFill/>
          <a:ln/>
        </p:spPr>
        <p:txBody>
          <a:bodyPr wrap="square" lIns="0" tIns="0" rIns="0" bIns="0" rtlCol="0" anchor="t"/>
          <a:lstStyle/>
          <a:p>
            <a:pPr indent="0" marL="0">
              <a:buNone/>
            </a:pPr>
            <a:r>
              <a:rPr lang="en-US" sz="800" b="1" dirty="0">
                <a:solidFill>
                  <a:srgbClr val="B4432C"/>
                </a:solidFill>
                <a:latin typeface="Calibri" pitchFamily="34" charset="0"/>
                <a:ea typeface="Calibri" pitchFamily="34" charset="-122"/>
                <a:cs typeface="Calibri" pitchFamily="34" charset="-120"/>
              </a:rPr>
              <a:t>Unknown numbers ignored</a:t>
            </a:r>
            <a:endParaRPr lang="en-US" sz="800" dirty="0"/>
          </a:p>
          <a:p>
            <a:pPr indent="0" marL="0">
              <a:buNone/>
            </a:pPr>
            <a:r>
              <a:rPr lang="en-US" sz="800" dirty="0">
                <a:solidFill>
                  <a:srgbClr val="1F2937"/>
                </a:solidFill>
                <a:latin typeface="Calibri" pitchFamily="34" charset="0"/>
                <a:ea typeface="Calibri" pitchFamily="34" charset="-122"/>
                <a:cs typeface="Calibri" pitchFamily="34" charset="-120"/>
              </a:rPr>
              <a:t>they call first; callback from a 1600 number*</a:t>
            </a:r>
            <a:endParaRPr lang="en-US" sz="800" dirty="0"/>
          </a:p>
        </p:txBody>
      </p:sp>
      <p:pic>
        <p:nvPicPr>
          <p:cNvPr id="59" name="Image 4" descr="preencoded.png">    </p:cNvPr>
          <p:cNvPicPr>
            <a:picLocks noChangeAspect="1"/>
          </p:cNvPicPr>
          <p:nvPr/>
        </p:nvPicPr>
        <p:blipFill>
          <a:blip r:embed="rId6"/>
          <a:stretch>
            <a:fillRect/>
          </a:stretch>
        </p:blipFill>
        <p:spPr>
          <a:xfrm>
            <a:off x="6812280" y="4443984"/>
            <a:ext cx="182880" cy="182880"/>
          </a:xfrm>
          <a:prstGeom prst="rect">
            <a:avLst/>
          </a:prstGeom>
        </p:spPr>
      </p:pic>
      <p:sp>
        <p:nvSpPr>
          <p:cNvPr id="60" name="Text 52"/>
          <p:cNvSpPr txBox="1"/>
          <p:nvPr/>
        </p:nvSpPr>
        <p:spPr>
          <a:xfrm>
            <a:off x="7059168" y="4407408"/>
            <a:ext cx="1828800" cy="420624"/>
          </a:xfrm>
          <a:prstGeom prst="rect">
            <a:avLst/>
          </a:prstGeom>
          <a:noFill/>
          <a:ln/>
        </p:spPr>
        <p:txBody>
          <a:bodyPr wrap="square" lIns="0" tIns="0" rIns="0" bIns="0" rtlCol="0" anchor="t"/>
          <a:lstStyle/>
          <a:p>
            <a:pPr indent="0" marL="0">
              <a:buNone/>
            </a:pPr>
            <a:r>
              <a:rPr lang="en-US" sz="800" b="1" dirty="0">
                <a:solidFill>
                  <a:srgbClr val="B4432C"/>
                </a:solidFill>
                <a:latin typeface="Calibri" pitchFamily="34" charset="0"/>
                <a:ea typeface="Calibri" pitchFamily="34" charset="-122"/>
                <a:cs typeface="Calibri" pitchFamily="34" charset="-120"/>
              </a:rPr>
              <a:t>Our model is weaker</a:t>
            </a:r>
            <a:endParaRPr lang="en-US" sz="800" dirty="0"/>
          </a:p>
          <a:p>
            <a:pPr indent="0" marL="0">
              <a:buNone/>
            </a:pPr>
            <a:r>
              <a:rPr lang="en-US" sz="800" dirty="0">
                <a:solidFill>
                  <a:srgbClr val="1F2937"/>
                </a:solidFill>
                <a:latin typeface="Calibri" pitchFamily="34" charset="0"/>
                <a:ea typeface="Calibri" pitchFamily="34" charset="-122"/>
                <a:cs typeface="Calibri" pitchFamily="34" charset="-120"/>
              </a:rPr>
              <a:t>switch a language only after it beats 19.3%; API backup</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82880"/>
            <a:ext cx="5486400" cy="182880"/>
          </a:xfrm>
          <a:prstGeom prst="rect">
            <a:avLst/>
          </a:prstGeom>
          <a:noFill/>
          <a:ln/>
        </p:spPr>
        <p:txBody>
          <a:bodyPr wrap="square" lIns="0" tIns="0" rIns="0" bIns="0" rtlCol="0" anchor="t"/>
          <a:lstStyle/>
          <a:p>
            <a:pPr indent="0" marL="0">
              <a:buNone/>
            </a:pPr>
            <a:r>
              <a:rPr lang="en-US" sz="900" b="1" spc="200" kern="0" dirty="0">
                <a:solidFill>
                  <a:srgbClr val="C97A12"/>
                </a:solidFill>
                <a:latin typeface="Calibri" pitchFamily="34" charset="0"/>
                <a:ea typeface="Calibri" pitchFamily="34" charset="-122"/>
                <a:cs typeface="Calibri" pitchFamily="34" charset="-120"/>
              </a:rPr>
              <a:t>05  ·  IMPACT &amp; BENEFITS</a:t>
            </a:r>
            <a:endParaRPr lang="en-US" sz="900" dirty="0"/>
          </a:p>
        </p:txBody>
      </p:sp>
      <p:sp>
        <p:nvSpPr>
          <p:cNvPr id="3" name="Text 1"/>
          <p:cNvSpPr txBox="1"/>
          <p:nvPr/>
        </p:nvSpPr>
        <p:spPr>
          <a:xfrm>
            <a:off x="365760" y="384048"/>
            <a:ext cx="6949440" cy="420624"/>
          </a:xfrm>
          <a:prstGeom prst="rect">
            <a:avLst/>
          </a:prstGeom>
          <a:noFill/>
          <a:ln/>
        </p:spPr>
        <p:txBody>
          <a:bodyPr wrap="square" lIns="0" tIns="0" rIns="0" bIns="0" rtlCol="0" anchor="ctr"/>
          <a:lstStyle/>
          <a:p>
            <a:pPr indent="0" marL="0">
              <a:buNone/>
            </a:pPr>
            <a:r>
              <a:rPr lang="en-US" sz="2400" b="1" dirty="0">
                <a:solidFill>
                  <a:srgbClr val="26215C"/>
                </a:solidFill>
                <a:latin typeface="Cambria" pitchFamily="34" charset="0"/>
                <a:ea typeface="Cambria" pitchFamily="34" charset="-122"/>
                <a:cs typeface="Cambria" pitchFamily="34" charset="-120"/>
              </a:rPr>
              <a:t>What changes on the ground</a:t>
            </a:r>
            <a:endParaRPr lang="en-US" sz="2400" dirty="0"/>
          </a:p>
        </p:txBody>
      </p:sp>
      <p:pic>
        <p:nvPicPr>
          <p:cNvPr id="4" name="Image 0" descr="/tmp/pw/sih_logo.png">    </p:cNvPr>
          <p:cNvPicPr>
            <a:picLocks noChangeAspect="1"/>
          </p:cNvPicPr>
          <p:nvPr/>
        </p:nvPicPr>
        <p:blipFill>
          <a:blip r:embed="rId1"/>
          <a:stretch>
            <a:fillRect/>
          </a:stretch>
        </p:blipFill>
        <p:spPr>
          <a:xfrm>
            <a:off x="7589520" y="128016"/>
            <a:ext cx="1325880" cy="626364"/>
          </a:xfrm>
          <a:prstGeom prst="rect">
            <a:avLst/>
          </a:prstGeom>
        </p:spPr>
      </p:pic>
      <p:sp>
        <p:nvSpPr>
          <p:cNvPr id="5" name="Text 2"/>
          <p:cNvSpPr txBox="1"/>
          <p:nvPr/>
        </p:nvSpPr>
        <p:spPr>
          <a:xfrm>
            <a:off x="365760" y="4846320"/>
            <a:ext cx="2286000" cy="182880"/>
          </a:xfrm>
          <a:prstGeom prst="rect">
            <a:avLst/>
          </a:prstGeom>
          <a:noFill/>
          <a:ln/>
        </p:spPr>
        <p:txBody>
          <a:bodyPr wrap="square" lIns="0" tIns="0" rIns="0" bIns="0"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HunarMarg  ·  SIH26097</a:t>
            </a:r>
            <a:endParaRPr lang="en-US" sz="800" dirty="0"/>
          </a:p>
        </p:txBody>
      </p:sp>
      <p:sp>
        <p:nvSpPr>
          <p:cNvPr id="6" name="Shape 3"/>
          <p:cNvSpPr/>
          <p:nvPr/>
        </p:nvSpPr>
        <p:spPr>
          <a:xfrm>
            <a:off x="7680960" y="4937760"/>
            <a:ext cx="1051560" cy="0"/>
          </a:xfrm>
          <a:prstGeom prst="line">
            <a:avLst/>
          </a:prstGeom>
          <a:noFill/>
          <a:ln w="19050">
            <a:solidFill>
              <a:srgbClr val="BDB9DC"/>
            </a:solidFill>
            <a:prstDash val="dash"/>
          </a:ln>
        </p:spPr>
      </p:sp>
      <p:sp>
        <p:nvSpPr>
          <p:cNvPr id="7" name="Shape 4"/>
          <p:cNvSpPr/>
          <p:nvPr/>
        </p:nvSpPr>
        <p:spPr>
          <a:xfrm>
            <a:off x="7635240" y="4892040"/>
            <a:ext cx="91440" cy="91440"/>
          </a:xfrm>
          <a:prstGeom prst="ellipse">
            <a:avLst/>
          </a:prstGeom>
          <a:solidFill>
            <a:srgbClr val="3B3486"/>
          </a:solidFill>
          <a:ln w="12700">
            <a:solidFill>
              <a:srgbClr val="FFFFFF"/>
            </a:solidFill>
            <a:prstDash val="solid"/>
          </a:ln>
        </p:spPr>
      </p:sp>
      <p:sp>
        <p:nvSpPr>
          <p:cNvPr id="8" name="Shape 5"/>
          <p:cNvSpPr/>
          <p:nvPr/>
        </p:nvSpPr>
        <p:spPr>
          <a:xfrm>
            <a:off x="7891272" y="4892040"/>
            <a:ext cx="91440" cy="91440"/>
          </a:xfrm>
          <a:prstGeom prst="ellipse">
            <a:avLst/>
          </a:prstGeom>
          <a:solidFill>
            <a:srgbClr val="3B3486"/>
          </a:solidFill>
          <a:ln w="12700">
            <a:solidFill>
              <a:srgbClr val="FFFFFF"/>
            </a:solidFill>
            <a:prstDash val="solid"/>
          </a:ln>
        </p:spPr>
      </p:sp>
      <p:sp>
        <p:nvSpPr>
          <p:cNvPr id="9" name="Shape 6"/>
          <p:cNvSpPr/>
          <p:nvPr/>
        </p:nvSpPr>
        <p:spPr>
          <a:xfrm>
            <a:off x="8147304" y="4892040"/>
            <a:ext cx="91440" cy="91440"/>
          </a:xfrm>
          <a:prstGeom prst="ellipse">
            <a:avLst/>
          </a:prstGeom>
          <a:solidFill>
            <a:srgbClr val="3B3486"/>
          </a:solidFill>
          <a:ln w="12700">
            <a:solidFill>
              <a:srgbClr val="FFFFFF"/>
            </a:solidFill>
            <a:prstDash val="solid"/>
          </a:ln>
        </p:spPr>
      </p:sp>
      <p:sp>
        <p:nvSpPr>
          <p:cNvPr id="10" name="Shape 7"/>
          <p:cNvSpPr/>
          <p:nvPr/>
        </p:nvSpPr>
        <p:spPr>
          <a:xfrm>
            <a:off x="8357616" y="4846320"/>
            <a:ext cx="182880" cy="182880"/>
          </a:xfrm>
          <a:prstGeom prst="ellipse">
            <a:avLst/>
          </a:prstGeom>
          <a:solidFill>
            <a:srgbClr val="F2A33A"/>
          </a:solidFill>
          <a:ln w="12700">
            <a:solidFill>
              <a:srgbClr val="FFFFFF"/>
            </a:solidFill>
            <a:prstDash val="solid"/>
          </a:ln>
        </p:spPr>
      </p:sp>
      <p:sp>
        <p:nvSpPr>
          <p:cNvPr id="11" name="Text 8"/>
          <p:cNvSpPr txBox="1"/>
          <p:nvPr/>
        </p:nvSpPr>
        <p:spPr>
          <a:xfrm>
            <a:off x="8357616" y="4846320"/>
            <a:ext cx="182880" cy="182880"/>
          </a:xfrm>
          <a:prstGeom prst="rect">
            <a:avLst/>
          </a:prstGeom>
          <a:noFill/>
          <a:ln/>
        </p:spPr>
        <p:txBody>
          <a:bodyPr wrap="square" lIns="0" tIns="0" rIns="0" bIns="0" rtlCol="0" anchor="ctr"/>
          <a:lstStyle/>
          <a:p>
            <a:pPr algn="ctr" indent="0" marL="0">
              <a:buNone/>
            </a:pPr>
            <a:r>
              <a:rPr lang="en-US" sz="750" b="1" dirty="0">
                <a:solidFill>
                  <a:srgbClr val="26215C"/>
                </a:solidFill>
                <a:latin typeface="Calibri" pitchFamily="34" charset="0"/>
                <a:ea typeface="Calibri" pitchFamily="34" charset="-122"/>
                <a:cs typeface="Calibri" pitchFamily="34" charset="-120"/>
              </a:rPr>
              <a:t>5</a:t>
            </a:r>
            <a:endParaRPr lang="en-US" sz="750" dirty="0"/>
          </a:p>
        </p:txBody>
      </p:sp>
      <p:sp>
        <p:nvSpPr>
          <p:cNvPr id="12" name="Shape 9"/>
          <p:cNvSpPr/>
          <p:nvPr/>
        </p:nvSpPr>
        <p:spPr>
          <a:xfrm>
            <a:off x="8659368" y="4892040"/>
            <a:ext cx="91440" cy="91440"/>
          </a:xfrm>
          <a:prstGeom prst="ellipse">
            <a:avLst/>
          </a:prstGeom>
          <a:solidFill>
            <a:srgbClr val="D6D3EA"/>
          </a:solidFill>
          <a:ln w="12700">
            <a:solidFill>
              <a:srgbClr val="FFFFFF"/>
            </a:solidFill>
            <a:prstDash val="solid"/>
          </a:ln>
        </p:spPr>
      </p:sp>
      <p:sp>
        <p:nvSpPr>
          <p:cNvPr id="13" name="Shape 10"/>
          <p:cNvSpPr/>
          <p:nvPr/>
        </p:nvSpPr>
        <p:spPr>
          <a:xfrm>
            <a:off x="365760" y="914400"/>
            <a:ext cx="8503920" cy="1481328"/>
          </a:xfrm>
          <a:prstGeom prst="roundRect">
            <a:avLst>
              <a:gd name="adj" fmla="val 6173"/>
            </a:avLst>
          </a:prstGeom>
          <a:solidFill>
            <a:srgbClr val="26215C"/>
          </a:solidFill>
          <a:ln w="12700">
            <a:solidFill>
              <a:srgbClr val="26215C"/>
            </a:solidFill>
            <a:prstDash val="solid"/>
          </a:ln>
        </p:spPr>
      </p:sp>
      <p:sp>
        <p:nvSpPr>
          <p:cNvPr id="14" name="Text 11"/>
          <p:cNvSpPr txBox="1"/>
          <p:nvPr/>
        </p:nvSpPr>
        <p:spPr>
          <a:xfrm>
            <a:off x="566928" y="1024128"/>
            <a:ext cx="1920240" cy="384048"/>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41% → 70%</a:t>
            </a:r>
            <a:endParaRPr lang="en-US" sz="2100" dirty="0"/>
          </a:p>
        </p:txBody>
      </p:sp>
      <p:sp>
        <p:nvSpPr>
          <p:cNvPr id="15" name="Text 12"/>
          <p:cNvSpPr txBox="1"/>
          <p:nvPr/>
        </p:nvSpPr>
        <p:spPr>
          <a:xfrm>
            <a:off x="566928" y="1426464"/>
            <a:ext cx="1920240" cy="18288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placed after training</a:t>
            </a:r>
            <a:endParaRPr lang="en-US" sz="950" dirty="0"/>
          </a:p>
        </p:txBody>
      </p:sp>
      <p:sp>
        <p:nvSpPr>
          <p:cNvPr id="16" name="Shape 13"/>
          <p:cNvSpPr/>
          <p:nvPr/>
        </p:nvSpPr>
        <p:spPr>
          <a:xfrm>
            <a:off x="566928" y="1682496"/>
            <a:ext cx="1737360" cy="64008"/>
          </a:xfrm>
          <a:prstGeom prst="rect">
            <a:avLst/>
          </a:prstGeom>
          <a:solidFill>
            <a:srgbClr val="4A4494"/>
          </a:solidFill>
          <a:ln w="12700">
            <a:solidFill>
              <a:srgbClr val="4A4494"/>
            </a:solidFill>
            <a:prstDash val="solid"/>
          </a:ln>
        </p:spPr>
      </p:sp>
      <p:sp>
        <p:nvSpPr>
          <p:cNvPr id="17" name="Shape 14"/>
          <p:cNvSpPr/>
          <p:nvPr/>
        </p:nvSpPr>
        <p:spPr>
          <a:xfrm>
            <a:off x="566928" y="1682496"/>
            <a:ext cx="712318" cy="64008"/>
          </a:xfrm>
          <a:prstGeom prst="rect">
            <a:avLst/>
          </a:prstGeom>
          <a:solidFill>
            <a:srgbClr val="C9C6E8"/>
          </a:solidFill>
          <a:ln w="12700">
            <a:solidFill>
              <a:srgbClr val="C9C6E8"/>
            </a:solidFill>
            <a:prstDash val="solid"/>
          </a:ln>
        </p:spPr>
      </p:sp>
      <p:sp>
        <p:nvSpPr>
          <p:cNvPr id="18" name="Shape 15"/>
          <p:cNvSpPr/>
          <p:nvPr/>
        </p:nvSpPr>
        <p:spPr>
          <a:xfrm>
            <a:off x="1728216" y="1659636"/>
            <a:ext cx="109728" cy="109728"/>
          </a:xfrm>
          <a:prstGeom prst="ellipse">
            <a:avLst/>
          </a:prstGeom>
          <a:solidFill>
            <a:srgbClr val="F2A33A"/>
          </a:solidFill>
          <a:ln w="9525">
            <a:solidFill>
              <a:srgbClr val="26215C"/>
            </a:solidFill>
            <a:prstDash val="solid"/>
          </a:ln>
        </p:spPr>
      </p:sp>
      <p:sp>
        <p:nvSpPr>
          <p:cNvPr id="19" name="Text 16"/>
          <p:cNvSpPr txBox="1"/>
          <p:nvPr/>
        </p:nvSpPr>
        <p:spPr>
          <a:xfrm>
            <a:off x="566928" y="1828800"/>
            <a:ext cx="1874520" cy="457200"/>
          </a:xfrm>
          <a:prstGeom prst="rect">
            <a:avLst/>
          </a:prstGeom>
          <a:noFill/>
          <a:ln/>
        </p:spPr>
        <p:txBody>
          <a:bodyPr wrap="square" lIns="0" tIns="0" rIns="0" bIns="0" rtlCol="0" anchor="t"/>
          <a:lstStyle/>
          <a:p>
            <a:pPr indent="0" marL="0">
              <a:buNone/>
            </a:pPr>
            <a:r>
              <a:rPr lang="en-US" sz="800" dirty="0">
                <a:solidFill>
                  <a:srgbClr val="C9C6E8"/>
                </a:solidFill>
                <a:latin typeface="Calibri" pitchFamily="34" charset="0"/>
                <a:ea typeface="Calibri" pitchFamily="34" charset="-122"/>
                <a:cs typeface="Calibri" pitchFamily="34" charset="-120"/>
              </a:rPr>
              <a:t>CAG found 41%; 70% is the GIA target</a:t>
            </a:r>
            <a:endParaRPr lang="en-US" sz="800" dirty="0"/>
          </a:p>
        </p:txBody>
      </p:sp>
      <p:sp>
        <p:nvSpPr>
          <p:cNvPr id="20" name="Text 17"/>
          <p:cNvSpPr txBox="1"/>
          <p:nvPr/>
        </p:nvSpPr>
        <p:spPr>
          <a:xfrm>
            <a:off x="2670048" y="1024128"/>
            <a:ext cx="1920240" cy="384048"/>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62% → 73%</a:t>
            </a:r>
            <a:endParaRPr lang="en-US" sz="2100" dirty="0"/>
          </a:p>
        </p:txBody>
      </p:sp>
      <p:sp>
        <p:nvSpPr>
          <p:cNvPr id="21" name="Text 18"/>
          <p:cNvSpPr txBox="1"/>
          <p:nvPr/>
        </p:nvSpPr>
        <p:spPr>
          <a:xfrm>
            <a:off x="2670048" y="1426464"/>
            <a:ext cx="1920240" cy="18288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stay in the job</a:t>
            </a:r>
            <a:endParaRPr lang="en-US" sz="950" dirty="0"/>
          </a:p>
        </p:txBody>
      </p:sp>
      <p:sp>
        <p:nvSpPr>
          <p:cNvPr id="22" name="Shape 19"/>
          <p:cNvSpPr/>
          <p:nvPr/>
        </p:nvSpPr>
        <p:spPr>
          <a:xfrm>
            <a:off x="2670048" y="1682496"/>
            <a:ext cx="1737360" cy="64008"/>
          </a:xfrm>
          <a:prstGeom prst="rect">
            <a:avLst/>
          </a:prstGeom>
          <a:solidFill>
            <a:srgbClr val="4A4494"/>
          </a:solidFill>
          <a:ln w="12700">
            <a:solidFill>
              <a:srgbClr val="4A4494"/>
            </a:solidFill>
            <a:prstDash val="solid"/>
          </a:ln>
        </p:spPr>
      </p:sp>
      <p:sp>
        <p:nvSpPr>
          <p:cNvPr id="23" name="Shape 20"/>
          <p:cNvSpPr/>
          <p:nvPr/>
        </p:nvSpPr>
        <p:spPr>
          <a:xfrm>
            <a:off x="2670048" y="1682496"/>
            <a:ext cx="1077163" cy="64008"/>
          </a:xfrm>
          <a:prstGeom prst="rect">
            <a:avLst/>
          </a:prstGeom>
          <a:solidFill>
            <a:srgbClr val="C9C6E8"/>
          </a:solidFill>
          <a:ln w="12700">
            <a:solidFill>
              <a:srgbClr val="C9C6E8"/>
            </a:solidFill>
            <a:prstDash val="solid"/>
          </a:ln>
        </p:spPr>
      </p:sp>
      <p:sp>
        <p:nvSpPr>
          <p:cNvPr id="24" name="Shape 21"/>
          <p:cNvSpPr/>
          <p:nvPr/>
        </p:nvSpPr>
        <p:spPr>
          <a:xfrm>
            <a:off x="3883457" y="1659636"/>
            <a:ext cx="109728" cy="109728"/>
          </a:xfrm>
          <a:prstGeom prst="ellipse">
            <a:avLst/>
          </a:prstGeom>
          <a:solidFill>
            <a:srgbClr val="F2A33A"/>
          </a:solidFill>
          <a:ln w="9525">
            <a:solidFill>
              <a:srgbClr val="26215C"/>
            </a:solidFill>
            <a:prstDash val="solid"/>
          </a:ln>
        </p:spPr>
      </p:sp>
      <p:sp>
        <p:nvSpPr>
          <p:cNvPr id="25" name="Text 22"/>
          <p:cNvSpPr txBox="1"/>
          <p:nvPr/>
        </p:nvSpPr>
        <p:spPr>
          <a:xfrm>
            <a:off x="2670048" y="1828800"/>
            <a:ext cx="1874520" cy="457200"/>
          </a:xfrm>
          <a:prstGeom prst="rect">
            <a:avLst/>
          </a:prstGeom>
          <a:noFill/>
          <a:ln/>
        </p:spPr>
        <p:txBody>
          <a:bodyPr wrap="square" lIns="0" tIns="0" rIns="0" bIns="0" rtlCol="0" anchor="t"/>
          <a:lstStyle/>
          <a:p>
            <a:pPr indent="0" marL="0">
              <a:buNone/>
            </a:pPr>
            <a:r>
              <a:rPr lang="en-US" sz="800" dirty="0">
                <a:solidFill>
                  <a:srgbClr val="C9C6E8"/>
                </a:solidFill>
                <a:latin typeface="Calibri" pitchFamily="34" charset="0"/>
                <a:ea typeface="Calibri" pitchFamily="34" charset="-122"/>
                <a:cs typeface="Calibri" pitchFamily="34" charset="-120"/>
              </a:rPr>
              <a:t>when told real pay and place first (J-PAL trial)</a:t>
            </a:r>
            <a:endParaRPr lang="en-US" sz="800" dirty="0"/>
          </a:p>
        </p:txBody>
      </p:sp>
      <p:sp>
        <p:nvSpPr>
          <p:cNvPr id="26" name="Text 23"/>
          <p:cNvSpPr txBox="1"/>
          <p:nvPr/>
        </p:nvSpPr>
        <p:spPr>
          <a:xfrm>
            <a:off x="4773168" y="1024128"/>
            <a:ext cx="1920240" cy="384048"/>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109 min</a:t>
            </a:r>
            <a:endParaRPr lang="en-US" sz="2100" dirty="0"/>
          </a:p>
        </p:txBody>
      </p:sp>
      <p:sp>
        <p:nvSpPr>
          <p:cNvPr id="27" name="Text 24"/>
          <p:cNvSpPr txBox="1"/>
          <p:nvPr/>
        </p:nvSpPr>
        <p:spPr>
          <a:xfrm>
            <a:off x="4773168" y="1426464"/>
            <a:ext cx="1920240" cy="18288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officer time saved per person</a:t>
            </a:r>
            <a:endParaRPr lang="en-US" sz="950" dirty="0"/>
          </a:p>
        </p:txBody>
      </p:sp>
      <p:sp>
        <p:nvSpPr>
          <p:cNvPr id="28" name="Text 25"/>
          <p:cNvSpPr txBox="1"/>
          <p:nvPr/>
        </p:nvSpPr>
        <p:spPr>
          <a:xfrm>
            <a:off x="4773168" y="1664208"/>
            <a:ext cx="1874520" cy="457200"/>
          </a:xfrm>
          <a:prstGeom prst="rect">
            <a:avLst/>
          </a:prstGeom>
          <a:noFill/>
          <a:ln/>
        </p:spPr>
        <p:txBody>
          <a:bodyPr wrap="square" lIns="0" tIns="0" rIns="0" bIns="0" rtlCol="0" anchor="t"/>
          <a:lstStyle/>
          <a:p>
            <a:pPr indent="0" marL="0">
              <a:buNone/>
            </a:pPr>
            <a:r>
              <a:rPr lang="en-US" sz="800" dirty="0">
                <a:solidFill>
                  <a:srgbClr val="C9C6E8"/>
                </a:solidFill>
                <a:latin typeface="Calibri" pitchFamily="34" charset="0"/>
                <a:ea typeface="Calibri" pitchFamily="34" charset="-122"/>
                <a:cs typeface="Calibri" pitchFamily="34" charset="-120"/>
              </a:rPr>
              <a:t>≈ 52 staff-years a year · our estimate</a:t>
            </a:r>
            <a:endParaRPr lang="en-US" sz="800" dirty="0"/>
          </a:p>
        </p:txBody>
      </p:sp>
      <p:sp>
        <p:nvSpPr>
          <p:cNvPr id="29" name="Text 26"/>
          <p:cNvSpPr txBox="1"/>
          <p:nvPr/>
        </p:nvSpPr>
        <p:spPr>
          <a:xfrm>
            <a:off x="6876288" y="1024128"/>
            <a:ext cx="1920240" cy="384048"/>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₹44,136</a:t>
            </a:r>
            <a:endParaRPr lang="en-US" sz="2100" dirty="0"/>
          </a:p>
        </p:txBody>
      </p:sp>
      <p:sp>
        <p:nvSpPr>
          <p:cNvPr id="30" name="Text 27"/>
          <p:cNvSpPr txBox="1"/>
          <p:nvPr/>
        </p:nvSpPr>
        <p:spPr>
          <a:xfrm>
            <a:off x="6876288" y="1426464"/>
            <a:ext cx="1920240" cy="18288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saved on one small-business loan</a:t>
            </a:r>
            <a:endParaRPr lang="en-US" sz="950" dirty="0"/>
          </a:p>
        </p:txBody>
      </p:sp>
      <p:sp>
        <p:nvSpPr>
          <p:cNvPr id="31" name="Text 28"/>
          <p:cNvSpPr txBox="1"/>
          <p:nvPr/>
        </p:nvSpPr>
        <p:spPr>
          <a:xfrm>
            <a:off x="6876288" y="1664208"/>
            <a:ext cx="1874520" cy="457200"/>
          </a:xfrm>
          <a:prstGeom prst="rect">
            <a:avLst/>
          </a:prstGeom>
          <a:noFill/>
          <a:ln/>
        </p:spPr>
        <p:txBody>
          <a:bodyPr wrap="square" lIns="0" tIns="0" rIns="0" bIns="0" rtlCol="0" anchor="t"/>
          <a:lstStyle/>
          <a:p>
            <a:pPr indent="0" marL="0">
              <a:buNone/>
            </a:pPr>
            <a:r>
              <a:rPr lang="en-US" sz="800" dirty="0">
                <a:solidFill>
                  <a:srgbClr val="C9C6E8"/>
                </a:solidFill>
                <a:latin typeface="Calibri" pitchFamily="34" charset="0"/>
                <a:ea typeface="Calibri" pitchFamily="34" charset="-122"/>
                <a:cs typeface="Calibri" pitchFamily="34" charset="-120"/>
              </a:rPr>
              <a:t>₹80,000 tailoring unit, right money path · our calculation</a:t>
            </a:r>
            <a:endParaRPr lang="en-US" sz="800" dirty="0"/>
          </a:p>
        </p:txBody>
      </p:sp>
      <p:sp>
        <p:nvSpPr>
          <p:cNvPr id="32" name="Shape 29"/>
          <p:cNvSpPr/>
          <p:nvPr/>
        </p:nvSpPr>
        <p:spPr>
          <a:xfrm>
            <a:off x="365760" y="2523744"/>
            <a:ext cx="310896" cy="310896"/>
          </a:xfrm>
          <a:prstGeom prst="ellipse">
            <a:avLst/>
          </a:prstGeom>
          <a:solidFill>
            <a:srgbClr val="EEEDF7"/>
          </a:solidFill>
          <a:ln w="12700">
            <a:solidFill>
              <a:srgbClr val="EEEDF7"/>
            </a:solidFill>
            <a:prstDash val="solid"/>
          </a:ln>
        </p:spPr>
      </p:sp>
      <p:pic>
        <p:nvPicPr>
          <p:cNvPr id="33" name="Image 1" descr="preencoded.png">    </p:cNvPr>
          <p:cNvPicPr>
            <a:picLocks noChangeAspect="1"/>
          </p:cNvPicPr>
          <p:nvPr/>
        </p:nvPicPr>
        <p:blipFill>
          <a:blip r:embed="rId2"/>
          <a:stretch>
            <a:fillRect/>
          </a:stretch>
        </p:blipFill>
        <p:spPr>
          <a:xfrm>
            <a:off x="446593" y="2604577"/>
            <a:ext cx="149230" cy="149230"/>
          </a:xfrm>
          <a:prstGeom prst="rect">
            <a:avLst/>
          </a:prstGeom>
        </p:spPr>
      </p:pic>
      <p:sp>
        <p:nvSpPr>
          <p:cNvPr id="34" name="Text 30"/>
          <p:cNvSpPr txBox="1"/>
          <p:nvPr/>
        </p:nvSpPr>
        <p:spPr>
          <a:xfrm>
            <a:off x="777240" y="2523744"/>
            <a:ext cx="8046720" cy="310896"/>
          </a:xfrm>
          <a:prstGeom prst="rect">
            <a:avLst/>
          </a:prstGeom>
          <a:noFill/>
          <a:ln/>
        </p:spPr>
        <p:txBody>
          <a:bodyPr wrap="square" lIns="0" tIns="0" rIns="0" bIns="0" rtlCol="0" anchor="ctr"/>
          <a:lstStyle/>
          <a:p>
            <a:pPr indent="0" marL="0">
              <a:buNone/>
            </a:pPr>
            <a:r>
              <a:rPr lang="en-US" sz="1300" b="1" dirty="0">
                <a:solidFill>
                  <a:srgbClr val="C97A12"/>
                </a:solidFill>
                <a:latin typeface="Calibri" pitchFamily="34" charset="0"/>
                <a:ea typeface="Calibri" pitchFamily="34" charset="-122"/>
                <a:cs typeface="Calibri" pitchFamily="34" charset="-120"/>
              </a:rPr>
              <a:t>~50,000</a:t>
            </a:r>
            <a:pPr indent="0" marL="0">
              <a:buNone/>
            </a:pPr>
            <a:r>
              <a:rPr lang="en-US" sz="950" dirty="0">
                <a:solidFill>
                  <a:srgbClr val="1F2937"/>
                </a:solidFill>
                <a:latin typeface="Calibri" pitchFamily="34" charset="0"/>
                <a:ea typeface="Calibri" pitchFamily="34" charset="-122"/>
                <a:cs typeface="Calibri" pitchFamily="34" charset="-120"/>
              </a:rPr>
              <a:t> GIA beneficiaries a year      </a:t>
            </a:r>
            <a:pPr indent="0" marL="0">
              <a:buNone/>
            </a:pPr>
            <a:r>
              <a:rPr lang="en-US" sz="1300" b="1" dirty="0">
                <a:solidFill>
                  <a:srgbClr val="C97A12"/>
                </a:solidFill>
                <a:latin typeface="Calibri" pitchFamily="34" charset="0"/>
                <a:ea typeface="Calibri" pitchFamily="34" charset="-122"/>
                <a:cs typeface="Calibri" pitchFamily="34" charset="-120"/>
              </a:rPr>
              <a:t>47,000+</a:t>
            </a:r>
            <a:pPr indent="0" marL="0">
              <a:buNone/>
            </a:pPr>
            <a:r>
              <a:rPr lang="en-US" sz="950" dirty="0">
                <a:solidFill>
                  <a:srgbClr val="1F2937"/>
                </a:solidFill>
                <a:latin typeface="Calibri" pitchFamily="34" charset="0"/>
                <a:ea typeface="Calibri" pitchFamily="34" charset="-122"/>
                <a:cs typeface="Calibri" pitchFamily="34" charset="-120"/>
              </a:rPr>
              <a:t> SC-majority villages already on the PM-AJAY dashboard</a:t>
            </a:r>
            <a:endParaRPr lang="en-US" sz="950" dirty="0"/>
          </a:p>
        </p:txBody>
      </p:sp>
      <p:sp>
        <p:nvSpPr>
          <p:cNvPr id="35" name="Text 31"/>
          <p:cNvSpPr txBox="1"/>
          <p:nvPr/>
        </p:nvSpPr>
        <p:spPr>
          <a:xfrm>
            <a:off x="365760" y="2962656"/>
            <a:ext cx="457200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Who benefits, and how</a:t>
            </a:r>
            <a:endParaRPr lang="en-US" sz="1300" dirty="0"/>
          </a:p>
        </p:txBody>
      </p:sp>
      <p:sp>
        <p:nvSpPr>
          <p:cNvPr id="36" name="Shape 32"/>
          <p:cNvSpPr/>
          <p:nvPr/>
        </p:nvSpPr>
        <p:spPr>
          <a:xfrm>
            <a:off x="822960" y="3291840"/>
            <a:ext cx="438912" cy="438912"/>
          </a:xfrm>
          <a:prstGeom prst="ellipse">
            <a:avLst/>
          </a:prstGeom>
          <a:solidFill>
            <a:srgbClr val="FFFFFF"/>
          </a:solidFill>
          <a:ln w="19050">
            <a:solidFill>
              <a:srgbClr val="F2A33A"/>
            </a:solidFill>
            <a:prstDash val="solid"/>
          </a:ln>
        </p:spPr>
      </p:sp>
      <p:pic>
        <p:nvPicPr>
          <p:cNvPr id="37" name="Image 2" descr="preencoded.png">    </p:cNvPr>
          <p:cNvPicPr>
            <a:picLocks noChangeAspect="1"/>
          </p:cNvPicPr>
          <p:nvPr/>
        </p:nvPicPr>
        <p:blipFill>
          <a:blip r:embed="rId3"/>
          <a:stretch>
            <a:fillRect/>
          </a:stretch>
        </p:blipFill>
        <p:spPr>
          <a:xfrm>
            <a:off x="937077" y="3405957"/>
            <a:ext cx="210678" cy="210678"/>
          </a:xfrm>
          <a:prstGeom prst="rect">
            <a:avLst/>
          </a:prstGeom>
        </p:spPr>
      </p:pic>
      <p:sp>
        <p:nvSpPr>
          <p:cNvPr id="38" name="Text 33"/>
          <p:cNvSpPr txBox="1"/>
          <p:nvPr/>
        </p:nvSpPr>
        <p:spPr>
          <a:xfrm>
            <a:off x="365760" y="3785616"/>
            <a:ext cx="1353312" cy="182880"/>
          </a:xfrm>
          <a:prstGeom prst="rect">
            <a:avLst/>
          </a:prstGeom>
          <a:noFill/>
          <a:ln/>
        </p:spPr>
        <p:txBody>
          <a:bodyPr wrap="square" lIns="0" tIns="0" rIns="0" bIns="0" rtlCol="0" anchor="t"/>
          <a:lstStyle/>
          <a:p>
            <a:pPr algn="ctr" indent="0" marL="0">
              <a:buNone/>
            </a:pPr>
            <a:r>
              <a:rPr lang="en-US" sz="950" b="1" dirty="0">
                <a:solidFill>
                  <a:srgbClr val="26215C"/>
                </a:solidFill>
                <a:latin typeface="Calibri" pitchFamily="34" charset="0"/>
                <a:ea typeface="Calibri" pitchFamily="34" charset="-122"/>
                <a:cs typeface="Calibri" pitchFamily="34" charset="-120"/>
              </a:rPr>
              <a:t>SC job seeker</a:t>
            </a:r>
            <a:endParaRPr lang="en-US" sz="950" dirty="0"/>
          </a:p>
        </p:txBody>
      </p:sp>
      <p:sp>
        <p:nvSpPr>
          <p:cNvPr id="39" name="Text 34"/>
          <p:cNvSpPr txBox="1"/>
          <p:nvPr/>
        </p:nvSpPr>
        <p:spPr>
          <a:xfrm>
            <a:off x="384048" y="3986784"/>
            <a:ext cx="1316736" cy="457200"/>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right course first time, free, own language, no middleman</a:t>
            </a:r>
            <a:endParaRPr lang="en-US" sz="800" dirty="0"/>
          </a:p>
        </p:txBody>
      </p:sp>
      <p:sp>
        <p:nvSpPr>
          <p:cNvPr id="40" name="Shape 35"/>
          <p:cNvSpPr/>
          <p:nvPr/>
        </p:nvSpPr>
        <p:spPr>
          <a:xfrm>
            <a:off x="2249424" y="3291840"/>
            <a:ext cx="438912" cy="438912"/>
          </a:xfrm>
          <a:prstGeom prst="ellipse">
            <a:avLst/>
          </a:prstGeom>
          <a:solidFill>
            <a:srgbClr val="FFFFFF"/>
          </a:solidFill>
          <a:ln w="19050">
            <a:solidFill>
              <a:srgbClr val="F2A33A"/>
            </a:solidFill>
            <a:prstDash val="solid"/>
          </a:ln>
        </p:spPr>
      </p:sp>
      <p:pic>
        <p:nvPicPr>
          <p:cNvPr id="41" name="Image 3" descr="preencoded.png">    </p:cNvPr>
          <p:cNvPicPr>
            <a:picLocks noChangeAspect="1"/>
          </p:cNvPicPr>
          <p:nvPr/>
        </p:nvPicPr>
        <p:blipFill>
          <a:blip r:embed="rId4"/>
          <a:stretch>
            <a:fillRect/>
          </a:stretch>
        </p:blipFill>
        <p:spPr>
          <a:xfrm>
            <a:off x="2363541" y="3405957"/>
            <a:ext cx="210678" cy="210678"/>
          </a:xfrm>
          <a:prstGeom prst="rect">
            <a:avLst/>
          </a:prstGeom>
        </p:spPr>
      </p:pic>
      <p:sp>
        <p:nvSpPr>
          <p:cNvPr id="42" name="Text 36"/>
          <p:cNvSpPr txBox="1"/>
          <p:nvPr/>
        </p:nvSpPr>
        <p:spPr>
          <a:xfrm>
            <a:off x="1792224" y="3785616"/>
            <a:ext cx="1353312" cy="182880"/>
          </a:xfrm>
          <a:prstGeom prst="rect">
            <a:avLst/>
          </a:prstGeom>
          <a:noFill/>
          <a:ln/>
        </p:spPr>
        <p:txBody>
          <a:bodyPr wrap="square" lIns="0" tIns="0" rIns="0" bIns="0" rtlCol="0" anchor="t"/>
          <a:lstStyle/>
          <a:p>
            <a:pPr algn="ctr" indent="0" marL="0">
              <a:buNone/>
            </a:pPr>
            <a:r>
              <a:rPr lang="en-US" sz="950" b="1" dirty="0">
                <a:solidFill>
                  <a:srgbClr val="26215C"/>
                </a:solidFill>
                <a:latin typeface="Calibri" pitchFamily="34" charset="0"/>
                <a:ea typeface="Calibri" pitchFamily="34" charset="-122"/>
                <a:cs typeface="Calibri" pitchFamily="34" charset="-120"/>
              </a:rPr>
              <a:t>Women</a:t>
            </a:r>
            <a:endParaRPr lang="en-US" sz="950" dirty="0"/>
          </a:p>
        </p:txBody>
      </p:sp>
      <p:sp>
        <p:nvSpPr>
          <p:cNvPr id="43" name="Text 37"/>
          <p:cNvSpPr txBox="1"/>
          <p:nvPr/>
        </p:nvSpPr>
        <p:spPr>
          <a:xfrm>
            <a:off x="1810512" y="3986784"/>
            <a:ext cx="1316736" cy="457200"/>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keypad-only option, “safe to talk?”, women-only batches</a:t>
            </a:r>
            <a:endParaRPr lang="en-US" sz="800" dirty="0"/>
          </a:p>
        </p:txBody>
      </p:sp>
      <p:sp>
        <p:nvSpPr>
          <p:cNvPr id="44" name="Shape 38"/>
          <p:cNvSpPr/>
          <p:nvPr/>
        </p:nvSpPr>
        <p:spPr>
          <a:xfrm>
            <a:off x="3675888" y="3291840"/>
            <a:ext cx="438912" cy="438912"/>
          </a:xfrm>
          <a:prstGeom prst="ellipse">
            <a:avLst/>
          </a:prstGeom>
          <a:solidFill>
            <a:srgbClr val="FFFFFF"/>
          </a:solidFill>
          <a:ln w="19050">
            <a:solidFill>
              <a:srgbClr val="F2A33A"/>
            </a:solidFill>
            <a:prstDash val="solid"/>
          </a:ln>
        </p:spPr>
      </p:sp>
      <p:pic>
        <p:nvPicPr>
          <p:cNvPr id="45" name="Image 4" descr="preencoded.png">    </p:cNvPr>
          <p:cNvPicPr>
            <a:picLocks noChangeAspect="1"/>
          </p:cNvPicPr>
          <p:nvPr/>
        </p:nvPicPr>
        <p:blipFill>
          <a:blip r:embed="rId5"/>
          <a:stretch>
            <a:fillRect/>
          </a:stretch>
        </p:blipFill>
        <p:spPr>
          <a:xfrm>
            <a:off x="3790005" y="3405957"/>
            <a:ext cx="210678" cy="210678"/>
          </a:xfrm>
          <a:prstGeom prst="rect">
            <a:avLst/>
          </a:prstGeom>
        </p:spPr>
      </p:pic>
      <p:sp>
        <p:nvSpPr>
          <p:cNvPr id="46" name="Text 39"/>
          <p:cNvSpPr txBox="1"/>
          <p:nvPr/>
        </p:nvSpPr>
        <p:spPr>
          <a:xfrm>
            <a:off x="3218688" y="3785616"/>
            <a:ext cx="1353312" cy="182880"/>
          </a:xfrm>
          <a:prstGeom prst="rect">
            <a:avLst/>
          </a:prstGeom>
          <a:noFill/>
          <a:ln/>
        </p:spPr>
        <p:txBody>
          <a:bodyPr wrap="square" lIns="0" tIns="0" rIns="0" bIns="0" rtlCol="0" anchor="t"/>
          <a:lstStyle/>
          <a:p>
            <a:pPr algn="ctr" indent="0" marL="0">
              <a:buNone/>
            </a:pPr>
            <a:r>
              <a:rPr lang="en-US" sz="950" b="1" dirty="0">
                <a:solidFill>
                  <a:srgbClr val="26215C"/>
                </a:solidFill>
                <a:latin typeface="Calibri" pitchFamily="34" charset="0"/>
                <a:ea typeface="Calibri" pitchFamily="34" charset="-122"/>
                <a:cs typeface="Calibri" pitchFamily="34" charset="-120"/>
              </a:rPr>
              <a:t>District officers</a:t>
            </a:r>
            <a:endParaRPr lang="en-US" sz="950" dirty="0"/>
          </a:p>
        </p:txBody>
      </p:sp>
      <p:sp>
        <p:nvSpPr>
          <p:cNvPr id="47" name="Text 40"/>
          <p:cNvSpPr txBox="1"/>
          <p:nvPr/>
        </p:nvSpPr>
        <p:spPr>
          <a:xfrm>
            <a:off x="3236976" y="3986784"/>
            <a:ext cx="1316736" cy="457200"/>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ready profiles, less paperwork, one case record</a:t>
            </a:r>
            <a:endParaRPr lang="en-US" sz="800" dirty="0"/>
          </a:p>
        </p:txBody>
      </p:sp>
      <p:sp>
        <p:nvSpPr>
          <p:cNvPr id="48" name="Shape 41"/>
          <p:cNvSpPr/>
          <p:nvPr/>
        </p:nvSpPr>
        <p:spPr>
          <a:xfrm>
            <a:off x="5102352" y="3291840"/>
            <a:ext cx="438912" cy="438912"/>
          </a:xfrm>
          <a:prstGeom prst="ellipse">
            <a:avLst/>
          </a:prstGeom>
          <a:solidFill>
            <a:srgbClr val="FFFFFF"/>
          </a:solidFill>
          <a:ln w="19050">
            <a:solidFill>
              <a:srgbClr val="F2A33A"/>
            </a:solidFill>
            <a:prstDash val="solid"/>
          </a:ln>
        </p:spPr>
      </p:sp>
      <p:pic>
        <p:nvPicPr>
          <p:cNvPr id="49" name="Image 5" descr="preencoded.png">    </p:cNvPr>
          <p:cNvPicPr>
            <a:picLocks noChangeAspect="1"/>
          </p:cNvPicPr>
          <p:nvPr/>
        </p:nvPicPr>
        <p:blipFill>
          <a:blip r:embed="rId6"/>
          <a:stretch>
            <a:fillRect/>
          </a:stretch>
        </p:blipFill>
        <p:spPr>
          <a:xfrm>
            <a:off x="5216469" y="3405957"/>
            <a:ext cx="210678" cy="210678"/>
          </a:xfrm>
          <a:prstGeom prst="rect">
            <a:avLst/>
          </a:prstGeom>
        </p:spPr>
      </p:pic>
      <p:sp>
        <p:nvSpPr>
          <p:cNvPr id="50" name="Text 42"/>
          <p:cNvSpPr txBox="1"/>
          <p:nvPr/>
        </p:nvSpPr>
        <p:spPr>
          <a:xfrm>
            <a:off x="4645152" y="3785616"/>
            <a:ext cx="1353312" cy="182880"/>
          </a:xfrm>
          <a:prstGeom prst="rect">
            <a:avLst/>
          </a:prstGeom>
          <a:noFill/>
          <a:ln/>
        </p:spPr>
        <p:txBody>
          <a:bodyPr wrap="square" lIns="0" tIns="0" rIns="0" bIns="0" rtlCol="0" anchor="t"/>
          <a:lstStyle/>
          <a:p>
            <a:pPr algn="ctr" indent="0" marL="0">
              <a:buNone/>
            </a:pPr>
            <a:r>
              <a:rPr lang="en-US" sz="950" b="1" dirty="0">
                <a:solidFill>
                  <a:srgbClr val="26215C"/>
                </a:solidFill>
                <a:latin typeface="Calibri" pitchFamily="34" charset="0"/>
                <a:ea typeface="Calibri" pitchFamily="34" charset="-122"/>
                <a:cs typeface="Calibri" pitchFamily="34" charset="-120"/>
              </a:rPr>
              <a:t>Training centres</a:t>
            </a:r>
            <a:endParaRPr lang="en-US" sz="950" dirty="0"/>
          </a:p>
        </p:txBody>
      </p:sp>
      <p:sp>
        <p:nvSpPr>
          <p:cNvPr id="51" name="Text 43"/>
          <p:cNvSpPr txBox="1"/>
          <p:nvPr/>
        </p:nvSpPr>
        <p:spPr>
          <a:xfrm>
            <a:off x="4663440" y="3986784"/>
            <a:ext cx="1316736" cy="457200"/>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trainees who fit, fewer dropouts</a:t>
            </a:r>
            <a:endParaRPr lang="en-US" sz="800" dirty="0"/>
          </a:p>
        </p:txBody>
      </p:sp>
      <p:sp>
        <p:nvSpPr>
          <p:cNvPr id="52" name="Shape 44"/>
          <p:cNvSpPr/>
          <p:nvPr/>
        </p:nvSpPr>
        <p:spPr>
          <a:xfrm>
            <a:off x="6528816" y="3291840"/>
            <a:ext cx="438912" cy="438912"/>
          </a:xfrm>
          <a:prstGeom prst="ellipse">
            <a:avLst/>
          </a:prstGeom>
          <a:solidFill>
            <a:srgbClr val="FFFFFF"/>
          </a:solidFill>
          <a:ln w="19050">
            <a:solidFill>
              <a:srgbClr val="F2A33A"/>
            </a:solidFill>
            <a:prstDash val="solid"/>
          </a:ln>
        </p:spPr>
      </p:sp>
      <p:pic>
        <p:nvPicPr>
          <p:cNvPr id="53" name="Image 6" descr="preencoded.png">    </p:cNvPr>
          <p:cNvPicPr>
            <a:picLocks noChangeAspect="1"/>
          </p:cNvPicPr>
          <p:nvPr/>
        </p:nvPicPr>
        <p:blipFill>
          <a:blip r:embed="rId7"/>
          <a:stretch>
            <a:fillRect/>
          </a:stretch>
        </p:blipFill>
        <p:spPr>
          <a:xfrm>
            <a:off x="6642933" y="3405957"/>
            <a:ext cx="210678" cy="210678"/>
          </a:xfrm>
          <a:prstGeom prst="rect">
            <a:avLst/>
          </a:prstGeom>
        </p:spPr>
      </p:pic>
      <p:sp>
        <p:nvSpPr>
          <p:cNvPr id="54" name="Text 45"/>
          <p:cNvSpPr txBox="1"/>
          <p:nvPr/>
        </p:nvSpPr>
        <p:spPr>
          <a:xfrm>
            <a:off x="6071616" y="3785616"/>
            <a:ext cx="1353312" cy="182880"/>
          </a:xfrm>
          <a:prstGeom prst="rect">
            <a:avLst/>
          </a:prstGeom>
          <a:noFill/>
          <a:ln/>
        </p:spPr>
        <p:txBody>
          <a:bodyPr wrap="square" lIns="0" tIns="0" rIns="0" bIns="0" rtlCol="0" anchor="t"/>
          <a:lstStyle/>
          <a:p>
            <a:pPr algn="ctr" indent="0" marL="0">
              <a:buNone/>
            </a:pPr>
            <a:r>
              <a:rPr lang="en-US" sz="950" b="1" dirty="0">
                <a:solidFill>
                  <a:srgbClr val="26215C"/>
                </a:solidFill>
                <a:latin typeface="Calibri" pitchFamily="34" charset="0"/>
                <a:ea typeface="Calibri" pitchFamily="34" charset="-122"/>
                <a:cs typeface="Calibri" pitchFamily="34" charset="-120"/>
              </a:rPr>
              <a:t>Banks · NSFDC</a:t>
            </a:r>
            <a:endParaRPr lang="en-US" sz="950" dirty="0"/>
          </a:p>
        </p:txBody>
      </p:sp>
      <p:sp>
        <p:nvSpPr>
          <p:cNvPr id="55" name="Text 46"/>
          <p:cNvSpPr txBox="1"/>
          <p:nvPr/>
        </p:nvSpPr>
        <p:spPr>
          <a:xfrm>
            <a:off x="6089904" y="3986784"/>
            <a:ext cx="1316736" cy="457200"/>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better-matched loan applicants</a:t>
            </a:r>
            <a:endParaRPr lang="en-US" sz="800" dirty="0"/>
          </a:p>
        </p:txBody>
      </p:sp>
      <p:sp>
        <p:nvSpPr>
          <p:cNvPr id="56" name="Shape 47"/>
          <p:cNvSpPr/>
          <p:nvPr/>
        </p:nvSpPr>
        <p:spPr>
          <a:xfrm>
            <a:off x="7955280" y="3291840"/>
            <a:ext cx="438912" cy="438912"/>
          </a:xfrm>
          <a:prstGeom prst="ellipse">
            <a:avLst/>
          </a:prstGeom>
          <a:solidFill>
            <a:srgbClr val="FFFFFF"/>
          </a:solidFill>
          <a:ln w="19050">
            <a:solidFill>
              <a:srgbClr val="F2A33A"/>
            </a:solidFill>
            <a:prstDash val="solid"/>
          </a:ln>
        </p:spPr>
      </p:sp>
      <p:pic>
        <p:nvPicPr>
          <p:cNvPr id="57" name="Image 7" descr="preencoded.png">    </p:cNvPr>
          <p:cNvPicPr>
            <a:picLocks noChangeAspect="1"/>
          </p:cNvPicPr>
          <p:nvPr/>
        </p:nvPicPr>
        <p:blipFill>
          <a:blip r:embed="rId8"/>
          <a:stretch>
            <a:fillRect/>
          </a:stretch>
        </p:blipFill>
        <p:spPr>
          <a:xfrm>
            <a:off x="8069397" y="3405957"/>
            <a:ext cx="210678" cy="210678"/>
          </a:xfrm>
          <a:prstGeom prst="rect">
            <a:avLst/>
          </a:prstGeom>
        </p:spPr>
      </p:pic>
      <p:sp>
        <p:nvSpPr>
          <p:cNvPr id="58" name="Text 48"/>
          <p:cNvSpPr txBox="1"/>
          <p:nvPr/>
        </p:nvSpPr>
        <p:spPr>
          <a:xfrm>
            <a:off x="7498080" y="3785616"/>
            <a:ext cx="1353312" cy="182880"/>
          </a:xfrm>
          <a:prstGeom prst="rect">
            <a:avLst/>
          </a:prstGeom>
          <a:noFill/>
          <a:ln/>
        </p:spPr>
        <p:txBody>
          <a:bodyPr wrap="square" lIns="0" tIns="0" rIns="0" bIns="0" rtlCol="0" anchor="t"/>
          <a:lstStyle/>
          <a:p>
            <a:pPr algn="ctr" indent="0" marL="0">
              <a:buNone/>
            </a:pPr>
            <a:r>
              <a:rPr lang="en-US" sz="950" b="1" dirty="0">
                <a:solidFill>
                  <a:srgbClr val="26215C"/>
                </a:solidFill>
                <a:latin typeface="Calibri" pitchFamily="34" charset="0"/>
                <a:ea typeface="Calibri" pitchFamily="34" charset="-122"/>
                <a:cs typeface="Calibri" pitchFamily="34" charset="-120"/>
              </a:rPr>
              <a:t>Ministry</a:t>
            </a:r>
            <a:endParaRPr lang="en-US" sz="950" dirty="0"/>
          </a:p>
        </p:txBody>
      </p:sp>
      <p:sp>
        <p:nvSpPr>
          <p:cNvPr id="59" name="Text 49"/>
          <p:cNvSpPr txBox="1"/>
          <p:nvPr/>
        </p:nvSpPr>
        <p:spPr>
          <a:xfrm>
            <a:off x="7516368" y="3986784"/>
            <a:ext cx="1316736" cy="457200"/>
          </a:xfrm>
          <a:prstGeom prst="rect">
            <a:avLst/>
          </a:prstGeom>
          <a:noFill/>
          <a:ln/>
        </p:spPr>
        <p:txBody>
          <a:bodyPr wrap="square" lIns="0" tIns="0" rIns="0" bIns="0" rtlCol="0" anchor="t"/>
          <a:lstStyle/>
          <a:p>
            <a:pPr algn="ctr" indent="0" marL="0">
              <a:buNone/>
            </a:pPr>
            <a:r>
              <a:rPr lang="en-US" sz="800" dirty="0">
                <a:solidFill>
                  <a:srgbClr val="1F2937"/>
                </a:solidFill>
                <a:latin typeface="Calibri" pitchFamily="34" charset="0"/>
                <a:ea typeface="Calibri" pitchFamily="34" charset="-122"/>
                <a:cs typeface="Calibri" pitchFamily="34" charset="-120"/>
              </a:rPr>
              <a:t>block-level demand for plans, outcomes it can trust</a:t>
            </a:r>
            <a:endParaRPr lang="en-US" sz="800" dirty="0"/>
          </a:p>
        </p:txBody>
      </p:sp>
      <p:sp>
        <p:nvSpPr>
          <p:cNvPr id="60" name="Text 50"/>
          <p:cNvSpPr txBox="1"/>
          <p:nvPr/>
        </p:nvSpPr>
        <p:spPr>
          <a:xfrm>
            <a:off x="365760" y="4498848"/>
            <a:ext cx="8503920" cy="201168"/>
          </a:xfrm>
          <a:prstGeom prst="rect">
            <a:avLst/>
          </a:prstGeom>
          <a:noFill/>
          <a:ln/>
        </p:spPr>
        <p:txBody>
          <a:bodyPr wrap="square" lIns="0" tIns="0" rIns="0" bIns="0" rtlCol="0" anchor="ctr"/>
          <a:lstStyle/>
          <a:p>
            <a:pPr algn="ctr" indent="0" marL="0">
              <a:buNone/>
            </a:pPr>
            <a:r>
              <a:rPr lang="en-US" sz="800" b="1" dirty="0">
                <a:solidFill>
                  <a:srgbClr val="26215C"/>
                </a:solidFill>
                <a:latin typeface="Calibri" pitchFamily="34" charset="0"/>
                <a:ea typeface="Calibri" pitchFamily="34" charset="-122"/>
                <a:cs typeface="Calibri" pitchFamily="34" charset="-120"/>
              </a:rPr>
              <a:t>Social </a:t>
            </a:r>
            <a:pPr algn="ctr" indent="0" marL="0">
              <a:buNone/>
            </a:pPr>
            <a:r>
              <a:rPr lang="en-US" sz="800" dirty="0">
                <a:solidFill>
                  <a:srgbClr val="6B7280"/>
                </a:solidFill>
                <a:latin typeface="Calibri" pitchFamily="34" charset="0"/>
                <a:ea typeface="Calibri" pitchFamily="34" charset="-122"/>
                <a:cs typeface="Calibri" pitchFamily="34" charset="-120"/>
              </a:rPr>
              <a:t>fair, right-first-time advice   ·   </a:t>
            </a:r>
            <a:pPr algn="ctr" indent="0" marL="0">
              <a:buNone/>
            </a:pPr>
            <a:r>
              <a:rPr lang="en-US" sz="800" b="1" dirty="0">
                <a:solidFill>
                  <a:srgbClr val="26215C"/>
                </a:solidFill>
                <a:latin typeface="Calibri" pitchFamily="34" charset="0"/>
                <a:ea typeface="Calibri" pitchFamily="34" charset="-122"/>
                <a:cs typeface="Calibri" pitchFamily="34" charset="-120"/>
              </a:rPr>
              <a:t>Economic </a:t>
            </a:r>
            <a:pPr algn="ctr" indent="0" marL="0">
              <a:buNone/>
            </a:pPr>
            <a:r>
              <a:rPr lang="en-US" sz="800" dirty="0">
                <a:solidFill>
                  <a:srgbClr val="6B7280"/>
                </a:solidFill>
                <a:latin typeface="Calibri" pitchFamily="34" charset="0"/>
                <a:ea typeface="Calibri" pitchFamily="34" charset="-122"/>
                <a:cs typeface="Calibri" pitchFamily="34" charset="-120"/>
              </a:rPr>
              <a:t>0.24% extra so the rest buys the right course   ·   </a:t>
            </a:r>
            <a:pPr algn="ctr" indent="0" marL="0">
              <a:buNone/>
            </a:pPr>
            <a:r>
              <a:rPr lang="en-US" sz="800" b="1" dirty="0">
                <a:solidFill>
                  <a:srgbClr val="26215C"/>
                </a:solidFill>
                <a:latin typeface="Calibri" pitchFamily="34" charset="0"/>
                <a:ea typeface="Calibri" pitchFamily="34" charset="-122"/>
                <a:cs typeface="Calibri" pitchFamily="34" charset="-120"/>
              </a:rPr>
              <a:t>Environment </a:t>
            </a:r>
            <a:pPr algn="ctr" indent="0" marL="0">
              <a:buNone/>
            </a:pPr>
            <a:r>
              <a:rPr lang="en-US" sz="800" dirty="0">
                <a:solidFill>
                  <a:srgbClr val="6B7280"/>
                </a:solidFill>
                <a:latin typeface="Calibri" pitchFamily="34" charset="0"/>
                <a:ea typeface="Calibri" pitchFamily="34" charset="-122"/>
                <a:cs typeface="Calibri" pitchFamily="34" charset="-120"/>
              </a:rPr>
              <a:t>no paper, fewer office trips</a:t>
            </a:r>
            <a:endParaRPr lang="en-US" sz="800" dirty="0"/>
          </a:p>
        </p:txBody>
      </p:sp>
      <p:sp>
        <p:nvSpPr>
          <p:cNvPr id="61" name="Text 51"/>
          <p:cNvSpPr txBox="1"/>
          <p:nvPr/>
        </p:nvSpPr>
        <p:spPr>
          <a:xfrm>
            <a:off x="2743200" y="4846320"/>
            <a:ext cx="3657600" cy="182880"/>
          </a:xfrm>
          <a:prstGeom prst="rect">
            <a:avLst/>
          </a:prstGeom>
          <a:noFill/>
          <a:ln/>
        </p:spPr>
        <p:txBody>
          <a:bodyPr wrap="square" lIns="0" tIns="0" rIns="0" bIns="0" rtlCol="0" anchor="ctr"/>
          <a:lstStyle/>
          <a:p>
            <a:pPr algn="ctr" indent="0" marL="0">
              <a:buNone/>
            </a:pPr>
            <a:r>
              <a:rPr lang="en-US" sz="850" b="1" dirty="0">
                <a:solidFill>
                  <a:srgbClr val="2E7D5B"/>
                </a:solidFill>
                <a:latin typeface="Calibri" pitchFamily="34" charset="0"/>
                <a:ea typeface="Calibri" pitchFamily="34" charset="-122"/>
                <a:cs typeface="Calibri" pitchFamily="34" charset="-120"/>
              </a:rPr>
              <a:t>Pilot: 6–8 blocks, results in 6 months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82880"/>
            <a:ext cx="5486400" cy="182880"/>
          </a:xfrm>
          <a:prstGeom prst="rect">
            <a:avLst/>
          </a:prstGeom>
          <a:noFill/>
          <a:ln/>
        </p:spPr>
        <p:txBody>
          <a:bodyPr wrap="square" lIns="0" tIns="0" rIns="0" bIns="0" rtlCol="0" anchor="t"/>
          <a:lstStyle/>
          <a:p>
            <a:pPr indent="0" marL="0">
              <a:buNone/>
            </a:pPr>
            <a:r>
              <a:rPr lang="en-US" sz="900" b="1" spc="200" kern="0" dirty="0">
                <a:solidFill>
                  <a:srgbClr val="C97A12"/>
                </a:solidFill>
                <a:latin typeface="Calibri" pitchFamily="34" charset="0"/>
                <a:ea typeface="Calibri" pitchFamily="34" charset="-122"/>
                <a:cs typeface="Calibri" pitchFamily="34" charset="-120"/>
              </a:rPr>
              <a:t>06  ·  RESEARCH &amp; REFERENCES</a:t>
            </a:r>
            <a:endParaRPr lang="en-US" sz="900" dirty="0"/>
          </a:p>
        </p:txBody>
      </p:sp>
      <p:sp>
        <p:nvSpPr>
          <p:cNvPr id="3" name="Text 1"/>
          <p:cNvSpPr txBox="1"/>
          <p:nvPr/>
        </p:nvSpPr>
        <p:spPr>
          <a:xfrm>
            <a:off x="365760" y="384048"/>
            <a:ext cx="6949440" cy="420624"/>
          </a:xfrm>
          <a:prstGeom prst="rect">
            <a:avLst/>
          </a:prstGeom>
          <a:noFill/>
          <a:ln/>
        </p:spPr>
        <p:txBody>
          <a:bodyPr wrap="square" lIns="0" tIns="0" rIns="0" bIns="0" rtlCol="0" anchor="ctr"/>
          <a:lstStyle/>
          <a:p>
            <a:pPr indent="0" marL="0">
              <a:buNone/>
            </a:pPr>
            <a:r>
              <a:rPr lang="en-US" sz="2400" b="1" dirty="0">
                <a:solidFill>
                  <a:srgbClr val="26215C"/>
                </a:solidFill>
                <a:latin typeface="Cambria" pitchFamily="34" charset="0"/>
                <a:ea typeface="Cambria" pitchFamily="34" charset="-122"/>
                <a:cs typeface="Cambria" pitchFamily="34" charset="-120"/>
              </a:rPr>
              <a:t>Where every number comes from</a:t>
            </a:r>
            <a:endParaRPr lang="en-US" sz="2400" dirty="0"/>
          </a:p>
        </p:txBody>
      </p:sp>
      <p:pic>
        <p:nvPicPr>
          <p:cNvPr id="4" name="Image 0" descr="/tmp/pw/sih_logo.png">    </p:cNvPr>
          <p:cNvPicPr>
            <a:picLocks noChangeAspect="1"/>
          </p:cNvPicPr>
          <p:nvPr/>
        </p:nvPicPr>
        <p:blipFill>
          <a:blip r:embed="rId1"/>
          <a:stretch>
            <a:fillRect/>
          </a:stretch>
        </p:blipFill>
        <p:spPr>
          <a:xfrm>
            <a:off x="7589520" y="128016"/>
            <a:ext cx="1325880" cy="626364"/>
          </a:xfrm>
          <a:prstGeom prst="rect">
            <a:avLst/>
          </a:prstGeom>
        </p:spPr>
      </p:pic>
      <p:sp>
        <p:nvSpPr>
          <p:cNvPr id="5" name="Text 2"/>
          <p:cNvSpPr txBox="1"/>
          <p:nvPr/>
        </p:nvSpPr>
        <p:spPr>
          <a:xfrm>
            <a:off x="365760" y="4846320"/>
            <a:ext cx="2286000" cy="182880"/>
          </a:xfrm>
          <a:prstGeom prst="rect">
            <a:avLst/>
          </a:prstGeom>
          <a:noFill/>
          <a:ln/>
        </p:spPr>
        <p:txBody>
          <a:bodyPr wrap="square" lIns="0" tIns="0" rIns="0" bIns="0"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HunarMarg  ·  SIH26097</a:t>
            </a:r>
            <a:endParaRPr lang="en-US" sz="800" dirty="0"/>
          </a:p>
        </p:txBody>
      </p:sp>
      <p:sp>
        <p:nvSpPr>
          <p:cNvPr id="6" name="Shape 3"/>
          <p:cNvSpPr/>
          <p:nvPr/>
        </p:nvSpPr>
        <p:spPr>
          <a:xfrm>
            <a:off x="7680960" y="4937760"/>
            <a:ext cx="1051560" cy="0"/>
          </a:xfrm>
          <a:prstGeom prst="line">
            <a:avLst/>
          </a:prstGeom>
          <a:noFill/>
          <a:ln w="19050">
            <a:solidFill>
              <a:srgbClr val="BDB9DC"/>
            </a:solidFill>
            <a:prstDash val="dash"/>
          </a:ln>
        </p:spPr>
      </p:sp>
      <p:sp>
        <p:nvSpPr>
          <p:cNvPr id="7" name="Shape 4"/>
          <p:cNvSpPr/>
          <p:nvPr/>
        </p:nvSpPr>
        <p:spPr>
          <a:xfrm>
            <a:off x="7635240" y="4892040"/>
            <a:ext cx="91440" cy="91440"/>
          </a:xfrm>
          <a:prstGeom prst="ellipse">
            <a:avLst/>
          </a:prstGeom>
          <a:solidFill>
            <a:srgbClr val="3B3486"/>
          </a:solidFill>
          <a:ln w="12700">
            <a:solidFill>
              <a:srgbClr val="FFFFFF"/>
            </a:solidFill>
            <a:prstDash val="solid"/>
          </a:ln>
        </p:spPr>
      </p:sp>
      <p:sp>
        <p:nvSpPr>
          <p:cNvPr id="8" name="Shape 5"/>
          <p:cNvSpPr/>
          <p:nvPr/>
        </p:nvSpPr>
        <p:spPr>
          <a:xfrm>
            <a:off x="7891272" y="4892040"/>
            <a:ext cx="91440" cy="91440"/>
          </a:xfrm>
          <a:prstGeom prst="ellipse">
            <a:avLst/>
          </a:prstGeom>
          <a:solidFill>
            <a:srgbClr val="3B3486"/>
          </a:solidFill>
          <a:ln w="12700">
            <a:solidFill>
              <a:srgbClr val="FFFFFF"/>
            </a:solidFill>
            <a:prstDash val="solid"/>
          </a:ln>
        </p:spPr>
      </p:sp>
      <p:sp>
        <p:nvSpPr>
          <p:cNvPr id="9" name="Shape 6"/>
          <p:cNvSpPr/>
          <p:nvPr/>
        </p:nvSpPr>
        <p:spPr>
          <a:xfrm>
            <a:off x="8147304" y="4892040"/>
            <a:ext cx="91440" cy="91440"/>
          </a:xfrm>
          <a:prstGeom prst="ellipse">
            <a:avLst/>
          </a:prstGeom>
          <a:solidFill>
            <a:srgbClr val="3B3486"/>
          </a:solidFill>
          <a:ln w="12700">
            <a:solidFill>
              <a:srgbClr val="FFFFFF"/>
            </a:solidFill>
            <a:prstDash val="solid"/>
          </a:ln>
        </p:spPr>
      </p:sp>
      <p:sp>
        <p:nvSpPr>
          <p:cNvPr id="10" name="Shape 7"/>
          <p:cNvSpPr/>
          <p:nvPr/>
        </p:nvSpPr>
        <p:spPr>
          <a:xfrm>
            <a:off x="8403336" y="4892040"/>
            <a:ext cx="91440" cy="91440"/>
          </a:xfrm>
          <a:prstGeom prst="ellipse">
            <a:avLst/>
          </a:prstGeom>
          <a:solidFill>
            <a:srgbClr val="3B3486"/>
          </a:solidFill>
          <a:ln w="12700">
            <a:solidFill>
              <a:srgbClr val="FFFFFF"/>
            </a:solidFill>
            <a:prstDash val="solid"/>
          </a:ln>
        </p:spPr>
      </p:sp>
      <p:sp>
        <p:nvSpPr>
          <p:cNvPr id="11" name="Shape 8"/>
          <p:cNvSpPr/>
          <p:nvPr/>
        </p:nvSpPr>
        <p:spPr>
          <a:xfrm>
            <a:off x="8613648" y="4846320"/>
            <a:ext cx="182880" cy="182880"/>
          </a:xfrm>
          <a:prstGeom prst="ellipse">
            <a:avLst/>
          </a:prstGeom>
          <a:solidFill>
            <a:srgbClr val="F2A33A"/>
          </a:solidFill>
          <a:ln w="12700">
            <a:solidFill>
              <a:srgbClr val="FFFFFF"/>
            </a:solidFill>
            <a:prstDash val="solid"/>
          </a:ln>
        </p:spPr>
      </p:sp>
      <p:sp>
        <p:nvSpPr>
          <p:cNvPr id="12" name="Text 9"/>
          <p:cNvSpPr txBox="1"/>
          <p:nvPr/>
        </p:nvSpPr>
        <p:spPr>
          <a:xfrm>
            <a:off x="8613648" y="4846320"/>
            <a:ext cx="182880" cy="182880"/>
          </a:xfrm>
          <a:prstGeom prst="rect">
            <a:avLst/>
          </a:prstGeom>
          <a:noFill/>
          <a:ln/>
        </p:spPr>
        <p:txBody>
          <a:bodyPr wrap="square" lIns="0" tIns="0" rIns="0" bIns="0" rtlCol="0" anchor="ctr"/>
          <a:lstStyle/>
          <a:p>
            <a:pPr algn="ctr" indent="0" marL="0">
              <a:buNone/>
            </a:pPr>
            <a:r>
              <a:rPr lang="en-US" sz="750" b="1" dirty="0">
                <a:solidFill>
                  <a:srgbClr val="26215C"/>
                </a:solidFill>
                <a:latin typeface="Calibri" pitchFamily="34" charset="0"/>
                <a:ea typeface="Calibri" pitchFamily="34" charset="-122"/>
                <a:cs typeface="Calibri" pitchFamily="34" charset="-120"/>
              </a:rPr>
              <a:t>6</a:t>
            </a:r>
            <a:endParaRPr lang="en-US" sz="750" dirty="0"/>
          </a:p>
        </p:txBody>
      </p:sp>
      <p:sp>
        <p:nvSpPr>
          <p:cNvPr id="13" name="Text 10"/>
          <p:cNvSpPr txBox="1"/>
          <p:nvPr/>
        </p:nvSpPr>
        <p:spPr>
          <a:xfrm>
            <a:off x="365760" y="896112"/>
            <a:ext cx="365760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Government and research</a:t>
            </a:r>
            <a:endParaRPr lang="en-US" sz="1300" dirty="0"/>
          </a:p>
        </p:txBody>
      </p:sp>
      <p:sp>
        <p:nvSpPr>
          <p:cNvPr id="14" name="Text 11"/>
          <p:cNvSpPr txBox="1"/>
          <p:nvPr/>
        </p:nvSpPr>
        <p:spPr>
          <a:xfrm>
            <a:off x="365760" y="1207008"/>
            <a:ext cx="4114800" cy="2514600"/>
          </a:xfrm>
          <a:prstGeom prst="rect">
            <a:avLst/>
          </a:prstGeom>
          <a:noFill/>
          <a:ln/>
        </p:spPr>
        <p:txBody>
          <a:bodyPr wrap="square" lIns="0" tIns="0" rIns="0" bIns="0" rtlCol="0" anchor="t"/>
          <a:lstStyle/>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Census 2011 via MoSJE Handbook 2021: SC literacy 66.1%</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socialjustice.gov.in</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S2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NSO Telecom survey 2025: phone ownership</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mospi.gov.in</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S3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MoSJE PM-AJAY factsheet, 28 Sep 2026: ₹1,730 cr, 2.5 lakh people</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pib.gov.in</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S4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PM-AJAY guidelines: 70% placement, 30% women</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socialjustice.gov.in</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S5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CAG Report No. 20 of 2025: 41% of 56 lakh placed</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cag.gov.in</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S6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NCO-2015 · NQR / NCVET · NSFDC · PM Vishwakarma</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nqr.gov.in</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S7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PIB: PM-AJAY portal and AJAY app, 26 May 2026</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pib.gov.in</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S8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Business Standard, Apr 2026: 22 crore feature-phone users</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business-standard.com</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S9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BMJ Global Health: Kilkari reach and answer rates</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gh.bmj.com</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S10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Chakravorty et al., J-PAL: job information → retention 62% → 73%</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povertyactionlab.org</a:t>
            </a:r>
            <a:endParaRPr lang="en-US" sz="900" dirty="0"/>
          </a:p>
        </p:txBody>
      </p:sp>
      <p:sp>
        <p:nvSpPr>
          <p:cNvPr id="15" name="Text 12"/>
          <p:cNvSpPr txBox="1"/>
          <p:nvPr/>
        </p:nvSpPr>
        <p:spPr>
          <a:xfrm>
            <a:off x="4709160" y="896112"/>
            <a:ext cx="3657600" cy="256032"/>
          </a:xfrm>
          <a:prstGeom prst="rect">
            <a:avLst/>
          </a:prstGeom>
          <a:noFill/>
          <a:ln/>
        </p:spPr>
        <p:txBody>
          <a:bodyPr wrap="square" lIns="0" tIns="0" rIns="0" bIns="0" rtlCol="0" anchor="ctr"/>
          <a:lstStyle/>
          <a:p>
            <a:pPr indent="0" marL="0">
              <a:buNone/>
            </a:pPr>
            <a:r>
              <a:rPr lang="en-US" sz="1300" b="1" dirty="0">
                <a:solidFill>
                  <a:srgbClr val="26215C"/>
                </a:solidFill>
                <a:latin typeface="Cambria" pitchFamily="34" charset="0"/>
                <a:ea typeface="Cambria" pitchFamily="34" charset="-122"/>
                <a:cs typeface="Cambria" pitchFamily="34" charset="-120"/>
              </a:rPr>
              <a:t>Technology, policy and our work</a:t>
            </a:r>
            <a:endParaRPr lang="en-US" sz="1300" dirty="0"/>
          </a:p>
        </p:txBody>
      </p:sp>
      <p:sp>
        <p:nvSpPr>
          <p:cNvPr id="16" name="Text 13"/>
          <p:cNvSpPr txBox="1"/>
          <p:nvPr/>
        </p:nvSpPr>
        <p:spPr>
          <a:xfrm>
            <a:off x="4709160" y="1207008"/>
            <a:ext cx="4160520" cy="2514600"/>
          </a:xfrm>
          <a:prstGeom prst="rect">
            <a:avLst/>
          </a:prstGeom>
          <a:noFill/>
          <a:ln/>
        </p:spPr>
        <p:txBody>
          <a:bodyPr wrap="square" lIns="0" tIns="0" rIns="0" bIns="0" rtlCol="0" anchor="t"/>
          <a:lstStyle/>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S11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Sarvam: Saaras v3, 19.31% WER on IndicVoices</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sarvam.ai</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S12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AI4Bharat: IndicConformer, IndicVoices, Indic Parler-TTS</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huggingface.co/ai4bharat</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S13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Sarvam-30B open weights, Apache 2.0</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huggingface.co/sarvamai</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S14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E2E Networks GPU prices: L4 ₹49/h, L40S ₹102/h</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e2enetworks.com</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S15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Sarvam API pricing; carrier rate cards (team research)</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docs.sarvam.ai</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S16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DPDP Rules 2025, notified 14 Nov 2025</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meity.gov.in</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S17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TRAI: 1600 series for government-to-citizen calls</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trai.gov.in</a:t>
            </a:r>
            <a:endParaRPr lang="en-US" sz="900" dirty="0"/>
          </a:p>
          <a:p>
            <a:pPr indent="0" marL="0">
              <a:spcAft>
                <a:spcPts val="600"/>
              </a:spcAft>
              <a:buNone/>
            </a:pPr>
            <a:r>
              <a:rPr lang="en-US" sz="900" b="1" dirty="0">
                <a:solidFill>
                  <a:srgbClr val="C97A12"/>
                </a:solidFill>
                <a:latin typeface="Calibri" pitchFamily="34" charset="0"/>
                <a:ea typeface="Calibri" pitchFamily="34" charset="-122"/>
                <a:cs typeface="Calibri" pitchFamily="34" charset="-120"/>
              </a:rPr>
              <a:t>S18  </a:t>
            </a:r>
            <a:pPr indent="0" marL="0">
              <a:spcAft>
                <a:spcPts val="600"/>
              </a:spcAft>
              <a:buNone/>
            </a:pPr>
            <a:r>
              <a:rPr lang="en-US" sz="900" dirty="0">
                <a:solidFill>
                  <a:srgbClr val="1F2937"/>
                </a:solidFill>
                <a:latin typeface="Calibri" pitchFamily="34" charset="0"/>
                <a:ea typeface="Calibri" pitchFamily="34" charset="-122"/>
                <a:cs typeface="Calibri" pitchFamily="34" charset="-120"/>
              </a:rPr>
              <a:t>Our work: prototype, MODELS.md, cost_model.py, measure.py</a:t>
            </a:r>
            <a:pPr indent="0" marL="0">
              <a:spcAft>
                <a:spcPts val="600"/>
              </a:spcAft>
              <a:buNone/>
            </a:pPr>
            <a:r>
              <a:rPr lang="en-US" sz="700" dirty="0">
                <a:solidFill>
                  <a:srgbClr val="6B7280"/>
                </a:solidFill>
                <a:latin typeface="Calibri" pitchFamily="34" charset="0"/>
                <a:ea typeface="Calibri" pitchFamily="34" charset="-122"/>
                <a:cs typeface="Calibri" pitchFamily="34" charset="-120"/>
              </a:rPr>
              <a:t>  GitHub</a:t>
            </a:r>
            <a:endParaRPr lang="en-US" sz="900" dirty="0"/>
          </a:p>
        </p:txBody>
      </p:sp>
      <p:sp>
        <p:nvSpPr>
          <p:cNvPr id="17" name="Shape 14"/>
          <p:cNvSpPr/>
          <p:nvPr/>
        </p:nvSpPr>
        <p:spPr>
          <a:xfrm>
            <a:off x="365760" y="3822192"/>
            <a:ext cx="8503920" cy="896112"/>
          </a:xfrm>
          <a:prstGeom prst="roundRect">
            <a:avLst>
              <a:gd name="adj" fmla="val 10204"/>
            </a:avLst>
          </a:prstGeom>
          <a:solidFill>
            <a:srgbClr val="EEEDF7"/>
          </a:solidFill>
          <a:ln w="12700">
            <a:solidFill>
              <a:srgbClr val="EEEDF7"/>
            </a:solidFill>
            <a:prstDash val="solid"/>
          </a:ln>
        </p:spPr>
      </p:sp>
      <p:pic>
        <p:nvPicPr>
          <p:cNvPr id="18" name="Image 1" descr="preencoded.png">    </p:cNvPr>
          <p:cNvPicPr>
            <a:picLocks noChangeAspect="1"/>
          </p:cNvPicPr>
          <p:nvPr/>
        </p:nvPicPr>
        <p:blipFill>
          <a:blip r:embed="rId2"/>
          <a:stretch>
            <a:fillRect/>
          </a:stretch>
        </p:blipFill>
        <p:spPr>
          <a:xfrm>
            <a:off x="548640" y="3931920"/>
            <a:ext cx="676656" cy="676656"/>
          </a:xfrm>
          <a:prstGeom prst="rect">
            <a:avLst/>
          </a:prstGeom>
        </p:spPr>
      </p:pic>
      <p:sp>
        <p:nvSpPr>
          <p:cNvPr id="19" name="Text 15"/>
          <p:cNvSpPr txBox="1"/>
          <p:nvPr/>
        </p:nvSpPr>
        <p:spPr>
          <a:xfrm>
            <a:off x="1316736" y="3931920"/>
            <a:ext cx="1234440" cy="676656"/>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GitHub</a:t>
            </a:r>
            <a:endParaRPr lang="en-US" sz="1000" dirty="0"/>
          </a:p>
          <a:p>
            <a:pPr indent="0" marL="0">
              <a:buNone/>
            </a:pPr>
            <a:r>
              <a:rPr lang="en-US" sz="800" dirty="0">
                <a:solidFill>
                  <a:srgbClr val="6B7280"/>
                </a:solidFill>
                <a:latin typeface="Calibri" pitchFamily="34" charset="0"/>
                <a:ea typeface="Calibri" pitchFamily="34" charset="-122"/>
                <a:cs typeface="Calibri" pitchFamily="34" charset="-120"/>
              </a:rPr>
              <a:t>code + docs/MODELS.md</a:t>
            </a:r>
            <a:endParaRPr lang="en-US" sz="1000" dirty="0"/>
          </a:p>
        </p:txBody>
      </p:sp>
      <p:sp>
        <p:nvSpPr>
          <p:cNvPr id="20" name="Shape 16"/>
          <p:cNvSpPr/>
          <p:nvPr/>
        </p:nvSpPr>
        <p:spPr>
          <a:xfrm>
            <a:off x="2651760" y="3931920"/>
            <a:ext cx="676656" cy="676656"/>
          </a:xfrm>
          <a:prstGeom prst="roundRect">
            <a:avLst>
              <a:gd name="adj" fmla="val 6757"/>
            </a:avLst>
          </a:prstGeom>
          <a:solidFill>
            <a:srgbClr val="FFFFFF"/>
          </a:solidFill>
          <a:ln w="9525">
            <a:solidFill>
              <a:srgbClr val="B7B3D9"/>
            </a:solidFill>
            <a:prstDash val="dash"/>
          </a:ln>
        </p:spPr>
      </p:sp>
      <p:pic>
        <p:nvPicPr>
          <p:cNvPr id="21" name="Image 2" descr="preencoded.png">    </p:cNvPr>
          <p:cNvPicPr>
            <a:picLocks noChangeAspect="1"/>
          </p:cNvPicPr>
          <p:nvPr/>
        </p:nvPicPr>
        <p:blipFill>
          <a:blip r:embed="rId3"/>
          <a:stretch>
            <a:fillRect/>
          </a:stretch>
        </p:blipFill>
        <p:spPr>
          <a:xfrm>
            <a:off x="2843784" y="4123944"/>
            <a:ext cx="292608" cy="292608"/>
          </a:xfrm>
          <a:prstGeom prst="rect">
            <a:avLst/>
          </a:prstGeom>
        </p:spPr>
      </p:pic>
      <p:sp>
        <p:nvSpPr>
          <p:cNvPr id="22" name="Text 17"/>
          <p:cNvSpPr txBox="1"/>
          <p:nvPr/>
        </p:nvSpPr>
        <p:spPr>
          <a:xfrm>
            <a:off x="3419856" y="3931920"/>
            <a:ext cx="1234440" cy="676656"/>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Prototype</a:t>
            </a:r>
            <a:endParaRPr lang="en-US" sz="1000" dirty="0"/>
          </a:p>
          <a:p>
            <a:pPr indent="0" marL="0">
              <a:buNone/>
            </a:pPr>
            <a:r>
              <a:rPr lang="en-US" sz="800" dirty="0">
                <a:solidFill>
                  <a:srgbClr val="6B7280"/>
                </a:solidFill>
                <a:latin typeface="Calibri" pitchFamily="34" charset="0"/>
                <a:ea typeface="Calibri" pitchFamily="34" charset="-122"/>
                <a:cs typeface="Calibri" pitchFamily="34" charset="-120"/>
              </a:rPr>
              <a:t>number + PIN (add)</a:t>
            </a:r>
            <a:endParaRPr lang="en-US" sz="1000" dirty="0"/>
          </a:p>
        </p:txBody>
      </p:sp>
      <p:sp>
        <p:nvSpPr>
          <p:cNvPr id="23" name="Shape 18"/>
          <p:cNvSpPr/>
          <p:nvPr/>
        </p:nvSpPr>
        <p:spPr>
          <a:xfrm>
            <a:off x="4754880" y="3931920"/>
            <a:ext cx="676656" cy="676656"/>
          </a:xfrm>
          <a:prstGeom prst="roundRect">
            <a:avLst>
              <a:gd name="adj" fmla="val 6757"/>
            </a:avLst>
          </a:prstGeom>
          <a:solidFill>
            <a:srgbClr val="FFFFFF"/>
          </a:solidFill>
          <a:ln w="9525">
            <a:solidFill>
              <a:srgbClr val="B7B3D9"/>
            </a:solidFill>
            <a:prstDash val="dash"/>
          </a:ln>
        </p:spPr>
      </p:sp>
      <p:pic>
        <p:nvPicPr>
          <p:cNvPr id="24" name="Image 3" descr="preencoded.png">    </p:cNvPr>
          <p:cNvPicPr>
            <a:picLocks noChangeAspect="1"/>
          </p:cNvPicPr>
          <p:nvPr/>
        </p:nvPicPr>
        <p:blipFill>
          <a:blip r:embed="rId4"/>
          <a:stretch>
            <a:fillRect/>
          </a:stretch>
        </p:blipFill>
        <p:spPr>
          <a:xfrm>
            <a:off x="4946904" y="4123944"/>
            <a:ext cx="292608" cy="292608"/>
          </a:xfrm>
          <a:prstGeom prst="rect">
            <a:avLst/>
          </a:prstGeom>
        </p:spPr>
      </p:pic>
      <p:sp>
        <p:nvSpPr>
          <p:cNvPr id="25" name="Text 19"/>
          <p:cNvSpPr txBox="1"/>
          <p:nvPr/>
        </p:nvSpPr>
        <p:spPr>
          <a:xfrm>
            <a:off x="5522976" y="3931920"/>
            <a:ext cx="1234440" cy="676656"/>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Demo video</a:t>
            </a:r>
            <a:endParaRPr lang="en-US" sz="1000" dirty="0"/>
          </a:p>
          <a:p>
            <a:pPr indent="0" marL="0">
              <a:buNone/>
            </a:pPr>
            <a:r>
              <a:rPr lang="en-US" sz="800" dirty="0">
                <a:solidFill>
                  <a:srgbClr val="6B7280"/>
                </a:solidFill>
                <a:latin typeface="Calibri" pitchFamily="34" charset="0"/>
                <a:ea typeface="Calibri" pitchFamily="34" charset="-122"/>
                <a:cs typeface="Calibri" pitchFamily="34" charset="-120"/>
              </a:rPr>
              <a:t>a real call (add link)</a:t>
            </a:r>
            <a:endParaRPr lang="en-US" sz="1000" dirty="0"/>
          </a:p>
        </p:txBody>
      </p:sp>
      <p:pic>
        <p:nvPicPr>
          <p:cNvPr id="26" name="Image 4" descr="preencoded.png">    </p:cNvPr>
          <p:cNvPicPr>
            <a:picLocks noChangeAspect="1"/>
          </p:cNvPicPr>
          <p:nvPr/>
        </p:nvPicPr>
        <p:blipFill>
          <a:blip r:embed="rId5"/>
          <a:stretch>
            <a:fillRect/>
          </a:stretch>
        </p:blipFill>
        <p:spPr>
          <a:xfrm>
            <a:off x="6858000" y="3931920"/>
            <a:ext cx="676656" cy="676656"/>
          </a:xfrm>
          <a:prstGeom prst="rect">
            <a:avLst/>
          </a:prstGeom>
        </p:spPr>
      </p:pic>
      <p:sp>
        <p:nvSpPr>
          <p:cNvPr id="27" name="Text 20"/>
          <p:cNvSpPr txBox="1"/>
          <p:nvPr/>
        </p:nvSpPr>
        <p:spPr>
          <a:xfrm>
            <a:off x="7626096" y="3931920"/>
            <a:ext cx="1234440" cy="676656"/>
          </a:xfrm>
          <a:prstGeom prst="rect">
            <a:avLst/>
          </a:prstGeom>
          <a:noFill/>
          <a:ln/>
        </p:spPr>
        <p:txBody>
          <a:bodyPr wrap="square" lIns="0" tIns="0" rIns="0" bIns="0" rtlCol="0" anchor="ctr"/>
          <a:lstStyle/>
          <a:p>
            <a:pPr indent="0" marL="0">
              <a:buNone/>
            </a:pPr>
            <a:r>
              <a:rPr lang="en-US" sz="1000" b="1" dirty="0">
                <a:solidFill>
                  <a:srgbClr val="26215C"/>
                </a:solidFill>
                <a:latin typeface="Calibri" pitchFamily="34" charset="0"/>
                <a:ea typeface="Calibri" pitchFamily="34" charset="-122"/>
                <a:cs typeface="Calibri" pitchFamily="34" charset="-120"/>
              </a:rPr>
              <a:t>Calculations</a:t>
            </a:r>
            <a:endParaRPr lang="en-US" sz="1000" dirty="0"/>
          </a:p>
          <a:p>
            <a:pPr indent="0" marL="0">
              <a:buNone/>
            </a:pPr>
            <a:r>
              <a:rPr lang="en-US" sz="800" dirty="0">
                <a:solidFill>
                  <a:srgbClr val="6B7280"/>
                </a:solidFill>
                <a:latin typeface="Calibri" pitchFamily="34" charset="0"/>
                <a:ea typeface="Calibri" pitchFamily="34" charset="-122"/>
                <a:cs typeface="Calibri" pitchFamily="34" charset="-120"/>
              </a:rPr>
              <a:t>scripts/cost_model.py</a:t>
            </a:r>
            <a:endParaRPr lang="en-US" sz="1000" dirty="0"/>
          </a:p>
        </p:txBody>
      </p:sp>
      <p:sp>
        <p:nvSpPr>
          <p:cNvPr id="28" name="Text 21"/>
          <p:cNvSpPr txBox="1"/>
          <p:nvPr/>
        </p:nvSpPr>
        <p:spPr>
          <a:xfrm>
            <a:off x="2286000" y="4846320"/>
            <a:ext cx="5212080" cy="182880"/>
          </a:xfrm>
          <a:prstGeom prst="rect">
            <a:avLst/>
          </a:prstGeom>
          <a:noFill/>
          <a:ln/>
        </p:spPr>
        <p:txBody>
          <a:bodyPr wrap="square" lIns="0" tIns="0" rIns="0" bIns="0" rtlCol="0" anchor="ctr"/>
          <a:lstStyle/>
          <a:p>
            <a:pPr algn="ctr" indent="0" marL="0">
              <a:buNone/>
            </a:pPr>
            <a:r>
              <a:rPr lang="en-US" sz="700" i="1" dirty="0">
                <a:solidFill>
                  <a:srgbClr val="6B7280"/>
                </a:solidFill>
                <a:latin typeface="Calibri" pitchFamily="34" charset="0"/>
                <a:ea typeface="Calibri" pitchFamily="34" charset="-122"/>
                <a:cs typeface="Calibri" pitchFamily="34" charset="-120"/>
              </a:rPr>
              <a:t>Ideas credited to other SIH26097 teams: SkillCall, VoicePath, Kaushal Saathi, Sahayak, Saksham, MSOL</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HunarMarg · SIH26097</dc:title>
  <dc:subject>PptxGenJS Presentation</dc:subject>
  <dc:creator>PptxGenJS</dc:creator>
  <cp:lastModifiedBy>PptxGenJS</cp:lastModifiedBy>
  <cp:revision>1</cp:revision>
  <dcterms:created xsi:type="dcterms:W3CDTF">2026-09-30T13:09:48Z</dcterms:created>
  <dcterms:modified xsi:type="dcterms:W3CDTF">2026-09-30T13:09:48Z</dcterms:modified>
</cp:coreProperties>
</file>