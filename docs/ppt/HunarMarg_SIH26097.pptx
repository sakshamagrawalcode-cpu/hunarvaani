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850" b="0" i="0" u="none" strike="noStrike">
                <a:solidFill>
                  <a:srgbClr val="1B2A4A"/>
                </a:solidFill>
                <a:latin typeface="Calibri"/>
              </a:defRPr>
            </a:pPr>
            <a:r>
              <a:rPr sz="850" b="0" i="0" u="none" strike="noStrike">
                <a:solidFill>
                  <a:srgbClr val="1B2A4A"/>
                </a:solidFill>
                <a:latin typeface="Calibri"/>
              </a:rPr>
              <a:t>Cost per person (₹) falls as more people call (people a year)</a:t>
            </a:r>
          </a:p>
        </c:rich>
      </c:tx>
      <c:layout/>
      <c:overlay val="0"/>
    </c:title>
    <c:autoTitleDeleted val="0"/>
    <c:plotArea>
      <c:layout/>
      <c:barChart>
        <c:barDir val="col"/>
        <c:grouping val="clustered"/>
        <c:varyColors val="0"/>
        <c:ser>
          <c:idx val="0"/>
          <c:order val="0"/>
          <c:tx>
            <c:strRef>
              <c:f>Sheet1!$B$1</c:f>
              <c:strCache>
                <c:ptCount val="1"/>
                <c:pt idx="0">
                  <c:v>Our own models</c:v>
                </c:pt>
              </c:strCache>
            </c:strRef>
          </c:tx>
          <c:spPr>
            <a:solidFill>
              <a:srgbClr val="E8772E"/>
            </a:solidFill>
            <a:effectLst/>
          </c:spPr>
          <c:invertIfNegative val="0"/>
          <c:dLbls>
            <c:numFmt formatCode="#,##0" sourceLinked="0"/>
            <c:txPr>
              <a:bodyPr/>
              <a:lstStyle/>
              <a:p>
                <a:pPr>
                  <a:defRPr b="0" i="0" strike="noStrike" sz="700" u="none">
                    <a:solidFill>
                      <a:srgbClr val="1F2937"/>
                    </a:solidFill>
                    <a:latin typeface="Arial"/>
                  </a:defRPr>
                </a:pPr>
              </a:p>
            </c:txPr>
            <c:showLegendKey val="0"/>
            <c:showVal val="1"/>
            <c:showCatName val="0"/>
            <c:showSerName val="0"/>
            <c:showPercent val="0"/>
            <c:showBubbleSize val="0"/>
            <c:showLeaderLines val="0"/>
          </c:dLbls>
          <c:cat>
            <c:multiLvlStrRef>
              <c:f>Sheet1!$A$2:$A$5</c:f>
              <c:multiLvlStrCache>
                <c:ptCount val="4"/>
                <c:lvl>
                  <c:pt idx="0">
                    <c:v>50,000</c:v>
                  </c:pt>
                  <c:pt idx="1">
                    <c:v>1 lakh</c:v>
                  </c:pt>
                  <c:pt idx="2">
                    <c:v>5 lakh</c:v>
                  </c:pt>
                  <c:pt idx="3">
                    <c:v>10 lakh</c:v>
                  </c:pt>
                </c:lvl>
              </c:multiLvlStrCache>
            </c:multiLvlStrRef>
          </c:cat>
          <c:val>
            <c:numRef>
              <c:f>Sheet1!$B$2:$B$5</c:f>
              <c:numCache>
                <c:formatCode>General</c:formatCode>
                <c:ptCount val="4"/>
                <c:pt idx="0">
                  <c:v>163</c:v>
                </c:pt>
                <c:pt idx="1">
                  <c:v>94</c:v>
                </c:pt>
                <c:pt idx="2">
                  <c:v>39</c:v>
                </c:pt>
                <c:pt idx="3">
                  <c:v>32</c:v>
                </c:pt>
              </c:numCache>
            </c:numRef>
          </c:val>
        </c:ser>
        <c:ser>
          <c:idx val="1"/>
          <c:order val="1"/>
          <c:tx>
            <c:strRef>
              <c:f>Sheet1!$C$1</c:f>
              <c:strCache>
                <c:ptCount val="1"/>
                <c:pt idx="0">
                  <c:v>Paid APIs</c:v>
                </c:pt>
              </c:strCache>
            </c:strRef>
          </c:tx>
          <c:spPr>
            <a:solidFill>
              <a:srgbClr val="CBD5E1"/>
            </a:solidFill>
            <a:effectLst/>
          </c:spPr>
          <c:invertIfNegative val="0"/>
          <c:dLbls>
            <c:numFmt formatCode="#,##0" sourceLinked="0"/>
            <c:txPr>
              <a:bodyPr/>
              <a:lstStyle/>
              <a:p>
                <a:pPr>
                  <a:defRPr b="0" i="0" strike="noStrike" sz="700" u="none">
                    <a:solidFill>
                      <a:srgbClr val="1F2937"/>
                    </a:solidFill>
                    <a:latin typeface="Arial"/>
                  </a:defRPr>
                </a:pPr>
              </a:p>
            </c:txPr>
            <c:showLegendKey val="0"/>
            <c:showVal val="1"/>
            <c:showCatName val="0"/>
            <c:showSerName val="0"/>
            <c:showPercent val="0"/>
            <c:showBubbleSize val="0"/>
            <c:showLeaderLines val="0"/>
          </c:dLbls>
          <c:cat>
            <c:multiLvlStrRef>
              <c:f>Sheet1!$A$2:$A$5</c:f>
              <c:multiLvlStrCache>
                <c:ptCount val="4"/>
                <c:lvl>
                  <c:pt idx="0">
                    <c:v>50,000</c:v>
                  </c:pt>
                  <c:pt idx="1">
                    <c:v>1 lakh</c:v>
                  </c:pt>
                  <c:pt idx="2">
                    <c:v>5 lakh</c:v>
                  </c:pt>
                  <c:pt idx="3">
                    <c:v>10 lakh</c:v>
                  </c:pt>
                </c:lvl>
              </c:multiLvlStrCache>
            </c:multiLvlStrRef>
          </c:cat>
          <c:val>
            <c:numRef>
              <c:f>Sheet1!$C$2:$C$5</c:f>
              <c:numCache>
                <c:formatCode>General</c:formatCode>
                <c:ptCount val="4"/>
                <c:pt idx="0">
                  <c:v>121</c:v>
                </c:pt>
                <c:pt idx="1">
                  <c:v>73</c:v>
                </c:pt>
                <c:pt idx="2">
                  <c:v>35</c:v>
                </c:pt>
                <c:pt idx="3">
                  <c:v>30</c:v>
                </c:pt>
              </c:numCache>
            </c:numRef>
          </c:val>
        </c:ser>
        <c:dLbls>
          <c:numFmt formatCode="#,##0" sourceLinked="0"/>
          <c:txPr>
            <a:bodyPr/>
            <a:lstStyle/>
            <a:p>
              <a:pPr>
                <a:defRPr b="0" i="0" strike="noStrike" sz="700" u="none">
                  <a:solidFill>
                    <a:srgbClr val="1F2937"/>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50" b="0" i="0" u="none" strike="noStrike">
                <a:solidFill>
                  <a:srgbClr val="6B728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700">
              <a:solidFill>
                <a:srgbClr val="6B7280"/>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Official SIH 2026 title page, unchanged. Fill the Team ID (and check the team name) from the SIH portal before exporting to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bands: the problem (one card, three numbers), the solution (one call, five steps, end to end), and why it works where a form fails (six points). Keys carry facts so speech errors cannot hurt; the AI writes the full profile for officers; every option comes with a plan and a money path; follow-ups continue until the person is earning, and only verified outcomes teach the ranker. The 1600 number needs a government MoU.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the call: Exotel handles the missed call, callback and keys; IndicConformer turns speech into text; MuRIL tags the words and Sarvam-30B fills a fixed profile form using only job codes from our list; e5 + BM25 find the NCO occupation; the caller confirms the read-back; the LightGBM ranker picks 3 options from government data; every fact is checked before Indic Parler-TTS speaks it. If a GPU fails the Sarvam API takes over; if the AI is stuck a human counsellor calls back. After the call: the profile becomes a case, the caller gets an SMS, an officer approves, follow-ups at 1, 3 and 6 months use Satyavaani, and only verified outcomes retrain the ranker. All models are open-source Indian models that we fine-tune; details in docs/MODELS.md.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that each piece already runs in India, then four final numbers. Costs come from scripts/cost_model.py: phone minutes, API cost and team budget from our v4 research; GPU prices from E2E Networks (L4 Rs 49/h, L40S Rs 102/h); GPUs run 12 hours a day. At 50,000 people a year our own models cost Rs 163 per person (Rs 159-172 for carrier rates Rs 0.60-1.20 a minute) against Rs 121 on paid APIs; at 10 lakh people it is Rs 32 against Rs 30. We run our own models for 22 languages, dialect tuning and data control, not to save money. Calls each GPU can serve are estimates to be confirmed by a load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CAG Report No. 20 of 2025: of 56 lakh certified PMKVY trainees, 41% were placed; the GIA target is 70%. J-PAL (Chakravorty et al., DDU-GKY in Bihar and Jharkhand): trainees told about real jobs were 11 points more likely to stay 5+ months (62% to 73%). 109 minutes of staff time per person and Rs 44,136 on Sunita's Rs 80,000 tailoring unit are our own estimates from the v4 idea file. Reach: about 50,000 GIA beneficiaries a year; the PM-AJAY dashboard already covers 47,000+ SC-majority villages.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by type. The two QR codes open the GitHub repository (make it public before submitting). Add the prototype number and the demo video link (unlisted, opens without login) and replace the two dashed boxes with their QR 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slideLayout" Target="../slideLayouts/slideLayout1.xml"/><Relationship Id="rId1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image" Target="../media/image-3-15.png"/><Relationship Id="rId16" Type="http://schemas.openxmlformats.org/officeDocument/2006/relationships/image" Target="../media/image-3-16.png"/><Relationship Id="rId17" Type="http://schemas.openxmlformats.org/officeDocument/2006/relationships/image" Target="../media/image-3-17.png"/><Relationship Id="rId18" Type="http://schemas.openxmlformats.org/officeDocument/2006/relationships/image" Target="../media/image-3-18.png"/><Relationship Id="rId19" Type="http://schemas.openxmlformats.org/officeDocument/2006/relationships/image" Target="../media/image-3-19.png"/><Relationship Id="rId20" Type="http://schemas.openxmlformats.org/officeDocument/2006/relationships/image" Target="../media/image-3-20.png"/><Relationship Id="rId21" Type="http://schemas.openxmlformats.org/officeDocument/2006/relationships/image" Target="../media/image-3-21.png"/><Relationship Id="rId22" Type="http://schemas.openxmlformats.org/officeDocument/2006/relationships/image" Target="../media/image-3-22.png"/><Relationship Id="rId23" Type="http://schemas.openxmlformats.org/officeDocument/2006/relationships/image" Target="../media/image-3-23.png"/><Relationship Id="rId24" Type="http://schemas.openxmlformats.org/officeDocument/2006/relationships/slideLayout" Target="../slideLayouts/slideLayout1.xml"/><Relationship Id="rId2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image" Target="../media/image-4-6.png"/><Relationship Id="rId8" Type="http://schemas.openxmlformats.org/officeDocument/2006/relationships/image" Target="../media/image-4-7.png"/><Relationship Id="rId9" Type="http://schemas.openxmlformats.org/officeDocument/2006/relationships/image" Target="../media/image-4-8.png"/><Relationship Id="rId10" Type="http://schemas.openxmlformats.org/officeDocument/2006/relationships/image" Target="../media/image-4-9.png"/><Relationship Id="rId11" Type="http://schemas.openxmlformats.org/officeDocument/2006/relationships/slideLayout" Target="../slideLayouts/slideLayout1.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slideLayout" Target="../slideLayouts/slideLayout1.xml"/><Relationship Id="rId11"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82880"/>
            <a:ext cx="6766560" cy="548640"/>
          </a:xfrm>
          <a:prstGeom prst="rect">
            <a:avLst/>
          </a:prstGeom>
          <a:noFill/>
          <a:ln/>
        </p:spPr>
        <p:txBody>
          <a:bodyPr wrap="square" lIns="0" tIns="0" rIns="0" bIns="0" rtlCol="0" anchor="ctr"/>
          <a:lstStyle/>
          <a:p>
            <a:pPr indent="0" marL="0">
              <a:buNone/>
            </a:pPr>
            <a:r>
              <a:rPr lang="en-US" sz="3000" b="1" dirty="0">
                <a:solidFill>
                  <a:srgbClr val="1F4E79"/>
                </a:solidFill>
                <a:latin typeface="Times New Roman" pitchFamily="34" charset="0"/>
                <a:ea typeface="Times New Roman" pitchFamily="34" charset="-122"/>
                <a:cs typeface="Times New Roman" pitchFamily="34" charset="-120"/>
              </a:rPr>
              <a:t>SMART INDIA HACKATHON 2026</a:t>
            </a:r>
            <a:endParaRPr lang="en-US" sz="3000" dirty="0"/>
          </a:p>
        </p:txBody>
      </p:sp>
      <p:pic>
        <p:nvPicPr>
          <p:cNvPr id="3" name="Image 0" descr="/tmp/claude-0/-home-user-hunarvaani/1a479c87-c527-500c-a3b9-10fb2a163850/scratchpad/ppt/sc/ppt/media/image-1-1.png">    </p:cNvPr>
          <p:cNvPicPr>
            <a:picLocks noChangeAspect="1"/>
          </p:cNvPicPr>
          <p:nvPr/>
        </p:nvPicPr>
        <p:blipFill>
          <a:blip r:embed="rId1"/>
          <a:stretch>
            <a:fillRect/>
          </a:stretch>
        </p:blipFill>
        <p:spPr>
          <a:xfrm>
            <a:off x="7223760" y="73152"/>
            <a:ext cx="1691640" cy="795528"/>
          </a:xfrm>
          <a:prstGeom prst="rect">
            <a:avLst/>
          </a:prstGeom>
        </p:spPr>
      </p:pic>
      <p:sp>
        <p:nvSpPr>
          <p:cNvPr id="4" name="Text 1"/>
          <p:cNvSpPr txBox="1"/>
          <p:nvPr/>
        </p:nvSpPr>
        <p:spPr>
          <a:xfrm>
            <a:off x="2194560" y="868680"/>
            <a:ext cx="3200400" cy="411480"/>
          </a:xfrm>
          <a:prstGeom prst="rect">
            <a:avLst/>
          </a:prstGeom>
          <a:noFill/>
          <a:ln/>
        </p:spPr>
        <p:txBody>
          <a:bodyPr wrap="square" lIns="0" tIns="0" rIns="0" bIns="0" rtlCol="0" anchor="ctr"/>
          <a:lstStyle/>
          <a:p>
            <a:pPr algn="ctr" indent="0" marL="0">
              <a:buNone/>
            </a:pPr>
            <a:r>
              <a:rPr lang="en-US" sz="2200" b="1" dirty="0">
                <a:solidFill>
                  <a:srgbClr val="111827"/>
                </a:solidFill>
                <a:latin typeface="Times New Roman" pitchFamily="34" charset="0"/>
                <a:ea typeface="Times New Roman" pitchFamily="34" charset="-122"/>
                <a:cs typeface="Times New Roman" pitchFamily="34" charset="-120"/>
              </a:rPr>
              <a:t>TITLE PAGE</a:t>
            </a:r>
            <a:endParaRPr lang="en-US" sz="2200" dirty="0"/>
          </a:p>
        </p:txBody>
      </p:sp>
      <p:pic>
        <p:nvPicPr>
          <p:cNvPr id="5" name="Image 1" descr="/tmp/claude-0/-home-user-hunarvaani/1a479c87-c527-500c-a3b9-10fb2a163850/scratchpad/ppt/sc/ppt/media/image-1-2.png">    </p:cNvPr>
          <p:cNvPicPr>
            <a:picLocks noChangeAspect="1"/>
          </p:cNvPicPr>
          <p:nvPr/>
        </p:nvPicPr>
        <p:blipFill>
          <a:blip r:embed="rId2"/>
          <a:stretch>
            <a:fillRect/>
          </a:stretch>
        </p:blipFill>
        <p:spPr>
          <a:xfrm>
            <a:off x="4892040" y="1737360"/>
            <a:ext cx="4023360" cy="1901952"/>
          </a:xfrm>
          <a:prstGeom prst="rect">
            <a:avLst/>
          </a:prstGeom>
        </p:spPr>
      </p:pic>
      <p:sp>
        <p:nvSpPr>
          <p:cNvPr id="6" name="Text 2"/>
          <p:cNvSpPr txBox="1"/>
          <p:nvPr/>
        </p:nvSpPr>
        <p:spPr>
          <a:xfrm>
            <a:off x="411480" y="1463040"/>
            <a:ext cx="4389120" cy="3383280"/>
          </a:xfrm>
          <a:prstGeom prst="rect">
            <a:avLst/>
          </a:prstGeom>
          <a:noFill/>
          <a:ln/>
        </p:spPr>
        <p:txBody>
          <a:bodyPr wrap="square" lIns="0" tIns="0" rIns="0" bIns="0" rtlCol="0" anchor="t"/>
          <a:lstStyle/>
          <a:p>
            <a:pPr marL="342900" indent="-342900">
              <a:spcAft>
                <a:spcPts val="700"/>
              </a:spcAft>
              <a:buSzPct val="100000"/>
              <a:buChar char="•"/>
            </a:pPr>
            <a:r>
              <a:rPr lang="en-US" sz="1400" b="1" dirty="0">
                <a:solidFill>
                  <a:srgbClr val="1F2937"/>
                </a:solidFill>
                <a:latin typeface="Arial" pitchFamily="34" charset="0"/>
                <a:ea typeface="Arial" pitchFamily="34" charset="-122"/>
                <a:cs typeface="Arial" pitchFamily="34" charset="-120"/>
              </a:rPr>
              <a:t>Problem Statement ID – </a:t>
            </a:r>
            <a:pPr indent="0" marL="0">
              <a:spcAft>
                <a:spcPts val="700"/>
              </a:spcAft>
              <a:buNone/>
            </a:pPr>
            <a:r>
              <a:rPr lang="en-US" sz="1250" b="1" dirty="0">
                <a:solidFill>
                  <a:srgbClr val="1F4E79"/>
                </a:solidFill>
                <a:latin typeface="Arial" pitchFamily="34" charset="0"/>
                <a:ea typeface="Arial" pitchFamily="34" charset="-122"/>
                <a:cs typeface="Arial" pitchFamily="34" charset="-120"/>
              </a:rPr>
              <a:t>SIH26097</a:t>
            </a:r>
            <a:endParaRPr lang="en-US" sz="1400" dirty="0"/>
          </a:p>
          <a:p>
            <a:pPr marL="342900" indent="-342900">
              <a:spcAft>
                <a:spcPts val="700"/>
              </a:spcAft>
              <a:buSzPct val="100000"/>
              <a:buChar char="•"/>
            </a:pPr>
            <a:r>
              <a:rPr lang="en-US" sz="1400" b="1" dirty="0">
                <a:solidFill>
                  <a:srgbClr val="1F2937"/>
                </a:solidFill>
                <a:latin typeface="Arial" pitchFamily="34" charset="0"/>
                <a:ea typeface="Arial" pitchFamily="34" charset="-122"/>
                <a:cs typeface="Arial" pitchFamily="34" charset="-120"/>
              </a:rPr>
              <a:t>Problem Statement Title – </a:t>
            </a:r>
            <a:pPr indent="0" marL="0">
              <a:spcAft>
                <a:spcPts val="700"/>
              </a:spcAft>
              <a:buNone/>
            </a:pPr>
            <a:r>
              <a:rPr lang="en-US" sz="1250" b="1" dirty="0">
                <a:solidFill>
                  <a:srgbClr val="1F4E79"/>
                </a:solidFill>
                <a:latin typeface="Arial" pitchFamily="34" charset="0"/>
                <a:ea typeface="Arial" pitchFamily="34" charset="-122"/>
                <a:cs typeface="Arial" pitchFamily="34" charset="-120"/>
              </a:rPr>
              <a:t>AI-driven voice assistant for livelihood mapping and NSQF-aligned skilling recommendations for SC communities under the GIA component of PM-AJAY</a:t>
            </a:r>
            <a:endParaRPr lang="en-US" sz="1400" dirty="0"/>
          </a:p>
          <a:p>
            <a:pPr marL="342900" indent="-342900">
              <a:spcAft>
                <a:spcPts val="700"/>
              </a:spcAft>
              <a:buSzPct val="100000"/>
              <a:buChar char="•"/>
            </a:pPr>
            <a:r>
              <a:rPr lang="en-US" sz="1400" b="1" dirty="0">
                <a:solidFill>
                  <a:srgbClr val="1F2937"/>
                </a:solidFill>
                <a:latin typeface="Arial" pitchFamily="34" charset="0"/>
                <a:ea typeface="Arial" pitchFamily="34" charset="-122"/>
                <a:cs typeface="Arial" pitchFamily="34" charset="-120"/>
              </a:rPr>
              <a:t>Theme – </a:t>
            </a:r>
            <a:pPr indent="0" marL="0">
              <a:spcAft>
                <a:spcPts val="700"/>
              </a:spcAft>
              <a:buNone/>
            </a:pPr>
            <a:r>
              <a:rPr lang="en-US" sz="1250" b="1" dirty="0">
                <a:solidFill>
                  <a:srgbClr val="1F4E79"/>
                </a:solidFill>
                <a:latin typeface="Arial" pitchFamily="34" charset="0"/>
                <a:ea typeface="Arial" pitchFamily="34" charset="-122"/>
                <a:cs typeface="Arial" pitchFamily="34" charset="-120"/>
              </a:rPr>
              <a:t>Agriculture, FoodTech &amp; Rural Development</a:t>
            </a:r>
            <a:endParaRPr lang="en-US" sz="1400" dirty="0"/>
          </a:p>
          <a:p>
            <a:pPr marL="342900" indent="-342900">
              <a:spcAft>
                <a:spcPts val="700"/>
              </a:spcAft>
              <a:buSzPct val="100000"/>
              <a:buChar char="•"/>
            </a:pPr>
            <a:r>
              <a:rPr lang="en-US" sz="1400" b="1" dirty="0">
                <a:solidFill>
                  <a:srgbClr val="1F2937"/>
                </a:solidFill>
                <a:latin typeface="Arial" pitchFamily="34" charset="0"/>
                <a:ea typeface="Arial" pitchFamily="34" charset="-122"/>
                <a:cs typeface="Arial" pitchFamily="34" charset="-120"/>
              </a:rPr>
              <a:t>PS Category – </a:t>
            </a:r>
            <a:pPr indent="0" marL="0">
              <a:spcAft>
                <a:spcPts val="700"/>
              </a:spcAft>
              <a:buNone/>
            </a:pPr>
            <a:r>
              <a:rPr lang="en-US" sz="1250" b="1" dirty="0">
                <a:solidFill>
                  <a:srgbClr val="1F4E79"/>
                </a:solidFill>
                <a:latin typeface="Arial" pitchFamily="34" charset="0"/>
                <a:ea typeface="Arial" pitchFamily="34" charset="-122"/>
                <a:cs typeface="Arial" pitchFamily="34" charset="-120"/>
              </a:rPr>
              <a:t>Software</a:t>
            </a:r>
            <a:endParaRPr lang="en-US" sz="1400" dirty="0"/>
          </a:p>
          <a:p>
            <a:pPr marL="342900" indent="-342900">
              <a:spcAft>
                <a:spcPts val="700"/>
              </a:spcAft>
              <a:buSzPct val="100000"/>
              <a:buChar char="•"/>
            </a:pPr>
            <a:r>
              <a:rPr lang="en-US" sz="1400" b="1" dirty="0">
                <a:solidFill>
                  <a:srgbClr val="1F2937"/>
                </a:solidFill>
                <a:latin typeface="Arial" pitchFamily="34" charset="0"/>
                <a:ea typeface="Arial" pitchFamily="34" charset="-122"/>
                <a:cs typeface="Arial" pitchFamily="34" charset="-120"/>
              </a:rPr>
              <a:t>Team ID – </a:t>
            </a:r>
            <a:pPr indent="0" marL="0">
              <a:spcAft>
                <a:spcPts val="700"/>
              </a:spcAft>
              <a:buNone/>
            </a:pPr>
            <a:r>
              <a:rPr lang="en-US" sz="1250" b="1" dirty="0">
                <a:solidFill>
                  <a:srgbClr val="D64545"/>
                </a:solidFill>
                <a:latin typeface="Arial" pitchFamily="34" charset="0"/>
                <a:ea typeface="Arial" pitchFamily="34" charset="-122"/>
                <a:cs typeface="Arial" pitchFamily="34" charset="-120"/>
              </a:rPr>
              <a:t>________  (fill from the SIH portal)</a:t>
            </a:r>
            <a:endParaRPr lang="en-US" sz="1400" dirty="0"/>
          </a:p>
          <a:p>
            <a:pPr marL="342900" indent="-342900">
              <a:spcAft>
                <a:spcPts val="700"/>
              </a:spcAft>
              <a:buSzPct val="100000"/>
              <a:buChar char="•"/>
            </a:pPr>
            <a:r>
              <a:rPr lang="en-US" sz="1400" b="1" dirty="0">
                <a:solidFill>
                  <a:srgbClr val="1F2937"/>
                </a:solidFill>
                <a:latin typeface="Arial" pitchFamily="34" charset="0"/>
                <a:ea typeface="Arial" pitchFamily="34" charset="-122"/>
                <a:cs typeface="Arial" pitchFamily="34" charset="-120"/>
              </a:rPr>
              <a:t>Team Name (Registered on portal) – </a:t>
            </a:r>
            <a:pPr indent="0" marL="0">
              <a:spcAft>
                <a:spcPts val="700"/>
              </a:spcAft>
              <a:buNone/>
            </a:pPr>
            <a:r>
              <a:rPr lang="en-US" sz="1250" b="1" dirty="0">
                <a:solidFill>
                  <a:srgbClr val="1F4E79"/>
                </a:solidFill>
                <a:latin typeface="Arial" pitchFamily="34" charset="0"/>
                <a:ea typeface="Arial" pitchFamily="34" charset="-122"/>
                <a:cs typeface="Arial" pitchFamily="34" charset="-120"/>
              </a:rPr>
              <a:t>Cognify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28600" y="146304"/>
            <a:ext cx="1188720" cy="457200"/>
          </a:xfrm>
          <a:prstGeom prst="ellipse">
            <a:avLst/>
          </a:prstGeom>
          <a:solidFill>
            <a:srgbClr val="FFFFFF"/>
          </a:solidFill>
          <a:ln w="15875">
            <a:solidFill>
              <a:srgbClr val="1B2A4A"/>
            </a:solidFill>
            <a:prstDash val="solid"/>
          </a:ln>
        </p:spPr>
      </p:sp>
      <p:sp>
        <p:nvSpPr>
          <p:cNvPr id="3" name="Text 1"/>
          <p:cNvSpPr txBox="1"/>
          <p:nvPr/>
        </p:nvSpPr>
        <p:spPr>
          <a:xfrm>
            <a:off x="228600" y="146304"/>
            <a:ext cx="1188720" cy="457200"/>
          </a:xfrm>
          <a:prstGeom prst="rect">
            <a:avLst/>
          </a:prstGeom>
          <a:noFill/>
          <a:ln/>
        </p:spPr>
        <p:txBody>
          <a:bodyPr wrap="square" lIns="0" tIns="0" rIns="0" bIns="0" rtlCol="0" anchor="ctr"/>
          <a:lstStyle/>
          <a:p>
            <a:pPr algn="ctr" indent="0" marL="0">
              <a:buNone/>
            </a:pPr>
            <a:r>
              <a:rPr lang="en-US" sz="1200" b="1" dirty="0">
                <a:solidFill>
                  <a:srgbClr val="1B2A4A"/>
                </a:solidFill>
                <a:latin typeface="Calibri" pitchFamily="34" charset="0"/>
                <a:ea typeface="Calibri" pitchFamily="34" charset="-122"/>
                <a:cs typeface="Calibri" pitchFamily="34" charset="-120"/>
              </a:rPr>
              <a:t>Cognify</a:t>
            </a:r>
            <a:endParaRPr lang="en-US" sz="1200" dirty="0"/>
          </a:p>
        </p:txBody>
      </p:sp>
      <p:sp>
        <p:nvSpPr>
          <p:cNvPr id="4" name="Text 2"/>
          <p:cNvSpPr txBox="1"/>
          <p:nvPr/>
        </p:nvSpPr>
        <p:spPr>
          <a:xfrm>
            <a:off x="1554480" y="91440"/>
            <a:ext cx="5577840" cy="420624"/>
          </a:xfrm>
          <a:prstGeom prst="rect">
            <a:avLst/>
          </a:prstGeom>
          <a:noFill/>
          <a:ln/>
        </p:spPr>
        <p:txBody>
          <a:bodyPr wrap="square" lIns="0" tIns="0" rIns="0" bIns="0" rtlCol="0" anchor="ctr"/>
          <a:lstStyle/>
          <a:p>
            <a:pPr algn="ctr" indent="0" marL="0">
              <a:buNone/>
            </a:pPr>
            <a:r>
              <a:rPr lang="en-US" sz="2200" b="1" dirty="0">
                <a:solidFill>
                  <a:srgbClr val="1B2A4A"/>
                </a:solidFill>
                <a:latin typeface="Cambria" pitchFamily="34" charset="0"/>
                <a:ea typeface="Cambria" pitchFamily="34" charset="-122"/>
                <a:cs typeface="Cambria" pitchFamily="34" charset="-120"/>
              </a:rPr>
              <a:t>HunarMarg</a:t>
            </a:r>
            <a:endParaRPr lang="en-US" sz="2200" dirty="0"/>
          </a:p>
        </p:txBody>
      </p:sp>
      <p:sp>
        <p:nvSpPr>
          <p:cNvPr id="5" name="Text 3"/>
          <p:cNvSpPr txBox="1"/>
          <p:nvPr/>
        </p:nvSpPr>
        <p:spPr>
          <a:xfrm>
            <a:off x="1554480" y="502920"/>
            <a:ext cx="5577840" cy="274320"/>
          </a:xfrm>
          <a:prstGeom prst="rect">
            <a:avLst/>
          </a:prstGeom>
          <a:noFill/>
          <a:ln/>
        </p:spPr>
        <p:txBody>
          <a:bodyPr wrap="square" lIns="0" tIns="0" rIns="0" bIns="0" rtlCol="0" anchor="ctr"/>
          <a:lstStyle/>
          <a:p>
            <a:pPr algn="ctr" indent="0" marL="0">
              <a:buNone/>
            </a:pPr>
            <a:r>
              <a:rPr lang="en-US" sz="1050" i="1" dirty="0">
                <a:solidFill>
                  <a:srgbClr val="6B7280"/>
                </a:solidFill>
                <a:latin typeface="Calibri" pitchFamily="34" charset="0"/>
                <a:ea typeface="Calibri" pitchFamily="34" charset="-122"/>
                <a:cs typeface="Calibri" pitchFamily="34" charset="-120"/>
              </a:rPr>
              <a:t>Proposed solution  ·  one free phone call from skill to a verified livelihood</a:t>
            </a:r>
            <a:endParaRPr lang="en-US" sz="1050" dirty="0"/>
          </a:p>
        </p:txBody>
      </p:sp>
      <p:pic>
        <p:nvPicPr>
          <p:cNvPr id="6" name="Image 0" descr="/tmp/claude-0/-home-user-hunarvaani/1a479c87-c527-500c-a3b9-10fb2a163850/scratchpad/ppt/sc/ppt/media/image-1-1.png">    </p:cNvPr>
          <p:cNvPicPr>
            <a:picLocks noChangeAspect="1"/>
          </p:cNvPicPr>
          <p:nvPr/>
        </p:nvPicPr>
        <p:blipFill>
          <a:blip r:embed="rId1"/>
          <a:stretch>
            <a:fillRect/>
          </a:stretch>
        </p:blipFill>
        <p:spPr>
          <a:xfrm>
            <a:off x="7296912" y="91440"/>
            <a:ext cx="1572768" cy="740664"/>
          </a:xfrm>
          <a:prstGeom prst="rect">
            <a:avLst/>
          </a:prstGeom>
        </p:spPr>
      </p:pic>
      <p:sp>
        <p:nvSpPr>
          <p:cNvPr id="7" name="Shape 4"/>
          <p:cNvSpPr/>
          <p:nvPr/>
        </p:nvSpPr>
        <p:spPr>
          <a:xfrm>
            <a:off x="292608" y="4901184"/>
            <a:ext cx="109728" cy="109728"/>
          </a:xfrm>
          <a:prstGeom prst="ellipse">
            <a:avLst/>
          </a:prstGeom>
          <a:solidFill>
            <a:srgbClr val="E8772E"/>
          </a:solidFill>
          <a:ln w="12700">
            <a:solidFill>
              <a:srgbClr val="E8772E"/>
            </a:solidFill>
            <a:prstDash val="solid"/>
          </a:ln>
        </p:spPr>
      </p:sp>
      <p:sp>
        <p:nvSpPr>
          <p:cNvPr id="8" name="Shape 5"/>
          <p:cNvSpPr/>
          <p:nvPr/>
        </p:nvSpPr>
        <p:spPr>
          <a:xfrm>
            <a:off x="402336" y="4956048"/>
            <a:ext cx="91440" cy="0"/>
          </a:xfrm>
          <a:prstGeom prst="line">
            <a:avLst/>
          </a:prstGeom>
          <a:noFill/>
          <a:ln w="9525">
            <a:solidFill>
              <a:srgbClr val="D1D5DB"/>
            </a:solidFill>
            <a:prstDash val="dash"/>
          </a:ln>
        </p:spPr>
      </p:sp>
      <p:sp>
        <p:nvSpPr>
          <p:cNvPr id="9" name="Shape 6"/>
          <p:cNvSpPr/>
          <p:nvPr/>
        </p:nvSpPr>
        <p:spPr>
          <a:xfrm>
            <a:off x="493776" y="4901184"/>
            <a:ext cx="73152" cy="73152"/>
          </a:xfrm>
          <a:prstGeom prst="ellipse">
            <a:avLst/>
          </a:prstGeom>
          <a:solidFill>
            <a:srgbClr val="D1D5DB"/>
          </a:solidFill>
          <a:ln w="12700">
            <a:solidFill>
              <a:srgbClr val="D1D5DB"/>
            </a:solidFill>
            <a:prstDash val="solid"/>
          </a:ln>
        </p:spPr>
      </p:sp>
      <p:sp>
        <p:nvSpPr>
          <p:cNvPr id="10" name="Shape 7"/>
          <p:cNvSpPr/>
          <p:nvPr/>
        </p:nvSpPr>
        <p:spPr>
          <a:xfrm>
            <a:off x="603504" y="4956048"/>
            <a:ext cx="91440" cy="0"/>
          </a:xfrm>
          <a:prstGeom prst="line">
            <a:avLst/>
          </a:prstGeom>
          <a:noFill/>
          <a:ln w="9525">
            <a:solidFill>
              <a:srgbClr val="D1D5DB"/>
            </a:solidFill>
            <a:prstDash val="dash"/>
          </a:ln>
        </p:spPr>
      </p:sp>
      <p:sp>
        <p:nvSpPr>
          <p:cNvPr id="11" name="Shape 8"/>
          <p:cNvSpPr/>
          <p:nvPr/>
        </p:nvSpPr>
        <p:spPr>
          <a:xfrm>
            <a:off x="694944" y="4901184"/>
            <a:ext cx="73152" cy="73152"/>
          </a:xfrm>
          <a:prstGeom prst="ellipse">
            <a:avLst/>
          </a:prstGeom>
          <a:solidFill>
            <a:srgbClr val="D1D5DB"/>
          </a:solidFill>
          <a:ln w="12700">
            <a:solidFill>
              <a:srgbClr val="D1D5DB"/>
            </a:solidFill>
            <a:prstDash val="solid"/>
          </a:ln>
        </p:spPr>
      </p:sp>
      <p:sp>
        <p:nvSpPr>
          <p:cNvPr id="12" name="Shape 9"/>
          <p:cNvSpPr/>
          <p:nvPr/>
        </p:nvSpPr>
        <p:spPr>
          <a:xfrm>
            <a:off x="804672" y="4956048"/>
            <a:ext cx="91440" cy="0"/>
          </a:xfrm>
          <a:prstGeom prst="line">
            <a:avLst/>
          </a:prstGeom>
          <a:noFill/>
          <a:ln w="9525">
            <a:solidFill>
              <a:srgbClr val="D1D5DB"/>
            </a:solidFill>
            <a:prstDash val="dash"/>
          </a:ln>
        </p:spPr>
      </p:sp>
      <p:sp>
        <p:nvSpPr>
          <p:cNvPr id="13" name="Shape 10"/>
          <p:cNvSpPr/>
          <p:nvPr/>
        </p:nvSpPr>
        <p:spPr>
          <a:xfrm>
            <a:off x="896112" y="4901184"/>
            <a:ext cx="73152" cy="73152"/>
          </a:xfrm>
          <a:prstGeom prst="ellipse">
            <a:avLst/>
          </a:prstGeom>
          <a:solidFill>
            <a:srgbClr val="D1D5DB"/>
          </a:solidFill>
          <a:ln w="12700">
            <a:solidFill>
              <a:srgbClr val="D1D5DB"/>
            </a:solidFill>
            <a:prstDash val="solid"/>
          </a:ln>
        </p:spPr>
      </p:sp>
      <p:sp>
        <p:nvSpPr>
          <p:cNvPr id="14" name="Shape 11"/>
          <p:cNvSpPr/>
          <p:nvPr/>
        </p:nvSpPr>
        <p:spPr>
          <a:xfrm>
            <a:off x="1005840" y="4956048"/>
            <a:ext cx="91440" cy="0"/>
          </a:xfrm>
          <a:prstGeom prst="line">
            <a:avLst/>
          </a:prstGeom>
          <a:noFill/>
          <a:ln w="9525">
            <a:solidFill>
              <a:srgbClr val="D1D5DB"/>
            </a:solidFill>
            <a:prstDash val="dash"/>
          </a:ln>
        </p:spPr>
      </p:sp>
      <p:sp>
        <p:nvSpPr>
          <p:cNvPr id="15" name="Shape 12"/>
          <p:cNvSpPr/>
          <p:nvPr/>
        </p:nvSpPr>
        <p:spPr>
          <a:xfrm>
            <a:off x="1097280" y="4901184"/>
            <a:ext cx="73152" cy="73152"/>
          </a:xfrm>
          <a:prstGeom prst="ellipse">
            <a:avLst/>
          </a:prstGeom>
          <a:solidFill>
            <a:srgbClr val="D1D5DB"/>
          </a:solidFill>
          <a:ln w="12700">
            <a:solidFill>
              <a:srgbClr val="D1D5DB"/>
            </a:solidFill>
            <a:prstDash val="solid"/>
          </a:ln>
        </p:spPr>
      </p:sp>
      <p:sp>
        <p:nvSpPr>
          <p:cNvPr id="16" name="Text 13"/>
          <p:cNvSpPr txBox="1"/>
          <p:nvPr/>
        </p:nvSpPr>
        <p:spPr>
          <a:xfrm>
            <a:off x="1325880" y="4846320"/>
            <a:ext cx="1097280" cy="201168"/>
          </a:xfrm>
          <a:prstGeom prst="rect">
            <a:avLst/>
          </a:prstGeom>
          <a:noFill/>
          <a:ln/>
        </p:spPr>
        <p:txBody>
          <a:bodyPr wrap="square" lIns="0" tIns="0" rIns="0" bIns="0" rtlCol="0" anchor="ctr"/>
          <a:lstStyle/>
          <a:p>
            <a:pPr indent="0" marL="0">
              <a:buNone/>
            </a:pPr>
            <a:r>
              <a:rPr lang="en-US" sz="900" b="1" dirty="0">
                <a:solidFill>
                  <a:srgbClr val="6B7280"/>
                </a:solidFill>
                <a:latin typeface="Calibri" pitchFamily="34" charset="0"/>
                <a:ea typeface="Calibri" pitchFamily="34" charset="-122"/>
                <a:cs typeface="Calibri" pitchFamily="34" charset="-120"/>
              </a:rPr>
              <a:t>HunarMarg</a:t>
            </a:r>
            <a:endParaRPr lang="en-US" sz="900" dirty="0"/>
          </a:p>
        </p:txBody>
      </p:sp>
      <p:sp>
        <p:nvSpPr>
          <p:cNvPr id="17" name="Text 14"/>
          <p:cNvSpPr txBox="1"/>
          <p:nvPr/>
        </p:nvSpPr>
        <p:spPr>
          <a:xfrm>
            <a:off x="8503920" y="4828032"/>
            <a:ext cx="365760" cy="219456"/>
          </a:xfrm>
          <a:prstGeom prst="rect">
            <a:avLst/>
          </a:prstGeom>
          <a:noFill/>
          <a:ln/>
        </p:spPr>
        <p:txBody>
          <a:bodyPr wrap="square" lIns="0" tIns="0" rIns="0" bIns="0" rtlCol="0" anchor="ctr"/>
          <a:lstStyle/>
          <a:p>
            <a:pPr algn="r" indent="0" marL="0">
              <a:buNone/>
            </a:pPr>
            <a:r>
              <a:rPr lang="en-US" sz="1100" b="1" dirty="0">
                <a:solidFill>
                  <a:srgbClr val="1B2A4A"/>
                </a:solidFill>
                <a:latin typeface="Calibri" pitchFamily="34" charset="0"/>
                <a:ea typeface="Calibri" pitchFamily="34" charset="-122"/>
                <a:cs typeface="Calibri" pitchFamily="34" charset="-120"/>
              </a:rPr>
              <a:t>2</a:t>
            </a:r>
            <a:endParaRPr lang="en-US" sz="1100" dirty="0"/>
          </a:p>
        </p:txBody>
      </p:sp>
      <p:sp>
        <p:nvSpPr>
          <p:cNvPr id="18" name="Shape 15"/>
          <p:cNvSpPr/>
          <p:nvPr/>
        </p:nvSpPr>
        <p:spPr>
          <a:xfrm>
            <a:off x="274320" y="914400"/>
            <a:ext cx="4754880" cy="822960"/>
          </a:xfrm>
          <a:prstGeom prst="roundRect">
            <a:avLst>
              <a:gd name="adj" fmla="val 8889"/>
            </a:avLst>
          </a:prstGeom>
          <a:solidFill>
            <a:srgbClr val="FFF1E6"/>
          </a:solidFill>
          <a:ln w="12700">
            <a:solidFill>
              <a:srgbClr val="FFF1E6"/>
            </a:solidFill>
            <a:prstDash val="solid"/>
          </a:ln>
          <a:effectLst>
            <a:outerShdw sx="100000" sy="100000" kx="0" ky="0" algn="bl" rotWithShape="0" blurRad="50800" dist="19050" dir="5400000">
              <a:srgbClr val="000000">
                <a:alpha val="12000"/>
              </a:srgbClr>
            </a:outerShdw>
          </a:effectLst>
        </p:spPr>
      </p:sp>
      <p:sp>
        <p:nvSpPr>
          <p:cNvPr id="19" name="Shape 16"/>
          <p:cNvSpPr/>
          <p:nvPr/>
        </p:nvSpPr>
        <p:spPr>
          <a:xfrm>
            <a:off x="411480" y="1033272"/>
            <a:ext cx="420624" cy="420624"/>
          </a:xfrm>
          <a:prstGeom prst="ellipse">
            <a:avLst/>
          </a:prstGeom>
          <a:solidFill>
            <a:srgbClr val="E8772E"/>
          </a:solidFill>
          <a:ln w="12700">
            <a:solidFill>
              <a:srgbClr val="E8772E"/>
            </a:solidFill>
            <a:prstDash val="solid"/>
          </a:ln>
        </p:spPr>
      </p:sp>
      <p:pic>
        <p:nvPicPr>
          <p:cNvPr id="20" name="Image 1" descr="preencoded.png">    </p:cNvPr>
          <p:cNvPicPr>
            <a:picLocks noChangeAspect="1"/>
          </p:cNvPicPr>
          <p:nvPr/>
        </p:nvPicPr>
        <p:blipFill>
          <a:blip r:embed="rId2"/>
          <a:stretch>
            <a:fillRect/>
          </a:stretch>
        </p:blipFill>
        <p:spPr>
          <a:xfrm>
            <a:off x="512430" y="1134222"/>
            <a:ext cx="218724" cy="218724"/>
          </a:xfrm>
          <a:prstGeom prst="rect">
            <a:avLst/>
          </a:prstGeom>
        </p:spPr>
      </p:pic>
      <p:sp>
        <p:nvSpPr>
          <p:cNvPr id="21" name="Text 17"/>
          <p:cNvSpPr txBox="1"/>
          <p:nvPr/>
        </p:nvSpPr>
        <p:spPr>
          <a:xfrm>
            <a:off x="960120" y="987552"/>
            <a:ext cx="3977640" cy="713232"/>
          </a:xfrm>
          <a:prstGeom prst="rect">
            <a:avLst/>
          </a:prstGeom>
          <a:noFill/>
          <a:ln/>
        </p:spPr>
        <p:txBody>
          <a:bodyPr wrap="square" lIns="0" tIns="0" rIns="0" bIns="0" rtlCol="0" anchor="t"/>
          <a:lstStyle/>
          <a:p>
            <a:pPr indent="0" marL="0">
              <a:buNone/>
            </a:pPr>
            <a:r>
              <a:rPr lang="en-US" sz="900" b="1" spc="150" kern="0" dirty="0">
                <a:solidFill>
                  <a:srgbClr val="E8772E"/>
                </a:solidFill>
                <a:latin typeface="Calibri" pitchFamily="34" charset="0"/>
                <a:ea typeface="Calibri" pitchFamily="34" charset="-122"/>
                <a:cs typeface="Calibri" pitchFamily="34" charset="-120"/>
              </a:rPr>
              <a:t>THE PROBLEM   </a:t>
            </a:r>
            <a:endParaRPr lang="en-US" sz="900" dirty="0"/>
          </a:p>
          <a:p>
            <a:pPr indent="0" marL="0">
              <a:buNone/>
            </a:pPr>
            <a:r>
              <a:rPr lang="en-US" sz="1500" b="1" dirty="0">
                <a:solidFill>
                  <a:srgbClr val="1B2A4A"/>
                </a:solidFill>
                <a:latin typeface="Calibri" pitchFamily="34" charset="0"/>
                <a:ea typeface="Calibri" pitchFamily="34" charset="-122"/>
                <a:cs typeface="Calibri" pitchFamily="34" charset="-120"/>
              </a:rPr>
              <a:t>A form picks the course, not the person</a:t>
            </a:r>
            <a:endParaRPr lang="en-US" sz="900" dirty="0"/>
          </a:p>
          <a:p>
            <a:pPr indent="0" marL="0">
              <a:buNone/>
            </a:pPr>
            <a:r>
              <a:rPr lang="en-US" sz="1000" dirty="0">
                <a:solidFill>
                  <a:srgbClr val="1F2937"/>
                </a:solidFill>
                <a:latin typeface="Calibri" pitchFamily="34" charset="0"/>
                <a:ea typeface="Calibri" pitchFamily="34" charset="-122"/>
                <a:cs typeface="Calibri" pitchFamily="34" charset="-120"/>
              </a:rPr>
              <a:t>so SC job seekers land in training that was never going to fit them.</a:t>
            </a:r>
            <a:endParaRPr lang="en-US" sz="900" dirty="0"/>
          </a:p>
        </p:txBody>
      </p:sp>
      <p:sp>
        <p:nvSpPr>
          <p:cNvPr id="22" name="Shape 18"/>
          <p:cNvSpPr/>
          <p:nvPr/>
        </p:nvSpPr>
        <p:spPr>
          <a:xfrm>
            <a:off x="5166360" y="914400"/>
            <a:ext cx="1188720" cy="822960"/>
          </a:xfrm>
          <a:prstGeom prst="roundRect">
            <a:avLst>
              <a:gd name="adj" fmla="val 8889"/>
            </a:avLst>
          </a:prstGeom>
          <a:solidFill>
            <a:srgbClr val="FFF1E6"/>
          </a:solidFill>
          <a:ln w="12700">
            <a:solidFill>
              <a:srgbClr val="FFF1E6"/>
            </a:solidFill>
            <a:prstDash val="solid"/>
          </a:ln>
          <a:effectLst>
            <a:outerShdw sx="100000" sy="100000" kx="0" ky="0" algn="bl" rotWithShape="0" blurRad="50800" dist="19050" dir="5400000">
              <a:srgbClr val="000000">
                <a:alpha val="12000"/>
              </a:srgbClr>
            </a:outerShdw>
          </a:effectLst>
        </p:spPr>
      </p:sp>
      <p:sp>
        <p:nvSpPr>
          <p:cNvPr id="23" name="Text 19"/>
          <p:cNvSpPr txBox="1"/>
          <p:nvPr/>
        </p:nvSpPr>
        <p:spPr>
          <a:xfrm>
            <a:off x="5257800" y="950976"/>
            <a:ext cx="1005840" cy="329184"/>
          </a:xfrm>
          <a:prstGeom prst="rect">
            <a:avLst/>
          </a:prstGeom>
          <a:noFill/>
          <a:ln/>
        </p:spPr>
        <p:txBody>
          <a:bodyPr wrap="square" lIns="0" tIns="0" rIns="0" bIns="0" rtlCol="0" anchor="ctr"/>
          <a:lstStyle/>
          <a:p>
            <a:pPr indent="0" marL="0">
              <a:buNone/>
            </a:pPr>
            <a:r>
              <a:rPr lang="en-US" sz="2000" b="1" dirty="0">
                <a:solidFill>
                  <a:srgbClr val="E8772E"/>
                </a:solidFill>
                <a:latin typeface="Calibri" pitchFamily="34" charset="0"/>
                <a:ea typeface="Calibri" pitchFamily="34" charset="-122"/>
                <a:cs typeface="Calibri" pitchFamily="34" charset="-120"/>
              </a:rPr>
              <a:t>41%</a:t>
            </a:r>
            <a:endParaRPr lang="en-US" sz="2000" dirty="0"/>
          </a:p>
        </p:txBody>
      </p:sp>
      <p:sp>
        <p:nvSpPr>
          <p:cNvPr id="24" name="Text 20"/>
          <p:cNvSpPr txBox="1"/>
          <p:nvPr/>
        </p:nvSpPr>
        <p:spPr>
          <a:xfrm>
            <a:off x="5257800" y="1280160"/>
            <a:ext cx="1024128" cy="274320"/>
          </a:xfrm>
          <a:prstGeom prst="rect">
            <a:avLst/>
          </a:prstGeom>
          <a:noFill/>
          <a:ln/>
        </p:spPr>
        <p:txBody>
          <a:bodyPr wrap="square" lIns="0" tIns="0" rIns="0" bIns="0" rtlCol="0" anchor="t"/>
          <a:lstStyle/>
          <a:p>
            <a:pPr indent="0" marL="0">
              <a:buNone/>
            </a:pPr>
            <a:r>
              <a:rPr lang="en-US" sz="800" dirty="0">
                <a:solidFill>
                  <a:srgbClr val="1F2937"/>
                </a:solidFill>
                <a:latin typeface="Calibri" pitchFamily="34" charset="0"/>
                <a:ea typeface="Calibri" pitchFamily="34" charset="-122"/>
                <a:cs typeface="Calibri" pitchFamily="34" charset="-120"/>
              </a:rPr>
              <a:t>of certified trainees got placed</a:t>
            </a:r>
            <a:endParaRPr lang="en-US" sz="800" dirty="0"/>
          </a:p>
        </p:txBody>
      </p:sp>
      <p:sp>
        <p:nvSpPr>
          <p:cNvPr id="25" name="Text 21"/>
          <p:cNvSpPr txBox="1"/>
          <p:nvPr/>
        </p:nvSpPr>
        <p:spPr>
          <a:xfrm>
            <a:off x="5257800" y="1554480"/>
            <a:ext cx="1024128" cy="146304"/>
          </a:xfrm>
          <a:prstGeom prst="rect">
            <a:avLst/>
          </a:prstGeom>
          <a:noFill/>
          <a:ln/>
        </p:spPr>
        <p:txBody>
          <a:bodyPr wrap="square" lIns="0" tIns="0" rIns="0" bIns="0" rtlCol="0" anchor="t"/>
          <a:lstStyle/>
          <a:p>
            <a:pPr indent="0" marL="0">
              <a:buNone/>
            </a:pPr>
            <a:r>
              <a:rPr lang="en-US" sz="700" dirty="0">
                <a:solidFill>
                  <a:srgbClr val="6B7280"/>
                </a:solidFill>
                <a:latin typeface="Calibri" pitchFamily="34" charset="0"/>
                <a:ea typeface="Calibri" pitchFamily="34" charset="-122"/>
                <a:cs typeface="Calibri" pitchFamily="34" charset="-120"/>
              </a:rPr>
              <a:t>CAG 2025 [S5]</a:t>
            </a:r>
            <a:endParaRPr lang="en-US" sz="700" dirty="0"/>
          </a:p>
        </p:txBody>
      </p:sp>
      <p:sp>
        <p:nvSpPr>
          <p:cNvPr id="26" name="Shape 22"/>
          <p:cNvSpPr/>
          <p:nvPr/>
        </p:nvSpPr>
        <p:spPr>
          <a:xfrm>
            <a:off x="6446520" y="914400"/>
            <a:ext cx="1188720" cy="822960"/>
          </a:xfrm>
          <a:prstGeom prst="roundRect">
            <a:avLst>
              <a:gd name="adj" fmla="val 8889"/>
            </a:avLst>
          </a:prstGeom>
          <a:solidFill>
            <a:srgbClr val="F1ECFB"/>
          </a:solidFill>
          <a:ln w="12700">
            <a:solidFill>
              <a:srgbClr val="F1ECFB"/>
            </a:solidFill>
            <a:prstDash val="solid"/>
          </a:ln>
          <a:effectLst>
            <a:outerShdw sx="100000" sy="100000" kx="0" ky="0" algn="bl" rotWithShape="0" blurRad="50800" dist="19050" dir="5400000">
              <a:srgbClr val="000000">
                <a:alpha val="12000"/>
              </a:srgbClr>
            </a:outerShdw>
          </a:effectLst>
        </p:spPr>
      </p:sp>
      <p:sp>
        <p:nvSpPr>
          <p:cNvPr id="27" name="Text 23"/>
          <p:cNvSpPr txBox="1"/>
          <p:nvPr/>
        </p:nvSpPr>
        <p:spPr>
          <a:xfrm>
            <a:off x="6537960" y="950976"/>
            <a:ext cx="1005840" cy="329184"/>
          </a:xfrm>
          <a:prstGeom prst="rect">
            <a:avLst/>
          </a:prstGeom>
          <a:noFill/>
          <a:ln/>
        </p:spPr>
        <p:txBody>
          <a:bodyPr wrap="square" lIns="0" tIns="0" rIns="0" bIns="0" rtlCol="0" anchor="ctr"/>
          <a:lstStyle/>
          <a:p>
            <a:pPr indent="0" marL="0">
              <a:buNone/>
            </a:pPr>
            <a:r>
              <a:rPr lang="en-US" sz="2000" b="1" dirty="0">
                <a:solidFill>
                  <a:srgbClr val="6D4AB8"/>
                </a:solidFill>
                <a:latin typeface="Calibri" pitchFamily="34" charset="0"/>
                <a:ea typeface="Calibri" pitchFamily="34" charset="-122"/>
                <a:cs typeface="Calibri" pitchFamily="34" charset="-120"/>
              </a:rPr>
              <a:t>51.6%</a:t>
            </a:r>
            <a:endParaRPr lang="en-US" sz="2000" dirty="0"/>
          </a:p>
        </p:txBody>
      </p:sp>
      <p:sp>
        <p:nvSpPr>
          <p:cNvPr id="28" name="Text 24"/>
          <p:cNvSpPr txBox="1"/>
          <p:nvPr/>
        </p:nvSpPr>
        <p:spPr>
          <a:xfrm>
            <a:off x="6537960" y="1280160"/>
            <a:ext cx="1024128" cy="274320"/>
          </a:xfrm>
          <a:prstGeom prst="rect">
            <a:avLst/>
          </a:prstGeom>
          <a:noFill/>
          <a:ln/>
        </p:spPr>
        <p:txBody>
          <a:bodyPr wrap="square" lIns="0" tIns="0" rIns="0" bIns="0" rtlCol="0" anchor="t"/>
          <a:lstStyle/>
          <a:p>
            <a:pPr indent="0" marL="0">
              <a:buNone/>
            </a:pPr>
            <a:r>
              <a:rPr lang="en-US" sz="800" dirty="0">
                <a:solidFill>
                  <a:srgbClr val="1F2937"/>
                </a:solidFill>
                <a:latin typeface="Calibri" pitchFamily="34" charset="0"/>
                <a:ea typeface="Calibri" pitchFamily="34" charset="-122"/>
                <a:cs typeface="Calibri" pitchFamily="34" charset="-120"/>
              </a:rPr>
              <a:t>of rural women have no phone of their own</a:t>
            </a:r>
            <a:endParaRPr lang="en-US" sz="800" dirty="0"/>
          </a:p>
        </p:txBody>
      </p:sp>
      <p:sp>
        <p:nvSpPr>
          <p:cNvPr id="29" name="Text 25"/>
          <p:cNvSpPr txBox="1"/>
          <p:nvPr/>
        </p:nvSpPr>
        <p:spPr>
          <a:xfrm>
            <a:off x="6537960" y="1554480"/>
            <a:ext cx="1024128" cy="146304"/>
          </a:xfrm>
          <a:prstGeom prst="rect">
            <a:avLst/>
          </a:prstGeom>
          <a:noFill/>
          <a:ln/>
        </p:spPr>
        <p:txBody>
          <a:bodyPr wrap="square" lIns="0" tIns="0" rIns="0" bIns="0" rtlCol="0" anchor="t"/>
          <a:lstStyle/>
          <a:p>
            <a:pPr indent="0" marL="0">
              <a:buNone/>
            </a:pPr>
            <a:r>
              <a:rPr lang="en-US" sz="700" dirty="0">
                <a:solidFill>
                  <a:srgbClr val="6B7280"/>
                </a:solidFill>
                <a:latin typeface="Calibri" pitchFamily="34" charset="0"/>
                <a:ea typeface="Calibri" pitchFamily="34" charset="-122"/>
                <a:cs typeface="Calibri" pitchFamily="34" charset="-120"/>
              </a:rPr>
              <a:t>NSO 2025 [S2]</a:t>
            </a:r>
            <a:endParaRPr lang="en-US" sz="700" dirty="0"/>
          </a:p>
        </p:txBody>
      </p:sp>
      <p:sp>
        <p:nvSpPr>
          <p:cNvPr id="30" name="Shape 26"/>
          <p:cNvSpPr/>
          <p:nvPr/>
        </p:nvSpPr>
        <p:spPr>
          <a:xfrm>
            <a:off x="7726680" y="914400"/>
            <a:ext cx="1188720" cy="822960"/>
          </a:xfrm>
          <a:prstGeom prst="roundRect">
            <a:avLst>
              <a:gd name="adj" fmla="val 8889"/>
            </a:avLst>
          </a:prstGeom>
          <a:solidFill>
            <a:srgbClr val="EAF0FB"/>
          </a:solidFill>
          <a:ln w="12700">
            <a:solidFill>
              <a:srgbClr val="EAF0FB"/>
            </a:solidFill>
            <a:prstDash val="solid"/>
          </a:ln>
          <a:effectLst>
            <a:outerShdw sx="100000" sy="100000" kx="0" ky="0" algn="bl" rotWithShape="0" blurRad="50800" dist="19050" dir="5400000">
              <a:srgbClr val="000000">
                <a:alpha val="12000"/>
              </a:srgbClr>
            </a:outerShdw>
          </a:effectLst>
        </p:spPr>
      </p:sp>
      <p:sp>
        <p:nvSpPr>
          <p:cNvPr id="31" name="Text 27"/>
          <p:cNvSpPr txBox="1"/>
          <p:nvPr/>
        </p:nvSpPr>
        <p:spPr>
          <a:xfrm>
            <a:off x="7818120" y="950976"/>
            <a:ext cx="1005840" cy="329184"/>
          </a:xfrm>
          <a:prstGeom prst="rect">
            <a:avLst/>
          </a:prstGeom>
          <a:noFill/>
          <a:ln/>
        </p:spPr>
        <p:txBody>
          <a:bodyPr wrap="square" lIns="0" tIns="0" rIns="0" bIns="0" rtlCol="0" anchor="ctr"/>
          <a:lstStyle/>
          <a:p>
            <a:pPr indent="0" marL="0">
              <a:buNone/>
            </a:pPr>
            <a:r>
              <a:rPr lang="en-US" sz="2000" b="1" dirty="0">
                <a:solidFill>
                  <a:srgbClr val="2F5DA8"/>
                </a:solidFill>
                <a:latin typeface="Calibri" pitchFamily="34" charset="0"/>
                <a:ea typeface="Calibri" pitchFamily="34" charset="-122"/>
                <a:cs typeface="Calibri" pitchFamily="34" charset="-120"/>
              </a:rPr>
              <a:t>66.1%</a:t>
            </a:r>
            <a:endParaRPr lang="en-US" sz="2000" dirty="0"/>
          </a:p>
        </p:txBody>
      </p:sp>
      <p:sp>
        <p:nvSpPr>
          <p:cNvPr id="32" name="Text 28"/>
          <p:cNvSpPr txBox="1"/>
          <p:nvPr/>
        </p:nvSpPr>
        <p:spPr>
          <a:xfrm>
            <a:off x="7818120" y="1280160"/>
            <a:ext cx="1024128" cy="274320"/>
          </a:xfrm>
          <a:prstGeom prst="rect">
            <a:avLst/>
          </a:prstGeom>
          <a:noFill/>
          <a:ln/>
        </p:spPr>
        <p:txBody>
          <a:bodyPr wrap="square" lIns="0" tIns="0" rIns="0" bIns="0" rtlCol="0" anchor="t"/>
          <a:lstStyle/>
          <a:p>
            <a:pPr indent="0" marL="0">
              <a:buNone/>
            </a:pPr>
            <a:r>
              <a:rPr lang="en-US" sz="800" dirty="0">
                <a:solidFill>
                  <a:srgbClr val="1F2937"/>
                </a:solidFill>
                <a:latin typeface="Calibri" pitchFamily="34" charset="0"/>
                <a:ea typeface="Calibri" pitchFamily="34" charset="-122"/>
                <a:cs typeface="Calibri" pitchFamily="34" charset="-120"/>
              </a:rPr>
              <a:t>SC literacy: forms fail many people</a:t>
            </a:r>
            <a:endParaRPr lang="en-US" sz="800" dirty="0"/>
          </a:p>
        </p:txBody>
      </p:sp>
      <p:sp>
        <p:nvSpPr>
          <p:cNvPr id="33" name="Text 29"/>
          <p:cNvSpPr txBox="1"/>
          <p:nvPr/>
        </p:nvSpPr>
        <p:spPr>
          <a:xfrm>
            <a:off x="7818120" y="1554480"/>
            <a:ext cx="1024128" cy="146304"/>
          </a:xfrm>
          <a:prstGeom prst="rect">
            <a:avLst/>
          </a:prstGeom>
          <a:noFill/>
          <a:ln/>
        </p:spPr>
        <p:txBody>
          <a:bodyPr wrap="square" lIns="0" tIns="0" rIns="0" bIns="0" rtlCol="0" anchor="t"/>
          <a:lstStyle/>
          <a:p>
            <a:pPr indent="0" marL="0">
              <a:buNone/>
            </a:pPr>
            <a:r>
              <a:rPr lang="en-US" sz="700" dirty="0">
                <a:solidFill>
                  <a:srgbClr val="6B7280"/>
                </a:solidFill>
                <a:latin typeface="Calibri" pitchFamily="34" charset="0"/>
                <a:ea typeface="Calibri" pitchFamily="34" charset="-122"/>
                <a:cs typeface="Calibri" pitchFamily="34" charset="-120"/>
              </a:rPr>
              <a:t>Census 2011 [S1]</a:t>
            </a:r>
            <a:endParaRPr lang="en-US" sz="700" dirty="0"/>
          </a:p>
        </p:txBody>
      </p:sp>
      <p:sp>
        <p:nvSpPr>
          <p:cNvPr id="34" name="Text 30"/>
          <p:cNvSpPr txBox="1"/>
          <p:nvPr/>
        </p:nvSpPr>
        <p:spPr>
          <a:xfrm>
            <a:off x="274320" y="1847088"/>
            <a:ext cx="8595360" cy="219456"/>
          </a:xfrm>
          <a:prstGeom prst="rect">
            <a:avLst/>
          </a:prstGeom>
          <a:noFill/>
          <a:ln/>
        </p:spPr>
        <p:txBody>
          <a:bodyPr wrap="square" lIns="0" tIns="0" rIns="0" bIns="0" rtlCol="0" anchor="ctr"/>
          <a:lstStyle/>
          <a:p>
            <a:pPr indent="0" marL="0">
              <a:buNone/>
            </a:pPr>
            <a:r>
              <a:rPr lang="en-US" sz="1050" b="1" spc="150" kern="0" dirty="0">
                <a:solidFill>
                  <a:srgbClr val="0F766E"/>
                </a:solidFill>
                <a:latin typeface="Calibri" pitchFamily="34" charset="0"/>
                <a:ea typeface="Calibri" pitchFamily="34" charset="-122"/>
                <a:cs typeface="Calibri" pitchFamily="34" charset="-120"/>
              </a:rPr>
              <a:t>THE SOLUTION</a:t>
            </a:r>
            <a:pPr indent="0" marL="0">
              <a:buNone/>
            </a:pPr>
            <a:r>
              <a:rPr lang="en-US" sz="1050" i="1" dirty="0">
                <a:solidFill>
                  <a:srgbClr val="6B7280"/>
                </a:solidFill>
                <a:latin typeface="Calibri" pitchFamily="34" charset="0"/>
                <a:ea typeface="Calibri" pitchFamily="34" charset="-122"/>
                <a:cs typeface="Calibri" pitchFamily="34" charset="-120"/>
              </a:rPr>
              <a:t>   one free call on any keypad phone, guided end to end</a:t>
            </a:r>
            <a:endParaRPr lang="en-US" sz="1050" dirty="0"/>
          </a:p>
        </p:txBody>
      </p:sp>
      <p:sp>
        <p:nvSpPr>
          <p:cNvPr id="35" name="Shape 31"/>
          <p:cNvSpPr/>
          <p:nvPr/>
        </p:nvSpPr>
        <p:spPr>
          <a:xfrm>
            <a:off x="274320" y="2103120"/>
            <a:ext cx="1645920" cy="1188720"/>
          </a:xfrm>
          <a:prstGeom prst="roundRect">
            <a:avLst>
              <a:gd name="adj" fmla="val 6154"/>
            </a:avLst>
          </a:prstGeom>
          <a:solidFill>
            <a:srgbClr val="EAF0FB"/>
          </a:solidFill>
          <a:ln w="12700">
            <a:solidFill>
              <a:srgbClr val="EAF0FB"/>
            </a:solidFill>
            <a:prstDash val="solid"/>
          </a:ln>
          <a:effectLst>
            <a:outerShdw sx="100000" sy="100000" kx="0" ky="0" algn="bl" rotWithShape="0" blurRad="50800" dist="19050" dir="5400000">
              <a:srgbClr val="000000">
                <a:alpha val="12000"/>
              </a:srgbClr>
            </a:outerShdw>
          </a:effectLst>
        </p:spPr>
      </p:sp>
      <p:sp>
        <p:nvSpPr>
          <p:cNvPr id="36" name="Shape 32"/>
          <p:cNvSpPr/>
          <p:nvPr/>
        </p:nvSpPr>
        <p:spPr>
          <a:xfrm>
            <a:off x="365760" y="2176272"/>
            <a:ext cx="347472" cy="347472"/>
          </a:xfrm>
          <a:prstGeom prst="ellipse">
            <a:avLst/>
          </a:prstGeom>
          <a:solidFill>
            <a:srgbClr val="2F5DA8"/>
          </a:solidFill>
          <a:ln w="12700">
            <a:solidFill>
              <a:srgbClr val="2F5DA8"/>
            </a:solidFill>
            <a:prstDash val="solid"/>
          </a:ln>
        </p:spPr>
      </p:sp>
      <p:pic>
        <p:nvPicPr>
          <p:cNvPr id="37" name="Image 2" descr="preencoded.png">    </p:cNvPr>
          <p:cNvPicPr>
            <a:picLocks noChangeAspect="1"/>
          </p:cNvPicPr>
          <p:nvPr/>
        </p:nvPicPr>
        <p:blipFill>
          <a:blip r:embed="rId3"/>
          <a:stretch>
            <a:fillRect/>
          </a:stretch>
        </p:blipFill>
        <p:spPr>
          <a:xfrm>
            <a:off x="449153" y="2259665"/>
            <a:ext cx="180685" cy="180685"/>
          </a:xfrm>
          <a:prstGeom prst="rect">
            <a:avLst/>
          </a:prstGeom>
        </p:spPr>
      </p:pic>
      <p:sp>
        <p:nvSpPr>
          <p:cNvPr id="38" name="Shape 33"/>
          <p:cNvSpPr/>
          <p:nvPr/>
        </p:nvSpPr>
        <p:spPr>
          <a:xfrm>
            <a:off x="1600200" y="2212848"/>
            <a:ext cx="237744" cy="237744"/>
          </a:xfrm>
          <a:prstGeom prst="ellipse">
            <a:avLst/>
          </a:prstGeom>
          <a:solidFill>
            <a:srgbClr val="FFFFFF"/>
          </a:solidFill>
          <a:ln w="12700">
            <a:solidFill>
              <a:srgbClr val="2F5DA8"/>
            </a:solidFill>
            <a:prstDash val="solid"/>
          </a:ln>
        </p:spPr>
      </p:sp>
      <p:sp>
        <p:nvSpPr>
          <p:cNvPr id="39" name="Text 34"/>
          <p:cNvSpPr txBox="1"/>
          <p:nvPr/>
        </p:nvSpPr>
        <p:spPr>
          <a:xfrm>
            <a:off x="1600200" y="2212848"/>
            <a:ext cx="237744" cy="237744"/>
          </a:xfrm>
          <a:prstGeom prst="rect">
            <a:avLst/>
          </a:prstGeom>
          <a:noFill/>
          <a:ln/>
        </p:spPr>
        <p:txBody>
          <a:bodyPr wrap="square" lIns="0" tIns="0" rIns="0" bIns="0" rtlCol="0" anchor="ctr"/>
          <a:lstStyle/>
          <a:p>
            <a:pPr algn="ctr" indent="0" marL="0">
              <a:buNone/>
            </a:pPr>
            <a:r>
              <a:rPr lang="en-US" sz="1000" b="1" dirty="0">
                <a:solidFill>
                  <a:srgbClr val="2F5DA8"/>
                </a:solidFill>
                <a:latin typeface="Calibri" pitchFamily="34" charset="0"/>
                <a:ea typeface="Calibri" pitchFamily="34" charset="-122"/>
                <a:cs typeface="Calibri" pitchFamily="34" charset="-120"/>
              </a:rPr>
              <a:t>1</a:t>
            </a:r>
            <a:endParaRPr lang="en-US" sz="1000" dirty="0"/>
          </a:p>
        </p:txBody>
      </p:sp>
      <p:sp>
        <p:nvSpPr>
          <p:cNvPr id="40" name="Text 35"/>
          <p:cNvSpPr txBox="1"/>
          <p:nvPr/>
        </p:nvSpPr>
        <p:spPr>
          <a:xfrm>
            <a:off x="365760" y="2560320"/>
            <a:ext cx="1481328" cy="182880"/>
          </a:xfrm>
          <a:prstGeom prst="rect">
            <a:avLst/>
          </a:prstGeom>
          <a:noFill/>
          <a:ln/>
        </p:spPr>
        <p:txBody>
          <a:bodyPr wrap="square" lIns="0" tIns="0" rIns="0" bIns="0" rtlCol="0" anchor="t"/>
          <a:lstStyle/>
          <a:p>
            <a:pPr indent="0" marL="0">
              <a:buNone/>
            </a:pPr>
            <a:r>
              <a:rPr lang="en-US" sz="1000" b="1" dirty="0">
                <a:solidFill>
                  <a:srgbClr val="1B2A4A"/>
                </a:solidFill>
                <a:latin typeface="Calibri" pitchFamily="34" charset="0"/>
                <a:ea typeface="Calibri" pitchFamily="34" charset="-122"/>
                <a:cs typeface="Calibri" pitchFamily="34" charset="-120"/>
              </a:rPr>
              <a:t>Missed call, free callback</a:t>
            </a:r>
            <a:endParaRPr lang="en-US" sz="1000" dirty="0"/>
          </a:p>
        </p:txBody>
      </p:sp>
      <p:sp>
        <p:nvSpPr>
          <p:cNvPr id="41" name="Text 36"/>
          <p:cNvSpPr txBox="1"/>
          <p:nvPr/>
        </p:nvSpPr>
        <p:spPr>
          <a:xfrm>
            <a:off x="365760" y="2743200"/>
            <a:ext cx="1481328" cy="164592"/>
          </a:xfrm>
          <a:prstGeom prst="rect">
            <a:avLst/>
          </a:prstGeom>
          <a:noFill/>
          <a:ln/>
        </p:spPr>
        <p:txBody>
          <a:bodyPr wrap="square" lIns="0" tIns="0" rIns="0" bIns="0" rtlCol="0" anchor="t"/>
          <a:lstStyle/>
          <a:p>
            <a:pPr indent="0" marL="0">
              <a:buNone/>
            </a:pPr>
            <a:r>
              <a:rPr lang="en-US" sz="800" i="1" dirty="0">
                <a:solidFill>
                  <a:srgbClr val="2F5DA8"/>
                </a:solidFill>
                <a:latin typeface="Calibri" pitchFamily="34" charset="0"/>
                <a:ea typeface="Calibri" pitchFamily="34" charset="-122"/>
                <a:cs typeface="Calibri" pitchFamily="34" charset="-120"/>
              </a:rPr>
              <a:t>from a govt 1600 number*</a:t>
            </a:r>
            <a:endParaRPr lang="en-US" sz="800" dirty="0"/>
          </a:p>
        </p:txBody>
      </p:sp>
      <p:sp>
        <p:nvSpPr>
          <p:cNvPr id="42" name="Text 37"/>
          <p:cNvSpPr txBox="1"/>
          <p:nvPr/>
        </p:nvSpPr>
        <p:spPr>
          <a:xfrm>
            <a:off x="365760" y="2907792"/>
            <a:ext cx="1481328" cy="365760"/>
          </a:xfrm>
          <a:prstGeom prst="rect">
            <a:avLst/>
          </a:prstGeom>
          <a:noFill/>
          <a:ln/>
        </p:spPr>
        <p:txBody>
          <a:bodyPr wrap="square" lIns="0" tIns="0" rIns="0" bIns="0" rtlCol="0" anchor="t"/>
          <a:lstStyle/>
          <a:p>
            <a:pPr indent="0" marL="0">
              <a:buNone/>
            </a:pPr>
            <a:r>
              <a:rPr lang="en-US" sz="800" dirty="0">
                <a:solidFill>
                  <a:srgbClr val="1F2937"/>
                </a:solidFill>
                <a:latin typeface="Calibri" pitchFamily="34" charset="0"/>
                <a:ea typeface="Calibri" pitchFamily="34" charset="-122"/>
                <a:cs typeface="Calibri" pitchFamily="34" charset="-120"/>
              </a:rPr>
              <a:t>Within a minute, in the caller's language. No app, no internet, no reading.</a:t>
            </a:r>
            <a:endParaRPr lang="en-US" sz="800" dirty="0"/>
          </a:p>
        </p:txBody>
      </p:sp>
      <p:sp>
        <p:nvSpPr>
          <p:cNvPr id="43" name="Shape 38"/>
          <p:cNvSpPr/>
          <p:nvPr/>
        </p:nvSpPr>
        <p:spPr>
          <a:xfrm>
            <a:off x="2011680" y="2103120"/>
            <a:ext cx="1645920" cy="1188720"/>
          </a:xfrm>
          <a:prstGeom prst="roundRect">
            <a:avLst>
              <a:gd name="adj" fmla="val 6154"/>
            </a:avLst>
          </a:prstGeom>
          <a:solidFill>
            <a:srgbClr val="E6F4F1"/>
          </a:solidFill>
          <a:ln w="12700">
            <a:solidFill>
              <a:srgbClr val="E6F4F1"/>
            </a:solidFill>
            <a:prstDash val="solid"/>
          </a:ln>
          <a:effectLst>
            <a:outerShdw sx="100000" sy="100000" kx="0" ky="0" algn="bl" rotWithShape="0" blurRad="50800" dist="19050" dir="5400000">
              <a:srgbClr val="000000">
                <a:alpha val="12000"/>
              </a:srgbClr>
            </a:outerShdw>
          </a:effectLst>
        </p:spPr>
      </p:sp>
      <p:sp>
        <p:nvSpPr>
          <p:cNvPr id="44" name="Shape 39"/>
          <p:cNvSpPr/>
          <p:nvPr/>
        </p:nvSpPr>
        <p:spPr>
          <a:xfrm>
            <a:off x="2103120" y="2176272"/>
            <a:ext cx="347472" cy="347472"/>
          </a:xfrm>
          <a:prstGeom prst="ellipse">
            <a:avLst/>
          </a:prstGeom>
          <a:solidFill>
            <a:srgbClr val="0F766E"/>
          </a:solidFill>
          <a:ln w="12700">
            <a:solidFill>
              <a:srgbClr val="0F766E"/>
            </a:solidFill>
            <a:prstDash val="solid"/>
          </a:ln>
        </p:spPr>
      </p:sp>
      <p:pic>
        <p:nvPicPr>
          <p:cNvPr id="45" name="Image 3" descr="preencoded.png">    </p:cNvPr>
          <p:cNvPicPr>
            <a:picLocks noChangeAspect="1"/>
          </p:cNvPicPr>
          <p:nvPr/>
        </p:nvPicPr>
        <p:blipFill>
          <a:blip r:embed="rId4"/>
          <a:stretch>
            <a:fillRect/>
          </a:stretch>
        </p:blipFill>
        <p:spPr>
          <a:xfrm>
            <a:off x="2186513" y="2259665"/>
            <a:ext cx="180685" cy="180685"/>
          </a:xfrm>
          <a:prstGeom prst="rect">
            <a:avLst/>
          </a:prstGeom>
        </p:spPr>
      </p:pic>
      <p:sp>
        <p:nvSpPr>
          <p:cNvPr id="46" name="Shape 40"/>
          <p:cNvSpPr/>
          <p:nvPr/>
        </p:nvSpPr>
        <p:spPr>
          <a:xfrm>
            <a:off x="3337560" y="2212848"/>
            <a:ext cx="237744" cy="237744"/>
          </a:xfrm>
          <a:prstGeom prst="ellipse">
            <a:avLst/>
          </a:prstGeom>
          <a:solidFill>
            <a:srgbClr val="FFFFFF"/>
          </a:solidFill>
          <a:ln w="12700">
            <a:solidFill>
              <a:srgbClr val="0F766E"/>
            </a:solidFill>
            <a:prstDash val="solid"/>
          </a:ln>
        </p:spPr>
      </p:sp>
      <p:sp>
        <p:nvSpPr>
          <p:cNvPr id="47" name="Text 41"/>
          <p:cNvSpPr txBox="1"/>
          <p:nvPr/>
        </p:nvSpPr>
        <p:spPr>
          <a:xfrm>
            <a:off x="3337560" y="2212848"/>
            <a:ext cx="237744" cy="237744"/>
          </a:xfrm>
          <a:prstGeom prst="rect">
            <a:avLst/>
          </a:prstGeom>
          <a:noFill/>
          <a:ln/>
        </p:spPr>
        <p:txBody>
          <a:bodyPr wrap="square" lIns="0" tIns="0" rIns="0" bIns="0" rtlCol="0" anchor="ctr"/>
          <a:lstStyle/>
          <a:p>
            <a:pPr algn="ctr" indent="0" marL="0">
              <a:buNone/>
            </a:pPr>
            <a:r>
              <a:rPr lang="en-US" sz="1000" b="1" dirty="0">
                <a:solidFill>
                  <a:srgbClr val="0F766E"/>
                </a:solidFill>
                <a:latin typeface="Calibri" pitchFamily="34" charset="0"/>
                <a:ea typeface="Calibri" pitchFamily="34" charset="-122"/>
                <a:cs typeface="Calibri" pitchFamily="34" charset="-120"/>
              </a:rPr>
              <a:t>2</a:t>
            </a:r>
            <a:endParaRPr lang="en-US" sz="1000" dirty="0"/>
          </a:p>
        </p:txBody>
      </p:sp>
      <p:sp>
        <p:nvSpPr>
          <p:cNvPr id="48" name="Text 42"/>
          <p:cNvSpPr txBox="1"/>
          <p:nvPr/>
        </p:nvSpPr>
        <p:spPr>
          <a:xfrm>
            <a:off x="2103120" y="2560320"/>
            <a:ext cx="1481328" cy="182880"/>
          </a:xfrm>
          <a:prstGeom prst="rect">
            <a:avLst/>
          </a:prstGeom>
          <a:noFill/>
          <a:ln/>
        </p:spPr>
        <p:txBody>
          <a:bodyPr wrap="square" lIns="0" tIns="0" rIns="0" bIns="0" rtlCol="0" anchor="t"/>
          <a:lstStyle/>
          <a:p>
            <a:pPr indent="0" marL="0">
              <a:buNone/>
            </a:pPr>
            <a:r>
              <a:rPr lang="en-US" sz="1000" b="1" dirty="0">
                <a:solidFill>
                  <a:srgbClr val="1B2A4A"/>
                </a:solidFill>
                <a:latin typeface="Calibri" pitchFamily="34" charset="0"/>
                <a:ea typeface="Calibri" pitchFamily="34" charset="-122"/>
                <a:cs typeface="Calibri" pitchFamily="34" charset="-120"/>
              </a:rPr>
              <a:t>Keys + own words</a:t>
            </a:r>
            <a:endParaRPr lang="en-US" sz="1000" dirty="0"/>
          </a:p>
        </p:txBody>
      </p:sp>
      <p:sp>
        <p:nvSpPr>
          <p:cNvPr id="49" name="Text 43"/>
          <p:cNvSpPr txBox="1"/>
          <p:nvPr/>
        </p:nvSpPr>
        <p:spPr>
          <a:xfrm>
            <a:off x="2103120" y="2743200"/>
            <a:ext cx="1481328" cy="164592"/>
          </a:xfrm>
          <a:prstGeom prst="rect">
            <a:avLst/>
          </a:prstGeom>
          <a:noFill/>
          <a:ln/>
        </p:spPr>
        <p:txBody>
          <a:bodyPr wrap="square" lIns="0" tIns="0" rIns="0" bIns="0" rtlCol="0" anchor="t"/>
          <a:lstStyle/>
          <a:p>
            <a:pPr indent="0" marL="0">
              <a:buNone/>
            </a:pPr>
            <a:r>
              <a:rPr lang="en-US" sz="800" i="1" dirty="0">
                <a:solidFill>
                  <a:srgbClr val="0F766E"/>
                </a:solidFill>
                <a:latin typeface="Calibri" pitchFamily="34" charset="0"/>
                <a:ea typeface="Calibri" pitchFamily="34" charset="-122"/>
                <a:cs typeface="Calibri" pitchFamily="34" charset="-120"/>
              </a:rPr>
              <a:t>keys for facts, voice for skills</a:t>
            </a:r>
            <a:endParaRPr lang="en-US" sz="800" dirty="0"/>
          </a:p>
        </p:txBody>
      </p:sp>
      <p:sp>
        <p:nvSpPr>
          <p:cNvPr id="50" name="Text 44"/>
          <p:cNvSpPr txBox="1"/>
          <p:nvPr/>
        </p:nvSpPr>
        <p:spPr>
          <a:xfrm>
            <a:off x="2103120" y="2907792"/>
            <a:ext cx="1481328" cy="365760"/>
          </a:xfrm>
          <a:prstGeom prst="rect">
            <a:avLst/>
          </a:prstGeom>
          <a:noFill/>
          <a:ln/>
        </p:spPr>
        <p:txBody>
          <a:bodyPr wrap="square" lIns="0" tIns="0" rIns="0" bIns="0" rtlCol="0" anchor="t"/>
          <a:lstStyle/>
          <a:p>
            <a:pPr indent="0" marL="0">
              <a:buNone/>
            </a:pPr>
            <a:r>
              <a:rPr lang="en-US" sz="800" dirty="0">
                <a:solidFill>
                  <a:srgbClr val="1F2937"/>
                </a:solidFill>
                <a:latin typeface="Calibri" pitchFamily="34" charset="0"/>
                <a:ea typeface="Calibri" pitchFamily="34" charset="-122"/>
                <a:cs typeface="Calibri" pitchFamily="34" charset="-120"/>
              </a:rPr>
              <a:t>Age, education, distance by keypad; then they describe their work.</a:t>
            </a:r>
            <a:endParaRPr lang="en-US" sz="800" dirty="0"/>
          </a:p>
        </p:txBody>
      </p:sp>
      <p:sp>
        <p:nvSpPr>
          <p:cNvPr id="51" name="Shape 45"/>
          <p:cNvSpPr/>
          <p:nvPr/>
        </p:nvSpPr>
        <p:spPr>
          <a:xfrm>
            <a:off x="3749040" y="2103120"/>
            <a:ext cx="1645920" cy="1188720"/>
          </a:xfrm>
          <a:prstGeom prst="roundRect">
            <a:avLst>
              <a:gd name="adj" fmla="val 6154"/>
            </a:avLst>
          </a:prstGeom>
          <a:solidFill>
            <a:srgbClr val="F1ECFB"/>
          </a:solidFill>
          <a:ln w="12700">
            <a:solidFill>
              <a:srgbClr val="F1ECFB"/>
            </a:solidFill>
            <a:prstDash val="solid"/>
          </a:ln>
          <a:effectLst>
            <a:outerShdw sx="100000" sy="100000" kx="0" ky="0" algn="bl" rotWithShape="0" blurRad="50800" dist="19050" dir="5400000">
              <a:srgbClr val="000000">
                <a:alpha val="12000"/>
              </a:srgbClr>
            </a:outerShdw>
          </a:effectLst>
        </p:spPr>
      </p:sp>
      <p:sp>
        <p:nvSpPr>
          <p:cNvPr id="52" name="Shape 46"/>
          <p:cNvSpPr/>
          <p:nvPr/>
        </p:nvSpPr>
        <p:spPr>
          <a:xfrm>
            <a:off x="3840480" y="2176272"/>
            <a:ext cx="347472" cy="347472"/>
          </a:xfrm>
          <a:prstGeom prst="ellipse">
            <a:avLst/>
          </a:prstGeom>
          <a:solidFill>
            <a:srgbClr val="6D4AB8"/>
          </a:solidFill>
          <a:ln w="12700">
            <a:solidFill>
              <a:srgbClr val="6D4AB8"/>
            </a:solidFill>
            <a:prstDash val="solid"/>
          </a:ln>
        </p:spPr>
      </p:sp>
      <p:pic>
        <p:nvPicPr>
          <p:cNvPr id="53" name="Image 4" descr="preencoded.png">    </p:cNvPr>
          <p:cNvPicPr>
            <a:picLocks noChangeAspect="1"/>
          </p:cNvPicPr>
          <p:nvPr/>
        </p:nvPicPr>
        <p:blipFill>
          <a:blip r:embed="rId5"/>
          <a:stretch>
            <a:fillRect/>
          </a:stretch>
        </p:blipFill>
        <p:spPr>
          <a:xfrm>
            <a:off x="3923873" y="2259665"/>
            <a:ext cx="180685" cy="180685"/>
          </a:xfrm>
          <a:prstGeom prst="rect">
            <a:avLst/>
          </a:prstGeom>
        </p:spPr>
      </p:pic>
      <p:sp>
        <p:nvSpPr>
          <p:cNvPr id="54" name="Shape 47"/>
          <p:cNvSpPr/>
          <p:nvPr/>
        </p:nvSpPr>
        <p:spPr>
          <a:xfrm>
            <a:off x="5074920" y="2212848"/>
            <a:ext cx="237744" cy="237744"/>
          </a:xfrm>
          <a:prstGeom prst="ellipse">
            <a:avLst/>
          </a:prstGeom>
          <a:solidFill>
            <a:srgbClr val="FFFFFF"/>
          </a:solidFill>
          <a:ln w="12700">
            <a:solidFill>
              <a:srgbClr val="6D4AB8"/>
            </a:solidFill>
            <a:prstDash val="solid"/>
          </a:ln>
        </p:spPr>
      </p:sp>
      <p:sp>
        <p:nvSpPr>
          <p:cNvPr id="55" name="Text 48"/>
          <p:cNvSpPr txBox="1"/>
          <p:nvPr/>
        </p:nvSpPr>
        <p:spPr>
          <a:xfrm>
            <a:off x="5074920" y="2212848"/>
            <a:ext cx="237744" cy="237744"/>
          </a:xfrm>
          <a:prstGeom prst="rect">
            <a:avLst/>
          </a:prstGeom>
          <a:noFill/>
          <a:ln/>
        </p:spPr>
        <p:txBody>
          <a:bodyPr wrap="square" lIns="0" tIns="0" rIns="0" bIns="0" rtlCol="0" anchor="ctr"/>
          <a:lstStyle/>
          <a:p>
            <a:pPr algn="ctr" indent="0" marL="0">
              <a:buNone/>
            </a:pPr>
            <a:r>
              <a:rPr lang="en-US" sz="1000" b="1" dirty="0">
                <a:solidFill>
                  <a:srgbClr val="6D4AB8"/>
                </a:solidFill>
                <a:latin typeface="Calibri" pitchFamily="34" charset="0"/>
                <a:ea typeface="Calibri" pitchFamily="34" charset="-122"/>
                <a:cs typeface="Calibri" pitchFamily="34" charset="-120"/>
              </a:rPr>
              <a:t>3</a:t>
            </a:r>
            <a:endParaRPr lang="en-US" sz="1000" dirty="0"/>
          </a:p>
        </p:txBody>
      </p:sp>
      <p:sp>
        <p:nvSpPr>
          <p:cNvPr id="56" name="Text 49"/>
          <p:cNvSpPr txBox="1"/>
          <p:nvPr/>
        </p:nvSpPr>
        <p:spPr>
          <a:xfrm>
            <a:off x="3840480" y="2560320"/>
            <a:ext cx="1481328" cy="182880"/>
          </a:xfrm>
          <a:prstGeom prst="rect">
            <a:avLst/>
          </a:prstGeom>
          <a:noFill/>
          <a:ln/>
        </p:spPr>
        <p:txBody>
          <a:bodyPr wrap="square" lIns="0" tIns="0" rIns="0" bIns="0" rtlCol="0" anchor="t"/>
          <a:lstStyle/>
          <a:p>
            <a:pPr indent="0" marL="0">
              <a:buNone/>
            </a:pPr>
            <a:r>
              <a:rPr lang="en-US" sz="1000" b="1" dirty="0">
                <a:solidFill>
                  <a:srgbClr val="1B2A4A"/>
                </a:solidFill>
                <a:latin typeface="Calibri" pitchFamily="34" charset="0"/>
                <a:ea typeface="Calibri" pitchFamily="34" charset="-122"/>
                <a:cs typeface="Calibri" pitchFamily="34" charset="-120"/>
              </a:rPr>
              <a:t>AI builds a full profile</a:t>
            </a:r>
            <a:endParaRPr lang="en-US" sz="1000" dirty="0"/>
          </a:p>
        </p:txBody>
      </p:sp>
      <p:sp>
        <p:nvSpPr>
          <p:cNvPr id="57" name="Text 50"/>
          <p:cNvSpPr txBox="1"/>
          <p:nvPr/>
        </p:nvSpPr>
        <p:spPr>
          <a:xfrm>
            <a:off x="3840480" y="2743200"/>
            <a:ext cx="1481328" cy="164592"/>
          </a:xfrm>
          <a:prstGeom prst="rect">
            <a:avLst/>
          </a:prstGeom>
          <a:noFill/>
          <a:ln/>
        </p:spPr>
        <p:txBody>
          <a:bodyPr wrap="square" lIns="0" tIns="0" rIns="0" bIns="0" rtlCol="0" anchor="t"/>
          <a:lstStyle/>
          <a:p>
            <a:pPr indent="0" marL="0">
              <a:buNone/>
            </a:pPr>
            <a:r>
              <a:rPr lang="en-US" sz="800" i="1" dirty="0">
                <a:solidFill>
                  <a:srgbClr val="6D4AB8"/>
                </a:solidFill>
                <a:latin typeface="Calibri" pitchFamily="34" charset="0"/>
                <a:ea typeface="Calibri" pitchFamily="34" charset="-122"/>
                <a:cs typeface="Calibri" pitchFamily="34" charset="-120"/>
              </a:rPr>
              <a:t>read back; caller presses 1</a:t>
            </a:r>
            <a:endParaRPr lang="en-US" sz="800" dirty="0"/>
          </a:p>
        </p:txBody>
      </p:sp>
      <p:sp>
        <p:nvSpPr>
          <p:cNvPr id="58" name="Text 51"/>
          <p:cNvSpPr txBox="1"/>
          <p:nvPr/>
        </p:nvSpPr>
        <p:spPr>
          <a:xfrm>
            <a:off x="3840480" y="2907792"/>
            <a:ext cx="1481328" cy="365760"/>
          </a:xfrm>
          <a:prstGeom prst="rect">
            <a:avLst/>
          </a:prstGeom>
          <a:noFill/>
          <a:ln/>
        </p:spPr>
        <p:txBody>
          <a:bodyPr wrap="square" lIns="0" tIns="0" rIns="0" bIns="0" rtlCol="0" anchor="t"/>
          <a:lstStyle/>
          <a:p>
            <a:pPr indent="0" marL="0">
              <a:buNone/>
            </a:pPr>
            <a:r>
              <a:rPr lang="en-US" sz="800" dirty="0">
                <a:solidFill>
                  <a:srgbClr val="1F2937"/>
                </a:solidFill>
                <a:latin typeface="Calibri" pitchFamily="34" charset="0"/>
                <a:ea typeface="Calibri" pitchFamily="34" charset="-122"/>
                <a:cs typeface="Calibri" pitchFamily="34" charset="-120"/>
              </a:rPr>
              <a:t>Skills mapped to NCO codes and NSQF qualifications. No paper.</a:t>
            </a:r>
            <a:endParaRPr lang="en-US" sz="800" dirty="0"/>
          </a:p>
        </p:txBody>
      </p:sp>
      <p:sp>
        <p:nvSpPr>
          <p:cNvPr id="59" name="Shape 52"/>
          <p:cNvSpPr/>
          <p:nvPr/>
        </p:nvSpPr>
        <p:spPr>
          <a:xfrm>
            <a:off x="5486400" y="2103120"/>
            <a:ext cx="1645920" cy="1188720"/>
          </a:xfrm>
          <a:prstGeom prst="roundRect">
            <a:avLst>
              <a:gd name="adj" fmla="val 6154"/>
            </a:avLst>
          </a:prstGeom>
          <a:solidFill>
            <a:srgbClr val="EAF6EE"/>
          </a:solidFill>
          <a:ln w="12700">
            <a:solidFill>
              <a:srgbClr val="EAF6EE"/>
            </a:solidFill>
            <a:prstDash val="solid"/>
          </a:ln>
          <a:effectLst>
            <a:outerShdw sx="100000" sy="100000" kx="0" ky="0" algn="bl" rotWithShape="0" blurRad="50800" dist="19050" dir="5400000">
              <a:srgbClr val="000000">
                <a:alpha val="12000"/>
              </a:srgbClr>
            </a:outerShdw>
          </a:effectLst>
        </p:spPr>
      </p:sp>
      <p:sp>
        <p:nvSpPr>
          <p:cNvPr id="60" name="Shape 53"/>
          <p:cNvSpPr/>
          <p:nvPr/>
        </p:nvSpPr>
        <p:spPr>
          <a:xfrm>
            <a:off x="5577840" y="2176272"/>
            <a:ext cx="347472" cy="347472"/>
          </a:xfrm>
          <a:prstGeom prst="ellipse">
            <a:avLst/>
          </a:prstGeom>
          <a:solidFill>
            <a:srgbClr val="15803D"/>
          </a:solidFill>
          <a:ln w="12700">
            <a:solidFill>
              <a:srgbClr val="15803D"/>
            </a:solidFill>
            <a:prstDash val="solid"/>
          </a:ln>
        </p:spPr>
      </p:sp>
      <p:pic>
        <p:nvPicPr>
          <p:cNvPr id="61" name="Image 5" descr="preencoded.png">    </p:cNvPr>
          <p:cNvPicPr>
            <a:picLocks noChangeAspect="1"/>
          </p:cNvPicPr>
          <p:nvPr/>
        </p:nvPicPr>
        <p:blipFill>
          <a:blip r:embed="rId6"/>
          <a:stretch>
            <a:fillRect/>
          </a:stretch>
        </p:blipFill>
        <p:spPr>
          <a:xfrm>
            <a:off x="5661233" y="2259665"/>
            <a:ext cx="180685" cy="180685"/>
          </a:xfrm>
          <a:prstGeom prst="rect">
            <a:avLst/>
          </a:prstGeom>
        </p:spPr>
      </p:pic>
      <p:sp>
        <p:nvSpPr>
          <p:cNvPr id="62" name="Shape 54"/>
          <p:cNvSpPr/>
          <p:nvPr/>
        </p:nvSpPr>
        <p:spPr>
          <a:xfrm>
            <a:off x="6812280" y="2212848"/>
            <a:ext cx="237744" cy="237744"/>
          </a:xfrm>
          <a:prstGeom prst="ellipse">
            <a:avLst/>
          </a:prstGeom>
          <a:solidFill>
            <a:srgbClr val="FFFFFF"/>
          </a:solidFill>
          <a:ln w="12700">
            <a:solidFill>
              <a:srgbClr val="15803D"/>
            </a:solidFill>
            <a:prstDash val="solid"/>
          </a:ln>
        </p:spPr>
      </p:sp>
      <p:sp>
        <p:nvSpPr>
          <p:cNvPr id="63" name="Text 55"/>
          <p:cNvSpPr txBox="1"/>
          <p:nvPr/>
        </p:nvSpPr>
        <p:spPr>
          <a:xfrm>
            <a:off x="6812280" y="2212848"/>
            <a:ext cx="237744" cy="237744"/>
          </a:xfrm>
          <a:prstGeom prst="rect">
            <a:avLst/>
          </a:prstGeom>
          <a:noFill/>
          <a:ln/>
        </p:spPr>
        <p:txBody>
          <a:bodyPr wrap="square" lIns="0" tIns="0" rIns="0" bIns="0" rtlCol="0" anchor="ctr"/>
          <a:lstStyle/>
          <a:p>
            <a:pPr algn="ctr" indent="0" marL="0">
              <a:buNone/>
            </a:pPr>
            <a:r>
              <a:rPr lang="en-US" sz="1000" b="1" dirty="0">
                <a:solidFill>
                  <a:srgbClr val="15803D"/>
                </a:solidFill>
                <a:latin typeface="Calibri" pitchFamily="34" charset="0"/>
                <a:ea typeface="Calibri" pitchFamily="34" charset="-122"/>
                <a:cs typeface="Calibri" pitchFamily="34" charset="-120"/>
              </a:rPr>
              <a:t>4</a:t>
            </a:r>
            <a:endParaRPr lang="en-US" sz="1000" dirty="0"/>
          </a:p>
        </p:txBody>
      </p:sp>
      <p:sp>
        <p:nvSpPr>
          <p:cNvPr id="64" name="Text 56"/>
          <p:cNvSpPr txBox="1"/>
          <p:nvPr/>
        </p:nvSpPr>
        <p:spPr>
          <a:xfrm>
            <a:off x="5577840" y="2560320"/>
            <a:ext cx="1481328" cy="182880"/>
          </a:xfrm>
          <a:prstGeom prst="rect">
            <a:avLst/>
          </a:prstGeom>
          <a:noFill/>
          <a:ln/>
        </p:spPr>
        <p:txBody>
          <a:bodyPr wrap="square" lIns="0" tIns="0" rIns="0" bIns="0" rtlCol="0" anchor="t"/>
          <a:lstStyle/>
          <a:p>
            <a:pPr indent="0" marL="0">
              <a:buNone/>
            </a:pPr>
            <a:r>
              <a:rPr lang="en-US" sz="1000" b="1" dirty="0">
                <a:solidFill>
                  <a:srgbClr val="1B2A4A"/>
                </a:solidFill>
                <a:latin typeface="Calibri" pitchFamily="34" charset="0"/>
                <a:ea typeface="Calibri" pitchFamily="34" charset="-122"/>
                <a:cs typeface="Calibri" pitchFamily="34" charset="-120"/>
              </a:rPr>
              <a:t>3 pathways that fit</a:t>
            </a:r>
            <a:endParaRPr lang="en-US" sz="1000" dirty="0"/>
          </a:p>
        </p:txBody>
      </p:sp>
      <p:sp>
        <p:nvSpPr>
          <p:cNvPr id="65" name="Text 57"/>
          <p:cNvSpPr txBox="1"/>
          <p:nvPr/>
        </p:nvSpPr>
        <p:spPr>
          <a:xfrm>
            <a:off x="5577840" y="2743200"/>
            <a:ext cx="1481328" cy="164592"/>
          </a:xfrm>
          <a:prstGeom prst="rect">
            <a:avLst/>
          </a:prstGeom>
          <a:noFill/>
          <a:ln/>
        </p:spPr>
        <p:txBody>
          <a:bodyPr wrap="square" lIns="0" tIns="0" rIns="0" bIns="0" rtlCol="0" anchor="t"/>
          <a:lstStyle/>
          <a:p>
            <a:pPr indent="0" marL="0">
              <a:buNone/>
            </a:pPr>
            <a:r>
              <a:rPr lang="en-US" sz="800" i="1" dirty="0">
                <a:solidFill>
                  <a:srgbClr val="15803D"/>
                </a:solidFill>
                <a:latin typeface="Calibri" pitchFamily="34" charset="0"/>
                <a:ea typeface="Calibri" pitchFamily="34" charset="-122"/>
                <a:cs typeface="Calibri" pitchFamily="34" charset="-120"/>
              </a:rPr>
              <a:t>each with a plan + money path</a:t>
            </a:r>
            <a:endParaRPr lang="en-US" sz="800" dirty="0"/>
          </a:p>
        </p:txBody>
      </p:sp>
      <p:sp>
        <p:nvSpPr>
          <p:cNvPr id="66" name="Text 58"/>
          <p:cNvSpPr txBox="1"/>
          <p:nvPr/>
        </p:nvSpPr>
        <p:spPr>
          <a:xfrm>
            <a:off x="5577840" y="2907792"/>
            <a:ext cx="1481328" cy="365760"/>
          </a:xfrm>
          <a:prstGeom prst="rect">
            <a:avLst/>
          </a:prstGeom>
          <a:noFill/>
          <a:ln/>
        </p:spPr>
        <p:txBody>
          <a:bodyPr wrap="square" lIns="0" tIns="0" rIns="0" bIns="0" rtlCol="0" anchor="t"/>
          <a:lstStyle/>
          <a:p>
            <a:pPr indent="0" marL="0">
              <a:buNone/>
            </a:pPr>
            <a:r>
              <a:rPr lang="en-US" sz="800" dirty="0">
                <a:solidFill>
                  <a:srgbClr val="1F2937"/>
                </a:solidFill>
                <a:latin typeface="Calibri" pitchFamily="34" charset="0"/>
                <a:ea typeface="Calibri" pitchFamily="34" charset="-122"/>
                <a:cs typeface="Calibri" pitchFamily="34" charset="-120"/>
              </a:rPr>
              <a:t>Training, RPL certificate, apprenticeship or own work, near home.</a:t>
            </a:r>
            <a:endParaRPr lang="en-US" sz="800" dirty="0"/>
          </a:p>
        </p:txBody>
      </p:sp>
      <p:sp>
        <p:nvSpPr>
          <p:cNvPr id="67" name="Shape 59"/>
          <p:cNvSpPr/>
          <p:nvPr/>
        </p:nvSpPr>
        <p:spPr>
          <a:xfrm>
            <a:off x="7223760" y="2103120"/>
            <a:ext cx="1645920" cy="1188720"/>
          </a:xfrm>
          <a:prstGeom prst="roundRect">
            <a:avLst>
              <a:gd name="adj" fmla="val 6154"/>
            </a:avLst>
          </a:prstGeom>
          <a:solidFill>
            <a:srgbClr val="FFF1E6"/>
          </a:solidFill>
          <a:ln w="12700">
            <a:solidFill>
              <a:srgbClr val="FFF1E6"/>
            </a:solidFill>
            <a:prstDash val="solid"/>
          </a:ln>
          <a:effectLst>
            <a:outerShdw sx="100000" sy="100000" kx="0" ky="0" algn="bl" rotWithShape="0" blurRad="50800" dist="19050" dir="5400000">
              <a:srgbClr val="000000">
                <a:alpha val="12000"/>
              </a:srgbClr>
            </a:outerShdw>
          </a:effectLst>
        </p:spPr>
      </p:sp>
      <p:sp>
        <p:nvSpPr>
          <p:cNvPr id="68" name="Shape 60"/>
          <p:cNvSpPr/>
          <p:nvPr/>
        </p:nvSpPr>
        <p:spPr>
          <a:xfrm>
            <a:off x="7315200" y="2176272"/>
            <a:ext cx="347472" cy="347472"/>
          </a:xfrm>
          <a:prstGeom prst="ellipse">
            <a:avLst/>
          </a:prstGeom>
          <a:solidFill>
            <a:srgbClr val="E8772E"/>
          </a:solidFill>
          <a:ln w="12700">
            <a:solidFill>
              <a:srgbClr val="E8772E"/>
            </a:solidFill>
            <a:prstDash val="solid"/>
          </a:ln>
        </p:spPr>
      </p:sp>
      <p:pic>
        <p:nvPicPr>
          <p:cNvPr id="69" name="Image 6" descr="preencoded.png">    </p:cNvPr>
          <p:cNvPicPr>
            <a:picLocks noChangeAspect="1"/>
          </p:cNvPicPr>
          <p:nvPr/>
        </p:nvPicPr>
        <p:blipFill>
          <a:blip r:embed="rId7"/>
          <a:stretch>
            <a:fillRect/>
          </a:stretch>
        </p:blipFill>
        <p:spPr>
          <a:xfrm>
            <a:off x="7398593" y="2259665"/>
            <a:ext cx="180685" cy="180685"/>
          </a:xfrm>
          <a:prstGeom prst="rect">
            <a:avLst/>
          </a:prstGeom>
        </p:spPr>
      </p:pic>
      <p:sp>
        <p:nvSpPr>
          <p:cNvPr id="70" name="Shape 61"/>
          <p:cNvSpPr/>
          <p:nvPr/>
        </p:nvSpPr>
        <p:spPr>
          <a:xfrm>
            <a:off x="8549640" y="2212848"/>
            <a:ext cx="237744" cy="237744"/>
          </a:xfrm>
          <a:prstGeom prst="ellipse">
            <a:avLst/>
          </a:prstGeom>
          <a:solidFill>
            <a:srgbClr val="FFFFFF"/>
          </a:solidFill>
          <a:ln w="12700">
            <a:solidFill>
              <a:srgbClr val="E8772E"/>
            </a:solidFill>
            <a:prstDash val="solid"/>
          </a:ln>
        </p:spPr>
      </p:sp>
      <p:sp>
        <p:nvSpPr>
          <p:cNvPr id="71" name="Text 62"/>
          <p:cNvSpPr txBox="1"/>
          <p:nvPr/>
        </p:nvSpPr>
        <p:spPr>
          <a:xfrm>
            <a:off x="8549640" y="2212848"/>
            <a:ext cx="237744" cy="237744"/>
          </a:xfrm>
          <a:prstGeom prst="rect">
            <a:avLst/>
          </a:prstGeom>
          <a:noFill/>
          <a:ln/>
        </p:spPr>
        <p:txBody>
          <a:bodyPr wrap="square" lIns="0" tIns="0" rIns="0" bIns="0" rtlCol="0" anchor="ctr"/>
          <a:lstStyle/>
          <a:p>
            <a:pPr algn="ctr" indent="0" marL="0">
              <a:buNone/>
            </a:pPr>
            <a:r>
              <a:rPr lang="en-US" sz="1000" b="1" dirty="0">
                <a:solidFill>
                  <a:srgbClr val="E8772E"/>
                </a:solidFill>
                <a:latin typeface="Calibri" pitchFamily="34" charset="0"/>
                <a:ea typeface="Calibri" pitchFamily="34" charset="-122"/>
                <a:cs typeface="Calibri" pitchFamily="34" charset="-120"/>
              </a:rPr>
              <a:t>5</a:t>
            </a:r>
            <a:endParaRPr lang="en-US" sz="1000" dirty="0"/>
          </a:p>
        </p:txBody>
      </p:sp>
      <p:sp>
        <p:nvSpPr>
          <p:cNvPr id="72" name="Text 63"/>
          <p:cNvSpPr txBox="1"/>
          <p:nvPr/>
        </p:nvSpPr>
        <p:spPr>
          <a:xfrm>
            <a:off x="7315200" y="2560320"/>
            <a:ext cx="1481328" cy="182880"/>
          </a:xfrm>
          <a:prstGeom prst="rect">
            <a:avLst/>
          </a:prstGeom>
          <a:noFill/>
          <a:ln/>
        </p:spPr>
        <p:txBody>
          <a:bodyPr wrap="square" lIns="0" tIns="0" rIns="0" bIns="0" rtlCol="0" anchor="t"/>
          <a:lstStyle/>
          <a:p>
            <a:pPr indent="0" marL="0">
              <a:buNone/>
            </a:pPr>
            <a:r>
              <a:rPr lang="en-US" sz="1000" b="1" dirty="0">
                <a:solidFill>
                  <a:srgbClr val="1B2A4A"/>
                </a:solidFill>
                <a:latin typeface="Calibri" pitchFamily="34" charset="0"/>
                <a:ea typeface="Calibri" pitchFamily="34" charset="-122"/>
                <a:cs typeface="Calibri" pitchFamily="34" charset="-120"/>
              </a:rPr>
              <a:t>Stays till they earn</a:t>
            </a:r>
            <a:endParaRPr lang="en-US" sz="1000" dirty="0"/>
          </a:p>
        </p:txBody>
      </p:sp>
      <p:sp>
        <p:nvSpPr>
          <p:cNvPr id="73" name="Text 64"/>
          <p:cNvSpPr txBox="1"/>
          <p:nvPr/>
        </p:nvSpPr>
        <p:spPr>
          <a:xfrm>
            <a:off x="7315200" y="2743200"/>
            <a:ext cx="1481328" cy="164592"/>
          </a:xfrm>
          <a:prstGeom prst="rect">
            <a:avLst/>
          </a:prstGeom>
          <a:noFill/>
          <a:ln/>
        </p:spPr>
        <p:txBody>
          <a:bodyPr wrap="square" lIns="0" tIns="0" rIns="0" bIns="0" rtlCol="0" anchor="t"/>
          <a:lstStyle/>
          <a:p>
            <a:pPr indent="0" marL="0">
              <a:buNone/>
            </a:pPr>
            <a:r>
              <a:rPr lang="en-US" sz="800" i="1" dirty="0">
                <a:solidFill>
                  <a:srgbClr val="E8772E"/>
                </a:solidFill>
                <a:latin typeface="Calibri" pitchFamily="34" charset="0"/>
                <a:ea typeface="Calibri" pitchFamily="34" charset="-122"/>
                <a:cs typeface="Calibri" pitchFamily="34" charset="-120"/>
              </a:rPr>
              <a:t>SMS, reminders, follow-ups</a:t>
            </a:r>
            <a:endParaRPr lang="en-US" sz="800" dirty="0"/>
          </a:p>
        </p:txBody>
      </p:sp>
      <p:sp>
        <p:nvSpPr>
          <p:cNvPr id="74" name="Text 65"/>
          <p:cNvSpPr txBox="1"/>
          <p:nvPr/>
        </p:nvSpPr>
        <p:spPr>
          <a:xfrm>
            <a:off x="7315200" y="2907792"/>
            <a:ext cx="1481328" cy="365760"/>
          </a:xfrm>
          <a:prstGeom prst="rect">
            <a:avLst/>
          </a:prstGeom>
          <a:noFill/>
          <a:ln/>
        </p:spPr>
        <p:txBody>
          <a:bodyPr wrap="square" lIns="0" tIns="0" rIns="0" bIns="0" rtlCol="0" anchor="t"/>
          <a:lstStyle/>
          <a:p>
            <a:pPr indent="0" marL="0">
              <a:buNone/>
            </a:pPr>
            <a:r>
              <a:rPr lang="en-US" sz="800" dirty="0">
                <a:solidFill>
                  <a:srgbClr val="1F2937"/>
                </a:solidFill>
                <a:latin typeface="Calibri" pitchFamily="34" charset="0"/>
                <a:ea typeface="Calibri" pitchFamily="34" charset="-122"/>
                <a:cs typeface="Calibri" pitchFamily="34" charset="-120"/>
              </a:rPr>
              <a:t>Case ID + documents by SMS; calls at 1, 3 and 6 months.</a:t>
            </a:r>
            <a:endParaRPr lang="en-US" sz="800" dirty="0"/>
          </a:p>
        </p:txBody>
      </p:sp>
      <p:sp>
        <p:nvSpPr>
          <p:cNvPr id="75" name="Text 66"/>
          <p:cNvSpPr txBox="1"/>
          <p:nvPr/>
        </p:nvSpPr>
        <p:spPr>
          <a:xfrm>
            <a:off x="274320" y="3383280"/>
            <a:ext cx="8595360" cy="219456"/>
          </a:xfrm>
          <a:prstGeom prst="rect">
            <a:avLst/>
          </a:prstGeom>
          <a:noFill/>
          <a:ln/>
        </p:spPr>
        <p:txBody>
          <a:bodyPr wrap="square" lIns="0" tIns="0" rIns="0" bIns="0" rtlCol="0" anchor="ctr"/>
          <a:lstStyle/>
          <a:p>
            <a:pPr indent="0" marL="0">
              <a:buNone/>
            </a:pPr>
            <a:r>
              <a:rPr lang="en-US" sz="1050" b="1" spc="150" kern="0" dirty="0">
                <a:solidFill>
                  <a:srgbClr val="0F766E"/>
                </a:solidFill>
                <a:latin typeface="Calibri" pitchFamily="34" charset="0"/>
                <a:ea typeface="Calibri" pitchFamily="34" charset="-122"/>
                <a:cs typeface="Calibri" pitchFamily="34" charset="-120"/>
              </a:rPr>
              <a:t>WHY IT WORKS WHERE A FORM FAILS</a:t>
            </a:r>
            <a:pPr indent="0" marL="0">
              <a:buNone/>
            </a:pPr>
            <a:r>
              <a:rPr lang="en-US" sz="1050" i="1" dirty="0">
                <a:solidFill>
                  <a:srgbClr val="6B7280"/>
                </a:solidFill>
                <a:latin typeface="Calibri" pitchFamily="34" charset="0"/>
                <a:ea typeface="Calibri" pitchFamily="34" charset="-122"/>
                <a:cs typeface="Calibri" pitchFamily="34" charset="-120"/>
              </a:rPr>
              <a:t>   six things only HunarMarg does</a:t>
            </a:r>
            <a:endParaRPr lang="en-US" sz="1050" dirty="0"/>
          </a:p>
        </p:txBody>
      </p:sp>
      <p:sp>
        <p:nvSpPr>
          <p:cNvPr id="76" name="Shape 67"/>
          <p:cNvSpPr/>
          <p:nvPr/>
        </p:nvSpPr>
        <p:spPr>
          <a:xfrm>
            <a:off x="274320" y="3639312"/>
            <a:ext cx="2807208" cy="512064"/>
          </a:xfrm>
          <a:prstGeom prst="roundRect">
            <a:avLst>
              <a:gd name="adj" fmla="val 14286"/>
            </a:avLst>
          </a:prstGeom>
          <a:solidFill>
            <a:srgbClr val="FFFFFF"/>
          </a:solidFill>
          <a:ln w="9525">
            <a:solidFill>
              <a:srgbClr val="E5E7EB"/>
            </a:solidFill>
            <a:prstDash val="solid"/>
          </a:ln>
          <a:effectLst>
            <a:outerShdw sx="100000" sy="100000" kx="0" ky="0" algn="bl" rotWithShape="0" blurRad="50800" dist="19050" dir="5400000">
              <a:srgbClr val="000000">
                <a:alpha val="12000"/>
              </a:srgbClr>
            </a:outerShdw>
          </a:effectLst>
        </p:spPr>
      </p:sp>
      <p:sp>
        <p:nvSpPr>
          <p:cNvPr id="77" name="Shape 68"/>
          <p:cNvSpPr/>
          <p:nvPr/>
        </p:nvSpPr>
        <p:spPr>
          <a:xfrm>
            <a:off x="365760" y="3730752"/>
            <a:ext cx="329184" cy="329184"/>
          </a:xfrm>
          <a:prstGeom prst="ellipse">
            <a:avLst/>
          </a:prstGeom>
          <a:solidFill>
            <a:srgbClr val="2F5DA8"/>
          </a:solidFill>
          <a:ln w="12700">
            <a:solidFill>
              <a:srgbClr val="2F5DA8"/>
            </a:solidFill>
            <a:prstDash val="solid"/>
          </a:ln>
        </p:spPr>
      </p:sp>
      <p:pic>
        <p:nvPicPr>
          <p:cNvPr id="78" name="Image 7" descr="preencoded.png">    </p:cNvPr>
          <p:cNvPicPr>
            <a:picLocks noChangeAspect="1"/>
          </p:cNvPicPr>
          <p:nvPr/>
        </p:nvPicPr>
        <p:blipFill>
          <a:blip r:embed="rId8"/>
          <a:stretch>
            <a:fillRect/>
          </a:stretch>
        </p:blipFill>
        <p:spPr>
          <a:xfrm>
            <a:off x="444764" y="3809756"/>
            <a:ext cx="171176" cy="171176"/>
          </a:xfrm>
          <a:prstGeom prst="rect">
            <a:avLst/>
          </a:prstGeom>
        </p:spPr>
      </p:pic>
      <p:sp>
        <p:nvSpPr>
          <p:cNvPr id="79" name="Text 69"/>
          <p:cNvSpPr txBox="1"/>
          <p:nvPr/>
        </p:nvSpPr>
        <p:spPr>
          <a:xfrm>
            <a:off x="786384" y="3703320"/>
            <a:ext cx="2240280" cy="402336"/>
          </a:xfrm>
          <a:prstGeom prst="rect">
            <a:avLst/>
          </a:prstGeom>
          <a:noFill/>
          <a:ln/>
        </p:spPr>
        <p:txBody>
          <a:bodyPr wrap="square" lIns="0" tIns="0" rIns="0" bIns="0" rtlCol="0" anchor="ctr"/>
          <a:lstStyle/>
          <a:p>
            <a:pPr indent="0" marL="0">
              <a:buNone/>
            </a:pPr>
            <a:r>
              <a:rPr lang="en-US" sz="1000" b="1" dirty="0">
                <a:solidFill>
                  <a:srgbClr val="1B2A4A"/>
                </a:solidFill>
                <a:latin typeface="Calibri" pitchFamily="34" charset="0"/>
                <a:ea typeface="Calibri" pitchFamily="34" charset="-122"/>
                <a:cs typeface="Calibri" pitchFamily="34" charset="-120"/>
              </a:rPr>
              <a:t>Any keypad phone</a:t>
            </a:r>
            <a:endParaRPr lang="en-US" sz="1000" dirty="0"/>
          </a:p>
          <a:p>
            <a:pPr indent="0" marL="0">
              <a:buNone/>
            </a:pPr>
            <a:r>
              <a:rPr lang="en-US" sz="850" dirty="0">
                <a:solidFill>
                  <a:srgbClr val="6B7280"/>
                </a:solidFill>
                <a:latin typeface="Calibri" pitchFamily="34" charset="0"/>
                <a:ea typeface="Calibri" pitchFamily="34" charset="-122"/>
                <a:cs typeface="Calibri" pitchFamily="34" charset="-120"/>
              </a:rPr>
              <a:t>missed call, free, in their own language</a:t>
            </a:r>
            <a:endParaRPr lang="en-US" sz="1000" dirty="0"/>
          </a:p>
        </p:txBody>
      </p:sp>
      <p:sp>
        <p:nvSpPr>
          <p:cNvPr id="80" name="Shape 70"/>
          <p:cNvSpPr/>
          <p:nvPr/>
        </p:nvSpPr>
        <p:spPr>
          <a:xfrm>
            <a:off x="3172968" y="3639312"/>
            <a:ext cx="2807208" cy="512064"/>
          </a:xfrm>
          <a:prstGeom prst="roundRect">
            <a:avLst>
              <a:gd name="adj" fmla="val 14286"/>
            </a:avLst>
          </a:prstGeom>
          <a:solidFill>
            <a:srgbClr val="FFFFFF"/>
          </a:solidFill>
          <a:ln w="9525">
            <a:solidFill>
              <a:srgbClr val="E5E7EB"/>
            </a:solidFill>
            <a:prstDash val="solid"/>
          </a:ln>
          <a:effectLst>
            <a:outerShdw sx="100000" sy="100000" kx="0" ky="0" algn="bl" rotWithShape="0" blurRad="50800" dist="19050" dir="5400000">
              <a:srgbClr val="000000">
                <a:alpha val="12000"/>
              </a:srgbClr>
            </a:outerShdw>
          </a:effectLst>
        </p:spPr>
      </p:sp>
      <p:sp>
        <p:nvSpPr>
          <p:cNvPr id="81" name="Shape 71"/>
          <p:cNvSpPr/>
          <p:nvPr/>
        </p:nvSpPr>
        <p:spPr>
          <a:xfrm>
            <a:off x="3264408" y="3730752"/>
            <a:ext cx="329184" cy="329184"/>
          </a:xfrm>
          <a:prstGeom prst="ellipse">
            <a:avLst/>
          </a:prstGeom>
          <a:solidFill>
            <a:srgbClr val="0F766E"/>
          </a:solidFill>
          <a:ln w="12700">
            <a:solidFill>
              <a:srgbClr val="0F766E"/>
            </a:solidFill>
            <a:prstDash val="solid"/>
          </a:ln>
        </p:spPr>
      </p:sp>
      <p:pic>
        <p:nvPicPr>
          <p:cNvPr id="82" name="Image 8" descr="preencoded.png">    </p:cNvPr>
          <p:cNvPicPr>
            <a:picLocks noChangeAspect="1"/>
          </p:cNvPicPr>
          <p:nvPr/>
        </p:nvPicPr>
        <p:blipFill>
          <a:blip r:embed="rId9"/>
          <a:stretch>
            <a:fillRect/>
          </a:stretch>
        </p:blipFill>
        <p:spPr>
          <a:xfrm>
            <a:off x="3343412" y="3809756"/>
            <a:ext cx="171176" cy="171176"/>
          </a:xfrm>
          <a:prstGeom prst="rect">
            <a:avLst/>
          </a:prstGeom>
        </p:spPr>
      </p:pic>
      <p:sp>
        <p:nvSpPr>
          <p:cNvPr id="83" name="Text 72"/>
          <p:cNvSpPr txBox="1"/>
          <p:nvPr/>
        </p:nvSpPr>
        <p:spPr>
          <a:xfrm>
            <a:off x="3685032" y="3703320"/>
            <a:ext cx="2240280" cy="402336"/>
          </a:xfrm>
          <a:prstGeom prst="rect">
            <a:avLst/>
          </a:prstGeom>
          <a:noFill/>
          <a:ln/>
        </p:spPr>
        <p:txBody>
          <a:bodyPr wrap="square" lIns="0" tIns="0" rIns="0" bIns="0" rtlCol="0" anchor="ctr"/>
          <a:lstStyle/>
          <a:p>
            <a:pPr indent="0" marL="0">
              <a:buNone/>
            </a:pPr>
            <a:r>
              <a:rPr lang="en-US" sz="1000" b="1" dirty="0">
                <a:solidFill>
                  <a:srgbClr val="1B2A4A"/>
                </a:solidFill>
                <a:latin typeface="Calibri" pitchFamily="34" charset="0"/>
                <a:ea typeface="Calibri" pitchFamily="34" charset="-122"/>
                <a:cs typeface="Calibri" pitchFamily="34" charset="-120"/>
              </a:rPr>
              <a:t>Never invented</a:t>
            </a:r>
            <a:endParaRPr lang="en-US" sz="1000" dirty="0"/>
          </a:p>
          <a:p>
            <a:pPr indent="0" marL="0">
              <a:buNone/>
            </a:pPr>
            <a:r>
              <a:rPr lang="en-US" sz="850" dirty="0">
                <a:solidFill>
                  <a:srgbClr val="6B7280"/>
                </a:solidFill>
                <a:latin typeface="Calibri" pitchFamily="34" charset="0"/>
                <a:ea typeface="Calibri" pitchFamily="34" charset="-122"/>
                <a:cs typeface="Calibri" pitchFamily="34" charset="-120"/>
              </a:rPr>
              <a:t>every fact from govt data, checked before it is spoken</a:t>
            </a:r>
            <a:endParaRPr lang="en-US" sz="1000" dirty="0"/>
          </a:p>
        </p:txBody>
      </p:sp>
      <p:sp>
        <p:nvSpPr>
          <p:cNvPr id="84" name="Shape 73"/>
          <p:cNvSpPr/>
          <p:nvPr/>
        </p:nvSpPr>
        <p:spPr>
          <a:xfrm>
            <a:off x="6071616" y="3639312"/>
            <a:ext cx="2807208" cy="512064"/>
          </a:xfrm>
          <a:prstGeom prst="roundRect">
            <a:avLst>
              <a:gd name="adj" fmla="val 14286"/>
            </a:avLst>
          </a:prstGeom>
          <a:solidFill>
            <a:srgbClr val="FFFFFF"/>
          </a:solidFill>
          <a:ln w="9525">
            <a:solidFill>
              <a:srgbClr val="E5E7EB"/>
            </a:solidFill>
            <a:prstDash val="solid"/>
          </a:ln>
          <a:effectLst>
            <a:outerShdw sx="100000" sy="100000" kx="0" ky="0" algn="bl" rotWithShape="0" blurRad="50800" dist="19050" dir="5400000">
              <a:srgbClr val="000000">
                <a:alpha val="12000"/>
              </a:srgbClr>
            </a:outerShdw>
          </a:effectLst>
        </p:spPr>
      </p:sp>
      <p:sp>
        <p:nvSpPr>
          <p:cNvPr id="85" name="Shape 74"/>
          <p:cNvSpPr/>
          <p:nvPr/>
        </p:nvSpPr>
        <p:spPr>
          <a:xfrm>
            <a:off x="6163056" y="3730752"/>
            <a:ext cx="329184" cy="329184"/>
          </a:xfrm>
          <a:prstGeom prst="ellipse">
            <a:avLst/>
          </a:prstGeom>
          <a:solidFill>
            <a:srgbClr val="6D4AB8"/>
          </a:solidFill>
          <a:ln w="12700">
            <a:solidFill>
              <a:srgbClr val="6D4AB8"/>
            </a:solidFill>
            <a:prstDash val="solid"/>
          </a:ln>
        </p:spPr>
      </p:sp>
      <p:pic>
        <p:nvPicPr>
          <p:cNvPr id="86" name="Image 9" descr="preencoded.png">    </p:cNvPr>
          <p:cNvPicPr>
            <a:picLocks noChangeAspect="1"/>
          </p:cNvPicPr>
          <p:nvPr/>
        </p:nvPicPr>
        <p:blipFill>
          <a:blip r:embed="rId10"/>
          <a:stretch>
            <a:fillRect/>
          </a:stretch>
        </p:blipFill>
        <p:spPr>
          <a:xfrm>
            <a:off x="6242060" y="3809756"/>
            <a:ext cx="171176" cy="171176"/>
          </a:xfrm>
          <a:prstGeom prst="rect">
            <a:avLst/>
          </a:prstGeom>
        </p:spPr>
      </p:pic>
      <p:sp>
        <p:nvSpPr>
          <p:cNvPr id="87" name="Text 75"/>
          <p:cNvSpPr txBox="1"/>
          <p:nvPr/>
        </p:nvSpPr>
        <p:spPr>
          <a:xfrm>
            <a:off x="6583680" y="3703320"/>
            <a:ext cx="2240280" cy="402336"/>
          </a:xfrm>
          <a:prstGeom prst="rect">
            <a:avLst/>
          </a:prstGeom>
          <a:noFill/>
          <a:ln/>
        </p:spPr>
        <p:txBody>
          <a:bodyPr wrap="square" lIns="0" tIns="0" rIns="0" bIns="0" rtlCol="0" anchor="ctr"/>
          <a:lstStyle/>
          <a:p>
            <a:pPr indent="0" marL="0">
              <a:buNone/>
            </a:pPr>
            <a:r>
              <a:rPr lang="en-US" sz="1000" b="1" dirty="0">
                <a:solidFill>
                  <a:srgbClr val="1B2A4A"/>
                </a:solidFill>
                <a:latin typeface="Calibri" pitchFamily="34" charset="0"/>
                <a:ea typeface="Calibri" pitchFamily="34" charset="-122"/>
                <a:cs typeface="Calibri" pitchFamily="34" charset="-120"/>
              </a:rPr>
              <a:t>Writes the profile itself</a:t>
            </a:r>
            <a:endParaRPr lang="en-US" sz="1000" dirty="0"/>
          </a:p>
          <a:p>
            <a:pPr indent="0" marL="0">
              <a:buNone/>
            </a:pPr>
            <a:r>
              <a:rPr lang="en-US" sz="850" dirty="0">
                <a:solidFill>
                  <a:srgbClr val="6B7280"/>
                </a:solidFill>
                <a:latin typeface="Calibri" pitchFamily="34" charset="0"/>
                <a:ea typeface="Calibri" pitchFamily="34" charset="-122"/>
                <a:cs typeface="Calibri" pitchFamily="34" charset="-120"/>
              </a:rPr>
              <a:t>officers only review and approve</a:t>
            </a:r>
            <a:endParaRPr lang="en-US" sz="1000" dirty="0"/>
          </a:p>
        </p:txBody>
      </p:sp>
      <p:sp>
        <p:nvSpPr>
          <p:cNvPr id="88" name="Shape 76"/>
          <p:cNvSpPr/>
          <p:nvPr/>
        </p:nvSpPr>
        <p:spPr>
          <a:xfrm>
            <a:off x="274320" y="4224528"/>
            <a:ext cx="2807208" cy="512064"/>
          </a:xfrm>
          <a:prstGeom prst="roundRect">
            <a:avLst>
              <a:gd name="adj" fmla="val 14286"/>
            </a:avLst>
          </a:prstGeom>
          <a:solidFill>
            <a:srgbClr val="FFFFFF"/>
          </a:solidFill>
          <a:ln w="9525">
            <a:solidFill>
              <a:srgbClr val="E5E7EB"/>
            </a:solidFill>
            <a:prstDash val="solid"/>
          </a:ln>
          <a:effectLst>
            <a:outerShdw sx="100000" sy="100000" kx="0" ky="0" algn="bl" rotWithShape="0" blurRad="50800" dist="19050" dir="5400000">
              <a:srgbClr val="000000">
                <a:alpha val="12000"/>
              </a:srgbClr>
            </a:outerShdw>
          </a:effectLst>
        </p:spPr>
      </p:sp>
      <p:sp>
        <p:nvSpPr>
          <p:cNvPr id="89" name="Shape 77"/>
          <p:cNvSpPr/>
          <p:nvPr/>
        </p:nvSpPr>
        <p:spPr>
          <a:xfrm>
            <a:off x="365760" y="4315968"/>
            <a:ext cx="329184" cy="329184"/>
          </a:xfrm>
          <a:prstGeom prst="ellipse">
            <a:avLst/>
          </a:prstGeom>
          <a:solidFill>
            <a:srgbClr val="15803D"/>
          </a:solidFill>
          <a:ln w="12700">
            <a:solidFill>
              <a:srgbClr val="15803D"/>
            </a:solidFill>
            <a:prstDash val="solid"/>
          </a:ln>
        </p:spPr>
      </p:sp>
      <p:pic>
        <p:nvPicPr>
          <p:cNvPr id="90" name="Image 10" descr="preencoded.png">    </p:cNvPr>
          <p:cNvPicPr>
            <a:picLocks noChangeAspect="1"/>
          </p:cNvPicPr>
          <p:nvPr/>
        </p:nvPicPr>
        <p:blipFill>
          <a:blip r:embed="rId11"/>
          <a:stretch>
            <a:fillRect/>
          </a:stretch>
        </p:blipFill>
        <p:spPr>
          <a:xfrm>
            <a:off x="444764" y="4394972"/>
            <a:ext cx="171176" cy="171176"/>
          </a:xfrm>
          <a:prstGeom prst="rect">
            <a:avLst/>
          </a:prstGeom>
        </p:spPr>
      </p:pic>
      <p:sp>
        <p:nvSpPr>
          <p:cNvPr id="91" name="Text 78"/>
          <p:cNvSpPr txBox="1"/>
          <p:nvPr/>
        </p:nvSpPr>
        <p:spPr>
          <a:xfrm>
            <a:off x="786384" y="4288536"/>
            <a:ext cx="2240280" cy="402336"/>
          </a:xfrm>
          <a:prstGeom prst="rect">
            <a:avLst/>
          </a:prstGeom>
          <a:noFill/>
          <a:ln/>
        </p:spPr>
        <p:txBody>
          <a:bodyPr wrap="square" lIns="0" tIns="0" rIns="0" bIns="0" rtlCol="0" anchor="ctr"/>
          <a:lstStyle/>
          <a:p>
            <a:pPr indent="0" marL="0">
              <a:buNone/>
            </a:pPr>
            <a:r>
              <a:rPr lang="en-US" sz="1000" b="1" dirty="0">
                <a:solidFill>
                  <a:srgbClr val="1B2A4A"/>
                </a:solidFill>
                <a:latin typeface="Calibri" pitchFamily="34" charset="0"/>
                <a:ea typeface="Calibri" pitchFamily="34" charset="-122"/>
                <a:cs typeface="Calibri" pitchFamily="34" charset="-120"/>
              </a:rPr>
              <a:t>Money path</a:t>
            </a:r>
            <a:endParaRPr lang="en-US" sz="1000" dirty="0"/>
          </a:p>
          <a:p>
            <a:pPr indent="0" marL="0">
              <a:buNone/>
            </a:pPr>
            <a:r>
              <a:rPr lang="en-US" sz="850" dirty="0">
                <a:solidFill>
                  <a:srgbClr val="6B7280"/>
                </a:solidFill>
                <a:latin typeface="Calibri" pitchFamily="34" charset="0"/>
                <a:ea typeface="Calibri" pitchFamily="34" charset="-122"/>
                <a:cs typeface="Calibri" pitchFamily="34" charset="-120"/>
              </a:rPr>
              <a:t>which loan or grant fits, and the monthly EMI</a:t>
            </a:r>
            <a:endParaRPr lang="en-US" sz="1000" dirty="0"/>
          </a:p>
        </p:txBody>
      </p:sp>
      <p:sp>
        <p:nvSpPr>
          <p:cNvPr id="92" name="Shape 79"/>
          <p:cNvSpPr/>
          <p:nvPr/>
        </p:nvSpPr>
        <p:spPr>
          <a:xfrm>
            <a:off x="3172968" y="4224528"/>
            <a:ext cx="2807208" cy="512064"/>
          </a:xfrm>
          <a:prstGeom prst="roundRect">
            <a:avLst>
              <a:gd name="adj" fmla="val 14286"/>
            </a:avLst>
          </a:prstGeom>
          <a:solidFill>
            <a:srgbClr val="FFFFFF"/>
          </a:solidFill>
          <a:ln w="9525">
            <a:solidFill>
              <a:srgbClr val="E5E7EB"/>
            </a:solidFill>
            <a:prstDash val="solid"/>
          </a:ln>
          <a:effectLst>
            <a:outerShdw sx="100000" sy="100000" kx="0" ky="0" algn="bl" rotWithShape="0" blurRad="50800" dist="19050" dir="5400000">
              <a:srgbClr val="000000">
                <a:alpha val="12000"/>
              </a:srgbClr>
            </a:outerShdw>
          </a:effectLst>
        </p:spPr>
      </p:sp>
      <p:sp>
        <p:nvSpPr>
          <p:cNvPr id="93" name="Shape 80"/>
          <p:cNvSpPr/>
          <p:nvPr/>
        </p:nvSpPr>
        <p:spPr>
          <a:xfrm>
            <a:off x="3264408" y="4315968"/>
            <a:ext cx="329184" cy="329184"/>
          </a:xfrm>
          <a:prstGeom prst="ellipse">
            <a:avLst/>
          </a:prstGeom>
          <a:solidFill>
            <a:srgbClr val="E8772E"/>
          </a:solidFill>
          <a:ln w="12700">
            <a:solidFill>
              <a:srgbClr val="E8772E"/>
            </a:solidFill>
            <a:prstDash val="solid"/>
          </a:ln>
        </p:spPr>
      </p:sp>
      <p:pic>
        <p:nvPicPr>
          <p:cNvPr id="94" name="Image 11" descr="preencoded.png">    </p:cNvPr>
          <p:cNvPicPr>
            <a:picLocks noChangeAspect="1"/>
          </p:cNvPicPr>
          <p:nvPr/>
        </p:nvPicPr>
        <p:blipFill>
          <a:blip r:embed="rId12"/>
          <a:stretch>
            <a:fillRect/>
          </a:stretch>
        </p:blipFill>
        <p:spPr>
          <a:xfrm>
            <a:off x="3343412" y="4394972"/>
            <a:ext cx="171176" cy="171176"/>
          </a:xfrm>
          <a:prstGeom prst="rect">
            <a:avLst/>
          </a:prstGeom>
        </p:spPr>
      </p:pic>
      <p:sp>
        <p:nvSpPr>
          <p:cNvPr id="95" name="Text 81"/>
          <p:cNvSpPr txBox="1"/>
          <p:nvPr/>
        </p:nvSpPr>
        <p:spPr>
          <a:xfrm>
            <a:off x="3685032" y="4288536"/>
            <a:ext cx="2240280" cy="402336"/>
          </a:xfrm>
          <a:prstGeom prst="rect">
            <a:avLst/>
          </a:prstGeom>
          <a:noFill/>
          <a:ln/>
        </p:spPr>
        <p:txBody>
          <a:bodyPr wrap="square" lIns="0" tIns="0" rIns="0" bIns="0" rtlCol="0" anchor="ctr"/>
          <a:lstStyle/>
          <a:p>
            <a:pPr indent="0" marL="0">
              <a:buNone/>
            </a:pPr>
            <a:r>
              <a:rPr lang="en-US" sz="1000" b="1" dirty="0">
                <a:solidFill>
                  <a:srgbClr val="1B2A4A"/>
                </a:solidFill>
                <a:latin typeface="Calibri" pitchFamily="34" charset="0"/>
                <a:ea typeface="Calibri" pitchFamily="34" charset="-122"/>
                <a:cs typeface="Calibri" pitchFamily="34" charset="-120"/>
              </a:rPr>
              <a:t>Outcomes that can't be faked</a:t>
            </a:r>
            <a:endParaRPr lang="en-US" sz="1000" dirty="0"/>
          </a:p>
          <a:p>
            <a:pPr indent="0" marL="0">
              <a:buNone/>
            </a:pPr>
            <a:r>
              <a:rPr lang="en-US" sz="850" dirty="0">
                <a:solidFill>
                  <a:srgbClr val="6B7280"/>
                </a:solidFill>
                <a:latin typeface="Calibri" pitchFamily="34" charset="0"/>
                <a:ea typeface="Calibri" pitchFamily="34" charset="-122"/>
                <a:cs typeface="Calibri" pitchFamily="34" charset="-120"/>
              </a:rPr>
              <a:t>random-digit liveness check + employer check</a:t>
            </a:r>
            <a:endParaRPr lang="en-US" sz="1000" dirty="0"/>
          </a:p>
        </p:txBody>
      </p:sp>
      <p:sp>
        <p:nvSpPr>
          <p:cNvPr id="96" name="Shape 82"/>
          <p:cNvSpPr/>
          <p:nvPr/>
        </p:nvSpPr>
        <p:spPr>
          <a:xfrm>
            <a:off x="6071616" y="4224528"/>
            <a:ext cx="2807208" cy="512064"/>
          </a:xfrm>
          <a:prstGeom prst="roundRect">
            <a:avLst>
              <a:gd name="adj" fmla="val 14286"/>
            </a:avLst>
          </a:prstGeom>
          <a:solidFill>
            <a:srgbClr val="FFFFFF"/>
          </a:solidFill>
          <a:ln w="9525">
            <a:solidFill>
              <a:srgbClr val="E5E7EB"/>
            </a:solidFill>
            <a:prstDash val="solid"/>
          </a:ln>
          <a:effectLst>
            <a:outerShdw sx="100000" sy="100000" kx="0" ky="0" algn="bl" rotWithShape="0" blurRad="50800" dist="19050" dir="5400000">
              <a:srgbClr val="000000">
                <a:alpha val="12000"/>
              </a:srgbClr>
            </a:outerShdw>
          </a:effectLst>
        </p:spPr>
      </p:sp>
      <p:sp>
        <p:nvSpPr>
          <p:cNvPr id="97" name="Shape 83"/>
          <p:cNvSpPr/>
          <p:nvPr/>
        </p:nvSpPr>
        <p:spPr>
          <a:xfrm>
            <a:off x="6163056" y="4315968"/>
            <a:ext cx="329184" cy="329184"/>
          </a:xfrm>
          <a:prstGeom prst="ellipse">
            <a:avLst/>
          </a:prstGeom>
          <a:solidFill>
            <a:srgbClr val="4B5563"/>
          </a:solidFill>
          <a:ln w="12700">
            <a:solidFill>
              <a:srgbClr val="4B5563"/>
            </a:solidFill>
            <a:prstDash val="solid"/>
          </a:ln>
        </p:spPr>
      </p:sp>
      <p:pic>
        <p:nvPicPr>
          <p:cNvPr id="98" name="Image 12" descr="preencoded.png">    </p:cNvPr>
          <p:cNvPicPr>
            <a:picLocks noChangeAspect="1"/>
          </p:cNvPicPr>
          <p:nvPr/>
        </p:nvPicPr>
        <p:blipFill>
          <a:blip r:embed="rId13"/>
          <a:stretch>
            <a:fillRect/>
          </a:stretch>
        </p:blipFill>
        <p:spPr>
          <a:xfrm>
            <a:off x="6242060" y="4394972"/>
            <a:ext cx="171176" cy="171176"/>
          </a:xfrm>
          <a:prstGeom prst="rect">
            <a:avLst/>
          </a:prstGeom>
        </p:spPr>
      </p:pic>
      <p:sp>
        <p:nvSpPr>
          <p:cNvPr id="99" name="Text 84"/>
          <p:cNvSpPr txBox="1"/>
          <p:nvPr/>
        </p:nvSpPr>
        <p:spPr>
          <a:xfrm>
            <a:off x="6583680" y="4288536"/>
            <a:ext cx="2240280" cy="402336"/>
          </a:xfrm>
          <a:prstGeom prst="rect">
            <a:avLst/>
          </a:prstGeom>
          <a:noFill/>
          <a:ln/>
        </p:spPr>
        <p:txBody>
          <a:bodyPr wrap="square" lIns="0" tIns="0" rIns="0" bIns="0" rtlCol="0" anchor="ctr"/>
          <a:lstStyle/>
          <a:p>
            <a:pPr indent="0" marL="0">
              <a:buNone/>
            </a:pPr>
            <a:r>
              <a:rPr lang="en-US" sz="1000" b="1" dirty="0">
                <a:solidFill>
                  <a:srgbClr val="1B2A4A"/>
                </a:solidFill>
                <a:latin typeface="Calibri" pitchFamily="34" charset="0"/>
                <a:ea typeface="Calibri" pitchFamily="34" charset="-122"/>
                <a:cs typeface="Calibri" pitchFamily="34" charset="-120"/>
              </a:rPr>
              <a:t>Learns from verified jobs only</a:t>
            </a:r>
            <a:endParaRPr lang="en-US" sz="1000" dirty="0"/>
          </a:p>
          <a:p>
            <a:pPr indent="0" marL="0">
              <a:buNone/>
            </a:pPr>
            <a:r>
              <a:rPr lang="en-US" sz="850" dirty="0">
                <a:solidFill>
                  <a:srgbClr val="6B7280"/>
                </a:solidFill>
                <a:latin typeface="Calibri" pitchFamily="34" charset="0"/>
                <a:ea typeface="Calibri" pitchFamily="34" charset="-122"/>
                <a:cs typeface="Calibri" pitchFamily="34" charset="-120"/>
              </a:rPr>
              <a:t>fake placements can't teach it</a:t>
            </a:r>
            <a:endParaRPr lang="en-US" sz="1000" dirty="0"/>
          </a:p>
        </p:txBody>
      </p:sp>
      <p:sp>
        <p:nvSpPr>
          <p:cNvPr id="100" name="Text 85"/>
          <p:cNvSpPr txBox="1"/>
          <p:nvPr/>
        </p:nvSpPr>
        <p:spPr>
          <a:xfrm>
            <a:off x="6309360" y="4846320"/>
            <a:ext cx="2103120" cy="201168"/>
          </a:xfrm>
          <a:prstGeom prst="rect">
            <a:avLst/>
          </a:prstGeom>
          <a:noFill/>
          <a:ln/>
        </p:spPr>
        <p:txBody>
          <a:bodyPr wrap="square" lIns="0" tIns="0" rIns="0" bIns="0" rtlCol="0" anchor="ctr"/>
          <a:lstStyle/>
          <a:p>
            <a:pPr algn="r" indent="0" marL="0">
              <a:buNone/>
            </a:pPr>
            <a:r>
              <a:rPr lang="en-US" sz="750" i="1" dirty="0">
                <a:solidFill>
                  <a:srgbClr val="6B7280"/>
                </a:solidFill>
                <a:latin typeface="Calibri" pitchFamily="34" charset="0"/>
                <a:ea typeface="Calibri" pitchFamily="34" charset="-122"/>
                <a:cs typeface="Calibri" pitchFamily="34" charset="-120"/>
              </a:rPr>
              <a:t>* needs a government MoU</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28600" y="146304"/>
            <a:ext cx="1188720" cy="457200"/>
          </a:xfrm>
          <a:prstGeom prst="ellipse">
            <a:avLst/>
          </a:prstGeom>
          <a:solidFill>
            <a:srgbClr val="FFFFFF"/>
          </a:solidFill>
          <a:ln w="15875">
            <a:solidFill>
              <a:srgbClr val="1B2A4A"/>
            </a:solidFill>
            <a:prstDash val="solid"/>
          </a:ln>
        </p:spPr>
      </p:sp>
      <p:sp>
        <p:nvSpPr>
          <p:cNvPr id="3" name="Text 1"/>
          <p:cNvSpPr txBox="1"/>
          <p:nvPr/>
        </p:nvSpPr>
        <p:spPr>
          <a:xfrm>
            <a:off x="228600" y="146304"/>
            <a:ext cx="1188720" cy="457200"/>
          </a:xfrm>
          <a:prstGeom prst="rect">
            <a:avLst/>
          </a:prstGeom>
          <a:noFill/>
          <a:ln/>
        </p:spPr>
        <p:txBody>
          <a:bodyPr wrap="square" lIns="0" tIns="0" rIns="0" bIns="0" rtlCol="0" anchor="ctr"/>
          <a:lstStyle/>
          <a:p>
            <a:pPr algn="ctr" indent="0" marL="0">
              <a:buNone/>
            </a:pPr>
            <a:r>
              <a:rPr lang="en-US" sz="1200" b="1" dirty="0">
                <a:solidFill>
                  <a:srgbClr val="1B2A4A"/>
                </a:solidFill>
                <a:latin typeface="Calibri" pitchFamily="34" charset="0"/>
                <a:ea typeface="Calibri" pitchFamily="34" charset="-122"/>
                <a:cs typeface="Calibri" pitchFamily="34" charset="-120"/>
              </a:rPr>
              <a:t>Cognify</a:t>
            </a:r>
            <a:endParaRPr lang="en-US" sz="1200" dirty="0"/>
          </a:p>
        </p:txBody>
      </p:sp>
      <p:sp>
        <p:nvSpPr>
          <p:cNvPr id="4" name="Text 2"/>
          <p:cNvSpPr txBox="1"/>
          <p:nvPr/>
        </p:nvSpPr>
        <p:spPr>
          <a:xfrm>
            <a:off x="1554480" y="91440"/>
            <a:ext cx="5577840" cy="420624"/>
          </a:xfrm>
          <a:prstGeom prst="rect">
            <a:avLst/>
          </a:prstGeom>
          <a:noFill/>
          <a:ln/>
        </p:spPr>
        <p:txBody>
          <a:bodyPr wrap="square" lIns="0" tIns="0" rIns="0" bIns="0" rtlCol="0" anchor="ctr"/>
          <a:lstStyle/>
          <a:p>
            <a:pPr algn="ctr" indent="0" marL="0">
              <a:buNone/>
            </a:pPr>
            <a:r>
              <a:rPr lang="en-US" sz="2200" b="1" dirty="0">
                <a:solidFill>
                  <a:srgbClr val="1B2A4A"/>
                </a:solidFill>
                <a:latin typeface="Cambria" pitchFamily="34" charset="0"/>
                <a:ea typeface="Cambria" pitchFamily="34" charset="-122"/>
                <a:cs typeface="Cambria" pitchFamily="34" charset="-120"/>
              </a:rPr>
              <a:t>Technical Approach</a:t>
            </a:r>
            <a:endParaRPr lang="en-US" sz="2200" dirty="0"/>
          </a:p>
        </p:txBody>
      </p:sp>
      <p:sp>
        <p:nvSpPr>
          <p:cNvPr id="5" name="Text 3"/>
          <p:cNvSpPr txBox="1"/>
          <p:nvPr/>
        </p:nvSpPr>
        <p:spPr>
          <a:xfrm>
            <a:off x="1554480" y="502920"/>
            <a:ext cx="5577840" cy="274320"/>
          </a:xfrm>
          <a:prstGeom prst="rect">
            <a:avLst/>
          </a:prstGeom>
          <a:noFill/>
          <a:ln/>
        </p:spPr>
        <p:txBody>
          <a:bodyPr wrap="square" lIns="0" tIns="0" rIns="0" bIns="0" rtlCol="0" anchor="ctr"/>
          <a:lstStyle/>
          <a:p>
            <a:pPr algn="ctr" indent="0" marL="0">
              <a:buNone/>
            </a:pPr>
            <a:r>
              <a:rPr lang="en-US" sz="1050" i="1" dirty="0">
                <a:solidFill>
                  <a:srgbClr val="6B7280"/>
                </a:solidFill>
                <a:latin typeface="Calibri" pitchFamily="34" charset="0"/>
                <a:ea typeface="Calibri" pitchFamily="34" charset="-122"/>
                <a:cs typeface="Calibri" pitchFamily="34" charset="-120"/>
              </a:rPr>
              <a:t>Indian, open-source models, fine-tuned by us, running on Indian servers</a:t>
            </a:r>
            <a:endParaRPr lang="en-US" sz="1050" dirty="0"/>
          </a:p>
        </p:txBody>
      </p:sp>
      <p:pic>
        <p:nvPicPr>
          <p:cNvPr id="6" name="Image 0" descr="/tmp/claude-0/-home-user-hunarvaani/1a479c87-c527-500c-a3b9-10fb2a163850/scratchpad/ppt/sc/ppt/media/image-1-1.png">    </p:cNvPr>
          <p:cNvPicPr>
            <a:picLocks noChangeAspect="1"/>
          </p:cNvPicPr>
          <p:nvPr/>
        </p:nvPicPr>
        <p:blipFill>
          <a:blip r:embed="rId1"/>
          <a:stretch>
            <a:fillRect/>
          </a:stretch>
        </p:blipFill>
        <p:spPr>
          <a:xfrm>
            <a:off x="7296912" y="91440"/>
            <a:ext cx="1572768" cy="740664"/>
          </a:xfrm>
          <a:prstGeom prst="rect">
            <a:avLst/>
          </a:prstGeom>
        </p:spPr>
      </p:pic>
      <p:sp>
        <p:nvSpPr>
          <p:cNvPr id="7" name="Shape 4"/>
          <p:cNvSpPr/>
          <p:nvPr/>
        </p:nvSpPr>
        <p:spPr>
          <a:xfrm>
            <a:off x="292608" y="4901184"/>
            <a:ext cx="73152" cy="73152"/>
          </a:xfrm>
          <a:prstGeom prst="ellipse">
            <a:avLst/>
          </a:prstGeom>
          <a:solidFill>
            <a:srgbClr val="D1D5DB"/>
          </a:solidFill>
          <a:ln w="12700">
            <a:solidFill>
              <a:srgbClr val="D1D5DB"/>
            </a:solidFill>
            <a:prstDash val="solid"/>
          </a:ln>
        </p:spPr>
      </p:sp>
      <p:sp>
        <p:nvSpPr>
          <p:cNvPr id="8" name="Shape 5"/>
          <p:cNvSpPr/>
          <p:nvPr/>
        </p:nvSpPr>
        <p:spPr>
          <a:xfrm>
            <a:off x="402336" y="4956048"/>
            <a:ext cx="91440" cy="0"/>
          </a:xfrm>
          <a:prstGeom prst="line">
            <a:avLst/>
          </a:prstGeom>
          <a:noFill/>
          <a:ln w="9525">
            <a:solidFill>
              <a:srgbClr val="D1D5DB"/>
            </a:solidFill>
            <a:prstDash val="dash"/>
          </a:ln>
        </p:spPr>
      </p:sp>
      <p:sp>
        <p:nvSpPr>
          <p:cNvPr id="9" name="Shape 6"/>
          <p:cNvSpPr/>
          <p:nvPr/>
        </p:nvSpPr>
        <p:spPr>
          <a:xfrm>
            <a:off x="493776" y="4901184"/>
            <a:ext cx="109728" cy="109728"/>
          </a:xfrm>
          <a:prstGeom prst="ellipse">
            <a:avLst/>
          </a:prstGeom>
          <a:solidFill>
            <a:srgbClr val="E8772E"/>
          </a:solidFill>
          <a:ln w="12700">
            <a:solidFill>
              <a:srgbClr val="E8772E"/>
            </a:solidFill>
            <a:prstDash val="solid"/>
          </a:ln>
        </p:spPr>
      </p:sp>
      <p:sp>
        <p:nvSpPr>
          <p:cNvPr id="10" name="Shape 7"/>
          <p:cNvSpPr/>
          <p:nvPr/>
        </p:nvSpPr>
        <p:spPr>
          <a:xfrm>
            <a:off x="603504" y="4956048"/>
            <a:ext cx="91440" cy="0"/>
          </a:xfrm>
          <a:prstGeom prst="line">
            <a:avLst/>
          </a:prstGeom>
          <a:noFill/>
          <a:ln w="9525">
            <a:solidFill>
              <a:srgbClr val="D1D5DB"/>
            </a:solidFill>
            <a:prstDash val="dash"/>
          </a:ln>
        </p:spPr>
      </p:sp>
      <p:sp>
        <p:nvSpPr>
          <p:cNvPr id="11" name="Shape 8"/>
          <p:cNvSpPr/>
          <p:nvPr/>
        </p:nvSpPr>
        <p:spPr>
          <a:xfrm>
            <a:off x="694944" y="4901184"/>
            <a:ext cx="73152" cy="73152"/>
          </a:xfrm>
          <a:prstGeom prst="ellipse">
            <a:avLst/>
          </a:prstGeom>
          <a:solidFill>
            <a:srgbClr val="D1D5DB"/>
          </a:solidFill>
          <a:ln w="12700">
            <a:solidFill>
              <a:srgbClr val="D1D5DB"/>
            </a:solidFill>
            <a:prstDash val="solid"/>
          </a:ln>
        </p:spPr>
      </p:sp>
      <p:sp>
        <p:nvSpPr>
          <p:cNvPr id="12" name="Shape 9"/>
          <p:cNvSpPr/>
          <p:nvPr/>
        </p:nvSpPr>
        <p:spPr>
          <a:xfrm>
            <a:off x="804672" y="4956048"/>
            <a:ext cx="91440" cy="0"/>
          </a:xfrm>
          <a:prstGeom prst="line">
            <a:avLst/>
          </a:prstGeom>
          <a:noFill/>
          <a:ln w="9525">
            <a:solidFill>
              <a:srgbClr val="D1D5DB"/>
            </a:solidFill>
            <a:prstDash val="dash"/>
          </a:ln>
        </p:spPr>
      </p:sp>
      <p:sp>
        <p:nvSpPr>
          <p:cNvPr id="13" name="Shape 10"/>
          <p:cNvSpPr/>
          <p:nvPr/>
        </p:nvSpPr>
        <p:spPr>
          <a:xfrm>
            <a:off x="896112" y="4901184"/>
            <a:ext cx="73152" cy="73152"/>
          </a:xfrm>
          <a:prstGeom prst="ellipse">
            <a:avLst/>
          </a:prstGeom>
          <a:solidFill>
            <a:srgbClr val="D1D5DB"/>
          </a:solidFill>
          <a:ln w="12700">
            <a:solidFill>
              <a:srgbClr val="D1D5DB"/>
            </a:solidFill>
            <a:prstDash val="solid"/>
          </a:ln>
        </p:spPr>
      </p:sp>
      <p:sp>
        <p:nvSpPr>
          <p:cNvPr id="14" name="Shape 11"/>
          <p:cNvSpPr/>
          <p:nvPr/>
        </p:nvSpPr>
        <p:spPr>
          <a:xfrm>
            <a:off x="1005840" y="4956048"/>
            <a:ext cx="91440" cy="0"/>
          </a:xfrm>
          <a:prstGeom prst="line">
            <a:avLst/>
          </a:prstGeom>
          <a:noFill/>
          <a:ln w="9525">
            <a:solidFill>
              <a:srgbClr val="D1D5DB"/>
            </a:solidFill>
            <a:prstDash val="dash"/>
          </a:ln>
        </p:spPr>
      </p:sp>
      <p:sp>
        <p:nvSpPr>
          <p:cNvPr id="15" name="Shape 12"/>
          <p:cNvSpPr/>
          <p:nvPr/>
        </p:nvSpPr>
        <p:spPr>
          <a:xfrm>
            <a:off x="1097280" y="4901184"/>
            <a:ext cx="73152" cy="73152"/>
          </a:xfrm>
          <a:prstGeom prst="ellipse">
            <a:avLst/>
          </a:prstGeom>
          <a:solidFill>
            <a:srgbClr val="D1D5DB"/>
          </a:solidFill>
          <a:ln w="12700">
            <a:solidFill>
              <a:srgbClr val="D1D5DB"/>
            </a:solidFill>
            <a:prstDash val="solid"/>
          </a:ln>
        </p:spPr>
      </p:sp>
      <p:sp>
        <p:nvSpPr>
          <p:cNvPr id="16" name="Text 13"/>
          <p:cNvSpPr txBox="1"/>
          <p:nvPr/>
        </p:nvSpPr>
        <p:spPr>
          <a:xfrm>
            <a:off x="1325880" y="4846320"/>
            <a:ext cx="1097280" cy="201168"/>
          </a:xfrm>
          <a:prstGeom prst="rect">
            <a:avLst/>
          </a:prstGeom>
          <a:noFill/>
          <a:ln/>
        </p:spPr>
        <p:txBody>
          <a:bodyPr wrap="square" lIns="0" tIns="0" rIns="0" bIns="0" rtlCol="0" anchor="ctr"/>
          <a:lstStyle/>
          <a:p>
            <a:pPr indent="0" marL="0">
              <a:buNone/>
            </a:pPr>
            <a:r>
              <a:rPr lang="en-US" sz="900" b="1" dirty="0">
                <a:solidFill>
                  <a:srgbClr val="6B7280"/>
                </a:solidFill>
                <a:latin typeface="Calibri" pitchFamily="34" charset="0"/>
                <a:ea typeface="Calibri" pitchFamily="34" charset="-122"/>
                <a:cs typeface="Calibri" pitchFamily="34" charset="-120"/>
              </a:rPr>
              <a:t>HunarMarg</a:t>
            </a:r>
            <a:endParaRPr lang="en-US" sz="900" dirty="0"/>
          </a:p>
        </p:txBody>
      </p:sp>
      <p:sp>
        <p:nvSpPr>
          <p:cNvPr id="17" name="Text 14"/>
          <p:cNvSpPr txBox="1"/>
          <p:nvPr/>
        </p:nvSpPr>
        <p:spPr>
          <a:xfrm>
            <a:off x="8503920" y="4828032"/>
            <a:ext cx="365760" cy="219456"/>
          </a:xfrm>
          <a:prstGeom prst="rect">
            <a:avLst/>
          </a:prstGeom>
          <a:noFill/>
          <a:ln/>
        </p:spPr>
        <p:txBody>
          <a:bodyPr wrap="square" lIns="0" tIns="0" rIns="0" bIns="0" rtlCol="0" anchor="ctr"/>
          <a:lstStyle/>
          <a:p>
            <a:pPr algn="r" indent="0" marL="0">
              <a:buNone/>
            </a:pPr>
            <a:r>
              <a:rPr lang="en-US" sz="1100" b="1" dirty="0">
                <a:solidFill>
                  <a:srgbClr val="1B2A4A"/>
                </a:solidFill>
                <a:latin typeface="Calibri" pitchFamily="34" charset="0"/>
                <a:ea typeface="Calibri" pitchFamily="34" charset="-122"/>
                <a:cs typeface="Calibri" pitchFamily="34" charset="-120"/>
              </a:rPr>
              <a:t>3</a:t>
            </a:r>
            <a:endParaRPr lang="en-US" sz="1100" dirty="0"/>
          </a:p>
        </p:txBody>
      </p:sp>
      <p:sp>
        <p:nvSpPr>
          <p:cNvPr id="18" name="Text 15"/>
          <p:cNvSpPr txBox="1"/>
          <p:nvPr/>
        </p:nvSpPr>
        <p:spPr>
          <a:xfrm>
            <a:off x="274320" y="896112"/>
            <a:ext cx="8595360" cy="219456"/>
          </a:xfrm>
          <a:prstGeom prst="rect">
            <a:avLst/>
          </a:prstGeom>
          <a:noFill/>
          <a:ln/>
        </p:spPr>
        <p:txBody>
          <a:bodyPr wrap="square" lIns="0" tIns="0" rIns="0" bIns="0" rtlCol="0" anchor="ctr"/>
          <a:lstStyle/>
          <a:p>
            <a:pPr indent="0" marL="0">
              <a:buNone/>
            </a:pPr>
            <a:r>
              <a:rPr lang="en-US" sz="1050" b="1" spc="150" kern="0" dirty="0">
                <a:solidFill>
                  <a:srgbClr val="0F766E"/>
                </a:solidFill>
                <a:latin typeface="Calibri" pitchFamily="34" charset="0"/>
                <a:ea typeface="Calibri" pitchFamily="34" charset="-122"/>
                <a:cs typeface="Calibri" pitchFamily="34" charset="-120"/>
              </a:rPr>
              <a:t>TECH STACK</a:t>
            </a:r>
            <a:pPr indent="0" marL="0">
              <a:buNone/>
            </a:pPr>
            <a:r>
              <a:rPr lang="en-US" sz="1050" i="1" dirty="0">
                <a:solidFill>
                  <a:srgbClr val="6B7280"/>
                </a:solidFill>
                <a:latin typeface="Calibri" pitchFamily="34" charset="0"/>
                <a:ea typeface="Calibri" pitchFamily="34" charset="-122"/>
                <a:cs typeface="Calibri" pitchFamily="34" charset="-120"/>
              </a:rPr>
              <a:t>   Indian and open-source, fine-tuned by us</a:t>
            </a:r>
            <a:endParaRPr lang="en-US" sz="1050" dirty="0"/>
          </a:p>
        </p:txBody>
      </p:sp>
      <p:sp>
        <p:nvSpPr>
          <p:cNvPr id="19" name="Shape 16"/>
          <p:cNvSpPr/>
          <p:nvPr/>
        </p:nvSpPr>
        <p:spPr>
          <a:xfrm>
            <a:off x="274320" y="1143000"/>
            <a:ext cx="1828800" cy="530352"/>
          </a:xfrm>
          <a:prstGeom prst="roundRect">
            <a:avLst>
              <a:gd name="adj" fmla="val 13793"/>
            </a:avLst>
          </a:prstGeom>
          <a:solidFill>
            <a:srgbClr val="EAF0FB"/>
          </a:solidFill>
          <a:ln w="12700">
            <a:solidFill>
              <a:srgbClr val="EAF0FB"/>
            </a:solidFill>
            <a:prstDash val="solid"/>
          </a:ln>
        </p:spPr>
      </p:sp>
      <p:sp>
        <p:nvSpPr>
          <p:cNvPr id="20" name="Shape 17"/>
          <p:cNvSpPr/>
          <p:nvPr/>
        </p:nvSpPr>
        <p:spPr>
          <a:xfrm>
            <a:off x="347472" y="1216152"/>
            <a:ext cx="237744" cy="237744"/>
          </a:xfrm>
          <a:prstGeom prst="ellipse">
            <a:avLst/>
          </a:prstGeom>
          <a:solidFill>
            <a:srgbClr val="2F5DA8"/>
          </a:solidFill>
          <a:ln w="12700">
            <a:solidFill>
              <a:srgbClr val="2F5DA8"/>
            </a:solidFill>
            <a:prstDash val="solid"/>
          </a:ln>
        </p:spPr>
      </p:sp>
      <p:pic>
        <p:nvPicPr>
          <p:cNvPr id="21" name="Image 1" descr="preencoded.png">    </p:cNvPr>
          <p:cNvPicPr>
            <a:picLocks noChangeAspect="1"/>
          </p:cNvPicPr>
          <p:nvPr/>
        </p:nvPicPr>
        <p:blipFill>
          <a:blip r:embed="rId2"/>
          <a:stretch>
            <a:fillRect/>
          </a:stretch>
        </p:blipFill>
        <p:spPr>
          <a:xfrm>
            <a:off x="404531" y="1273211"/>
            <a:ext cx="123627" cy="123627"/>
          </a:xfrm>
          <a:prstGeom prst="rect">
            <a:avLst/>
          </a:prstGeom>
        </p:spPr>
      </p:pic>
      <p:sp>
        <p:nvSpPr>
          <p:cNvPr id="22" name="Text 18"/>
          <p:cNvSpPr txBox="1"/>
          <p:nvPr/>
        </p:nvSpPr>
        <p:spPr>
          <a:xfrm>
            <a:off x="640080" y="1188720"/>
            <a:ext cx="1417320" cy="164592"/>
          </a:xfrm>
          <a:prstGeom prst="rect">
            <a:avLst/>
          </a:prstGeom>
          <a:noFill/>
          <a:ln/>
        </p:spPr>
        <p:txBody>
          <a:bodyPr wrap="square" lIns="0" tIns="0" rIns="0" bIns="0" rtlCol="0" anchor="t"/>
          <a:lstStyle/>
          <a:p>
            <a:pPr indent="0" marL="0">
              <a:buNone/>
            </a:pPr>
            <a:r>
              <a:rPr lang="en-US" sz="850" b="1" dirty="0">
                <a:solidFill>
                  <a:srgbClr val="2F5DA8"/>
                </a:solidFill>
                <a:latin typeface="Calibri" pitchFamily="34" charset="0"/>
                <a:ea typeface="Calibri" pitchFamily="34" charset="-122"/>
                <a:cs typeface="Calibri" pitchFamily="34" charset="-120"/>
              </a:rPr>
              <a:t>Calls &amp; messages</a:t>
            </a:r>
            <a:endParaRPr lang="en-US" sz="850" dirty="0"/>
          </a:p>
        </p:txBody>
      </p:sp>
      <p:sp>
        <p:nvSpPr>
          <p:cNvPr id="23" name="Text 19"/>
          <p:cNvSpPr txBox="1"/>
          <p:nvPr/>
        </p:nvSpPr>
        <p:spPr>
          <a:xfrm>
            <a:off x="640080" y="1353312"/>
            <a:ext cx="1389888" cy="292608"/>
          </a:xfrm>
          <a:prstGeom prst="rect">
            <a:avLst/>
          </a:prstGeom>
          <a:noFill/>
          <a:ln/>
        </p:spPr>
        <p:txBody>
          <a:bodyPr wrap="square" lIns="0" tIns="0" rIns="0" bIns="0" rtlCol="0" anchor="t"/>
          <a:lstStyle/>
          <a:p>
            <a:pPr indent="0" marL="0">
              <a:buNone/>
            </a:pPr>
            <a:r>
              <a:rPr lang="en-US" sz="750" dirty="0">
                <a:solidFill>
                  <a:srgbClr val="1F2937"/>
                </a:solidFill>
                <a:latin typeface="Calibri" pitchFamily="34" charset="0"/>
                <a:ea typeface="Calibri" pitchFamily="34" charset="-122"/>
                <a:cs typeface="Calibri" pitchFamily="34" charset="-120"/>
              </a:rPr>
              <a:t>Exotel · 1600 number* · SMS</a:t>
            </a:r>
            <a:endParaRPr lang="en-US" sz="750" dirty="0"/>
          </a:p>
        </p:txBody>
      </p:sp>
      <p:sp>
        <p:nvSpPr>
          <p:cNvPr id="24" name="Shape 20"/>
          <p:cNvSpPr/>
          <p:nvPr/>
        </p:nvSpPr>
        <p:spPr>
          <a:xfrm>
            <a:off x="2194560" y="1143000"/>
            <a:ext cx="2697480" cy="530352"/>
          </a:xfrm>
          <a:prstGeom prst="roundRect">
            <a:avLst>
              <a:gd name="adj" fmla="val 13793"/>
            </a:avLst>
          </a:prstGeom>
          <a:solidFill>
            <a:srgbClr val="F1ECFB"/>
          </a:solidFill>
          <a:ln w="12700">
            <a:solidFill>
              <a:srgbClr val="F1ECFB"/>
            </a:solidFill>
            <a:prstDash val="solid"/>
          </a:ln>
        </p:spPr>
      </p:sp>
      <p:sp>
        <p:nvSpPr>
          <p:cNvPr id="25" name="Shape 21"/>
          <p:cNvSpPr/>
          <p:nvPr/>
        </p:nvSpPr>
        <p:spPr>
          <a:xfrm>
            <a:off x="2267712" y="1216152"/>
            <a:ext cx="237744" cy="237744"/>
          </a:xfrm>
          <a:prstGeom prst="ellipse">
            <a:avLst/>
          </a:prstGeom>
          <a:solidFill>
            <a:srgbClr val="6D4AB8"/>
          </a:solidFill>
          <a:ln w="12700">
            <a:solidFill>
              <a:srgbClr val="6D4AB8"/>
            </a:solidFill>
            <a:prstDash val="solid"/>
          </a:ln>
        </p:spPr>
      </p:sp>
      <p:pic>
        <p:nvPicPr>
          <p:cNvPr id="26" name="Image 2" descr="preencoded.png">    </p:cNvPr>
          <p:cNvPicPr>
            <a:picLocks noChangeAspect="1"/>
          </p:cNvPicPr>
          <p:nvPr/>
        </p:nvPicPr>
        <p:blipFill>
          <a:blip r:embed="rId3"/>
          <a:stretch>
            <a:fillRect/>
          </a:stretch>
        </p:blipFill>
        <p:spPr>
          <a:xfrm>
            <a:off x="2324771" y="1273211"/>
            <a:ext cx="123627" cy="123627"/>
          </a:xfrm>
          <a:prstGeom prst="rect">
            <a:avLst/>
          </a:prstGeom>
        </p:spPr>
      </p:pic>
      <p:sp>
        <p:nvSpPr>
          <p:cNvPr id="27" name="Text 22"/>
          <p:cNvSpPr txBox="1"/>
          <p:nvPr/>
        </p:nvSpPr>
        <p:spPr>
          <a:xfrm>
            <a:off x="2560320" y="1188720"/>
            <a:ext cx="2286000" cy="164592"/>
          </a:xfrm>
          <a:prstGeom prst="rect">
            <a:avLst/>
          </a:prstGeom>
          <a:noFill/>
          <a:ln/>
        </p:spPr>
        <p:txBody>
          <a:bodyPr wrap="square" lIns="0" tIns="0" rIns="0" bIns="0" rtlCol="0" anchor="t"/>
          <a:lstStyle/>
          <a:p>
            <a:pPr indent="0" marL="0">
              <a:buNone/>
            </a:pPr>
            <a:r>
              <a:rPr lang="en-US" sz="850" b="1" dirty="0">
                <a:solidFill>
                  <a:srgbClr val="6D4AB8"/>
                </a:solidFill>
                <a:latin typeface="Calibri" pitchFamily="34" charset="0"/>
                <a:ea typeface="Calibri" pitchFamily="34" charset="-122"/>
                <a:cs typeface="Calibri" pitchFamily="34" charset="-120"/>
              </a:rPr>
              <a:t>AI models (fine-tuned)</a:t>
            </a:r>
            <a:endParaRPr lang="en-US" sz="850" dirty="0"/>
          </a:p>
        </p:txBody>
      </p:sp>
      <p:sp>
        <p:nvSpPr>
          <p:cNvPr id="28" name="Text 23"/>
          <p:cNvSpPr txBox="1"/>
          <p:nvPr/>
        </p:nvSpPr>
        <p:spPr>
          <a:xfrm>
            <a:off x="2560320" y="1353312"/>
            <a:ext cx="2258568" cy="292608"/>
          </a:xfrm>
          <a:prstGeom prst="rect">
            <a:avLst/>
          </a:prstGeom>
          <a:noFill/>
          <a:ln/>
        </p:spPr>
        <p:txBody>
          <a:bodyPr wrap="square" lIns="0" tIns="0" rIns="0" bIns="0" rtlCol="0" anchor="t"/>
          <a:lstStyle/>
          <a:p>
            <a:pPr indent="0" marL="0">
              <a:buNone/>
            </a:pPr>
            <a:r>
              <a:rPr lang="en-US" sz="750" dirty="0">
                <a:solidFill>
                  <a:srgbClr val="1F2937"/>
                </a:solidFill>
                <a:latin typeface="Calibri" pitchFamily="34" charset="0"/>
                <a:ea typeface="Calibri" pitchFamily="34" charset="-122"/>
                <a:cs typeface="Calibri" pitchFamily="34" charset="-120"/>
              </a:rPr>
              <a:t>IndicConformer · Indic Parler-TTS · Sarvam-30B · MuRIL · e5 · LightGBM · Satyavaani</a:t>
            </a:r>
            <a:endParaRPr lang="en-US" sz="750" dirty="0"/>
          </a:p>
        </p:txBody>
      </p:sp>
      <p:sp>
        <p:nvSpPr>
          <p:cNvPr id="29" name="Shape 24"/>
          <p:cNvSpPr/>
          <p:nvPr/>
        </p:nvSpPr>
        <p:spPr>
          <a:xfrm>
            <a:off x="4983480" y="1143000"/>
            <a:ext cx="1965960" cy="530352"/>
          </a:xfrm>
          <a:prstGeom prst="roundRect">
            <a:avLst>
              <a:gd name="adj" fmla="val 13793"/>
            </a:avLst>
          </a:prstGeom>
          <a:solidFill>
            <a:srgbClr val="E6F4F1"/>
          </a:solidFill>
          <a:ln w="12700">
            <a:solidFill>
              <a:srgbClr val="E6F4F1"/>
            </a:solidFill>
            <a:prstDash val="solid"/>
          </a:ln>
        </p:spPr>
      </p:sp>
      <p:sp>
        <p:nvSpPr>
          <p:cNvPr id="30" name="Shape 25"/>
          <p:cNvSpPr/>
          <p:nvPr/>
        </p:nvSpPr>
        <p:spPr>
          <a:xfrm>
            <a:off x="5056632" y="1216152"/>
            <a:ext cx="237744" cy="237744"/>
          </a:xfrm>
          <a:prstGeom prst="ellipse">
            <a:avLst/>
          </a:prstGeom>
          <a:solidFill>
            <a:srgbClr val="0F766E"/>
          </a:solidFill>
          <a:ln w="12700">
            <a:solidFill>
              <a:srgbClr val="0F766E"/>
            </a:solidFill>
            <a:prstDash val="solid"/>
          </a:ln>
        </p:spPr>
      </p:sp>
      <p:pic>
        <p:nvPicPr>
          <p:cNvPr id="31" name="Image 3" descr="preencoded.png">    </p:cNvPr>
          <p:cNvPicPr>
            <a:picLocks noChangeAspect="1"/>
          </p:cNvPicPr>
          <p:nvPr/>
        </p:nvPicPr>
        <p:blipFill>
          <a:blip r:embed="rId4"/>
          <a:stretch>
            <a:fillRect/>
          </a:stretch>
        </p:blipFill>
        <p:spPr>
          <a:xfrm>
            <a:off x="5113691" y="1273211"/>
            <a:ext cx="123627" cy="123627"/>
          </a:xfrm>
          <a:prstGeom prst="rect">
            <a:avLst/>
          </a:prstGeom>
        </p:spPr>
      </p:pic>
      <p:sp>
        <p:nvSpPr>
          <p:cNvPr id="32" name="Text 26"/>
          <p:cNvSpPr txBox="1"/>
          <p:nvPr/>
        </p:nvSpPr>
        <p:spPr>
          <a:xfrm>
            <a:off x="5349240" y="1188720"/>
            <a:ext cx="1554480" cy="164592"/>
          </a:xfrm>
          <a:prstGeom prst="rect">
            <a:avLst/>
          </a:prstGeom>
          <a:noFill/>
          <a:ln/>
        </p:spPr>
        <p:txBody>
          <a:bodyPr wrap="square" lIns="0" tIns="0" rIns="0" bIns="0" rtlCol="0" anchor="t"/>
          <a:lstStyle/>
          <a:p>
            <a:pPr indent="0" marL="0">
              <a:buNone/>
            </a:pPr>
            <a:r>
              <a:rPr lang="en-US" sz="850" b="1" dirty="0">
                <a:solidFill>
                  <a:srgbClr val="0F766E"/>
                </a:solidFill>
                <a:latin typeface="Calibri" pitchFamily="34" charset="0"/>
                <a:ea typeface="Calibri" pitchFamily="34" charset="-122"/>
                <a:cs typeface="Calibri" pitchFamily="34" charset="-120"/>
              </a:rPr>
              <a:t>Backend &amp; data</a:t>
            </a:r>
            <a:endParaRPr lang="en-US" sz="850" dirty="0"/>
          </a:p>
        </p:txBody>
      </p:sp>
      <p:pic>
        <p:nvPicPr>
          <p:cNvPr id="33" name="Image 4" descr="preencoded.png">    </p:cNvPr>
          <p:cNvPicPr>
            <a:picLocks noChangeAspect="1"/>
          </p:cNvPicPr>
          <p:nvPr/>
        </p:nvPicPr>
        <p:blipFill>
          <a:blip r:embed="rId5"/>
          <a:stretch>
            <a:fillRect/>
          </a:stretch>
        </p:blipFill>
        <p:spPr>
          <a:xfrm>
            <a:off x="5367528" y="1371600"/>
            <a:ext cx="182880" cy="182880"/>
          </a:xfrm>
          <a:prstGeom prst="rect">
            <a:avLst/>
          </a:prstGeom>
        </p:spPr>
      </p:pic>
      <p:pic>
        <p:nvPicPr>
          <p:cNvPr id="34" name="Image 5" descr="preencoded.png">    </p:cNvPr>
          <p:cNvPicPr>
            <a:picLocks noChangeAspect="1"/>
          </p:cNvPicPr>
          <p:nvPr/>
        </p:nvPicPr>
        <p:blipFill>
          <a:blip r:embed="rId6"/>
          <a:stretch>
            <a:fillRect/>
          </a:stretch>
        </p:blipFill>
        <p:spPr>
          <a:xfrm>
            <a:off x="5623560" y="1371600"/>
            <a:ext cx="182880" cy="182880"/>
          </a:xfrm>
          <a:prstGeom prst="rect">
            <a:avLst/>
          </a:prstGeom>
        </p:spPr>
      </p:pic>
      <p:pic>
        <p:nvPicPr>
          <p:cNvPr id="35" name="Image 6" descr="preencoded.png">    </p:cNvPr>
          <p:cNvPicPr>
            <a:picLocks noChangeAspect="1"/>
          </p:cNvPicPr>
          <p:nvPr/>
        </p:nvPicPr>
        <p:blipFill>
          <a:blip r:embed="rId7"/>
          <a:stretch>
            <a:fillRect/>
          </a:stretch>
        </p:blipFill>
        <p:spPr>
          <a:xfrm>
            <a:off x="5879592" y="1371600"/>
            <a:ext cx="182880" cy="182880"/>
          </a:xfrm>
          <a:prstGeom prst="rect">
            <a:avLst/>
          </a:prstGeom>
        </p:spPr>
      </p:pic>
      <p:pic>
        <p:nvPicPr>
          <p:cNvPr id="36" name="Image 7" descr="preencoded.png">    </p:cNvPr>
          <p:cNvPicPr>
            <a:picLocks noChangeAspect="1"/>
          </p:cNvPicPr>
          <p:nvPr/>
        </p:nvPicPr>
        <p:blipFill>
          <a:blip r:embed="rId8"/>
          <a:stretch>
            <a:fillRect/>
          </a:stretch>
        </p:blipFill>
        <p:spPr>
          <a:xfrm>
            <a:off x="6135624" y="1371600"/>
            <a:ext cx="182880" cy="182880"/>
          </a:xfrm>
          <a:prstGeom prst="rect">
            <a:avLst/>
          </a:prstGeom>
        </p:spPr>
      </p:pic>
      <p:pic>
        <p:nvPicPr>
          <p:cNvPr id="37" name="Image 8" descr="preencoded.png">    </p:cNvPr>
          <p:cNvPicPr>
            <a:picLocks noChangeAspect="1"/>
          </p:cNvPicPr>
          <p:nvPr/>
        </p:nvPicPr>
        <p:blipFill>
          <a:blip r:embed="rId9"/>
          <a:stretch>
            <a:fillRect/>
          </a:stretch>
        </p:blipFill>
        <p:spPr>
          <a:xfrm>
            <a:off x="6391656" y="1371600"/>
            <a:ext cx="182880" cy="182880"/>
          </a:xfrm>
          <a:prstGeom prst="rect">
            <a:avLst/>
          </a:prstGeom>
        </p:spPr>
      </p:pic>
      <p:pic>
        <p:nvPicPr>
          <p:cNvPr id="38" name="Image 9" descr="preencoded.png">    </p:cNvPr>
          <p:cNvPicPr>
            <a:picLocks noChangeAspect="1"/>
          </p:cNvPicPr>
          <p:nvPr/>
        </p:nvPicPr>
        <p:blipFill>
          <a:blip r:embed="rId10"/>
          <a:stretch>
            <a:fillRect/>
          </a:stretch>
        </p:blipFill>
        <p:spPr>
          <a:xfrm>
            <a:off x="6647688" y="1371600"/>
            <a:ext cx="182880" cy="182880"/>
          </a:xfrm>
          <a:prstGeom prst="rect">
            <a:avLst/>
          </a:prstGeom>
        </p:spPr>
      </p:pic>
      <p:sp>
        <p:nvSpPr>
          <p:cNvPr id="39" name="Text 27"/>
          <p:cNvSpPr txBox="1"/>
          <p:nvPr/>
        </p:nvSpPr>
        <p:spPr>
          <a:xfrm>
            <a:off x="5349240" y="1554480"/>
            <a:ext cx="1554480" cy="109728"/>
          </a:xfrm>
          <a:prstGeom prst="rect">
            <a:avLst/>
          </a:prstGeom>
          <a:noFill/>
          <a:ln/>
        </p:spPr>
        <p:txBody>
          <a:bodyPr wrap="square" lIns="0" tIns="0" rIns="0" bIns="0" rtlCol="0" anchor="t"/>
          <a:lstStyle/>
          <a:p>
            <a:pPr indent="0" marL="0">
              <a:buNone/>
            </a:pPr>
            <a:r>
              <a:rPr lang="en-US" sz="650" dirty="0">
                <a:solidFill>
                  <a:srgbClr val="6B7280"/>
                </a:solidFill>
                <a:latin typeface="Calibri" pitchFamily="34" charset="0"/>
                <a:ea typeface="Calibri" pitchFamily="34" charset="-122"/>
                <a:cs typeface="Calibri" pitchFamily="34" charset="-120"/>
              </a:rPr>
              <a:t>+ pgvector · Indian GPU cloud</a:t>
            </a:r>
            <a:endParaRPr lang="en-US" sz="650" dirty="0"/>
          </a:p>
        </p:txBody>
      </p:sp>
      <p:sp>
        <p:nvSpPr>
          <p:cNvPr id="40" name="Shape 28"/>
          <p:cNvSpPr/>
          <p:nvPr/>
        </p:nvSpPr>
        <p:spPr>
          <a:xfrm>
            <a:off x="7040880" y="1143000"/>
            <a:ext cx="1828800" cy="530352"/>
          </a:xfrm>
          <a:prstGeom prst="roundRect">
            <a:avLst>
              <a:gd name="adj" fmla="val 13793"/>
            </a:avLst>
          </a:prstGeom>
          <a:solidFill>
            <a:srgbClr val="FFF1E6"/>
          </a:solidFill>
          <a:ln w="12700">
            <a:solidFill>
              <a:srgbClr val="FFF1E6"/>
            </a:solidFill>
            <a:prstDash val="solid"/>
          </a:ln>
        </p:spPr>
      </p:sp>
      <p:sp>
        <p:nvSpPr>
          <p:cNvPr id="41" name="Shape 29"/>
          <p:cNvSpPr/>
          <p:nvPr/>
        </p:nvSpPr>
        <p:spPr>
          <a:xfrm>
            <a:off x="7114032" y="1216152"/>
            <a:ext cx="237744" cy="237744"/>
          </a:xfrm>
          <a:prstGeom prst="ellipse">
            <a:avLst/>
          </a:prstGeom>
          <a:solidFill>
            <a:srgbClr val="E8772E"/>
          </a:solidFill>
          <a:ln w="12700">
            <a:solidFill>
              <a:srgbClr val="E8772E"/>
            </a:solidFill>
            <a:prstDash val="solid"/>
          </a:ln>
        </p:spPr>
      </p:sp>
      <p:pic>
        <p:nvPicPr>
          <p:cNvPr id="42" name="Image 10" descr="preencoded.png">    </p:cNvPr>
          <p:cNvPicPr>
            <a:picLocks noChangeAspect="1"/>
          </p:cNvPicPr>
          <p:nvPr/>
        </p:nvPicPr>
        <p:blipFill>
          <a:blip r:embed="rId11"/>
          <a:stretch>
            <a:fillRect/>
          </a:stretch>
        </p:blipFill>
        <p:spPr>
          <a:xfrm>
            <a:off x="7171091" y="1273211"/>
            <a:ext cx="123627" cy="123627"/>
          </a:xfrm>
          <a:prstGeom prst="rect">
            <a:avLst/>
          </a:prstGeom>
        </p:spPr>
      </p:pic>
      <p:sp>
        <p:nvSpPr>
          <p:cNvPr id="43" name="Text 30"/>
          <p:cNvSpPr txBox="1"/>
          <p:nvPr/>
        </p:nvSpPr>
        <p:spPr>
          <a:xfrm>
            <a:off x="7406640" y="1188720"/>
            <a:ext cx="1417320" cy="164592"/>
          </a:xfrm>
          <a:prstGeom prst="rect">
            <a:avLst/>
          </a:prstGeom>
          <a:noFill/>
          <a:ln/>
        </p:spPr>
        <p:txBody>
          <a:bodyPr wrap="square" lIns="0" tIns="0" rIns="0" bIns="0" rtlCol="0" anchor="t"/>
          <a:lstStyle/>
          <a:p>
            <a:pPr indent="0" marL="0">
              <a:buNone/>
            </a:pPr>
            <a:r>
              <a:rPr lang="en-US" sz="850" b="1" dirty="0">
                <a:solidFill>
                  <a:srgbClr val="E8772E"/>
                </a:solidFill>
                <a:latin typeface="Calibri" pitchFamily="34" charset="0"/>
                <a:ea typeface="Calibri" pitchFamily="34" charset="-122"/>
                <a:cs typeface="Calibri" pitchFamily="34" charset="-120"/>
              </a:rPr>
              <a:t>Apps &amp; govt links</a:t>
            </a:r>
            <a:endParaRPr lang="en-US" sz="850" dirty="0"/>
          </a:p>
        </p:txBody>
      </p:sp>
      <p:sp>
        <p:nvSpPr>
          <p:cNvPr id="44" name="Text 31"/>
          <p:cNvSpPr txBox="1"/>
          <p:nvPr/>
        </p:nvSpPr>
        <p:spPr>
          <a:xfrm>
            <a:off x="7406640" y="1353312"/>
            <a:ext cx="1389888" cy="292608"/>
          </a:xfrm>
          <a:prstGeom prst="rect">
            <a:avLst/>
          </a:prstGeom>
          <a:noFill/>
          <a:ln/>
        </p:spPr>
        <p:txBody>
          <a:bodyPr wrap="square" lIns="0" tIns="0" rIns="0" bIns="0" rtlCol="0" anchor="t"/>
          <a:lstStyle/>
          <a:p>
            <a:pPr indent="0" marL="0">
              <a:buNone/>
            </a:pPr>
            <a:r>
              <a:rPr lang="en-US" sz="750" dirty="0">
                <a:solidFill>
                  <a:srgbClr val="1F2937"/>
                </a:solidFill>
                <a:latin typeface="Calibri" pitchFamily="34" charset="0"/>
                <a:ea typeface="Calibri" pitchFamily="34" charset="-122"/>
                <a:cs typeface="Calibri" pitchFamily="34" charset="-120"/>
              </a:rPr>
              <a:t>React console · NCO-2015 · NQR · DigiLocker* · AJAY app*</a:t>
            </a:r>
            <a:endParaRPr lang="en-US" sz="750" dirty="0"/>
          </a:p>
        </p:txBody>
      </p:sp>
      <p:sp>
        <p:nvSpPr>
          <p:cNvPr id="45" name="Text 32"/>
          <p:cNvSpPr txBox="1"/>
          <p:nvPr/>
        </p:nvSpPr>
        <p:spPr>
          <a:xfrm>
            <a:off x="274320" y="1764792"/>
            <a:ext cx="8595360" cy="219456"/>
          </a:xfrm>
          <a:prstGeom prst="rect">
            <a:avLst/>
          </a:prstGeom>
          <a:noFill/>
          <a:ln/>
        </p:spPr>
        <p:txBody>
          <a:bodyPr wrap="square" lIns="0" tIns="0" rIns="0" bIns="0" rtlCol="0" anchor="ctr"/>
          <a:lstStyle/>
          <a:p>
            <a:pPr indent="0" marL="0">
              <a:buNone/>
            </a:pPr>
            <a:r>
              <a:rPr lang="en-US" sz="1050" b="1" spc="150" kern="0" dirty="0">
                <a:solidFill>
                  <a:srgbClr val="0F766E"/>
                </a:solidFill>
                <a:latin typeface="Calibri" pitchFamily="34" charset="0"/>
                <a:ea typeface="Calibri" pitchFamily="34" charset="-122"/>
                <a:cs typeface="Calibri" pitchFamily="34" charset="-120"/>
              </a:rPr>
              <a:t>HOW IT WORKS</a:t>
            </a:r>
            <a:pPr indent="0" marL="0">
              <a:buNone/>
            </a:pPr>
            <a:r>
              <a:rPr lang="en-US" sz="1050" i="1" dirty="0">
                <a:solidFill>
                  <a:srgbClr val="6B7280"/>
                </a:solidFill>
                <a:latin typeface="Calibri" pitchFamily="34" charset="0"/>
                <a:ea typeface="Calibri" pitchFamily="34" charset="-122"/>
                <a:cs typeface="Calibri" pitchFamily="34" charset="-120"/>
              </a:rPr>
              <a:t>   two lanes: during the call (AI, seconds) and after it (people, days)</a:t>
            </a:r>
            <a:endParaRPr lang="en-US" sz="1050" dirty="0"/>
          </a:p>
        </p:txBody>
      </p:sp>
      <p:sp>
        <p:nvSpPr>
          <p:cNvPr id="46" name="Shape 33"/>
          <p:cNvSpPr/>
          <p:nvPr/>
        </p:nvSpPr>
        <p:spPr>
          <a:xfrm>
            <a:off x="274320" y="2011680"/>
            <a:ext cx="914400" cy="566928"/>
          </a:xfrm>
          <a:prstGeom prst="roundRect">
            <a:avLst>
              <a:gd name="adj" fmla="val 12903"/>
            </a:avLst>
          </a:prstGeom>
          <a:solidFill>
            <a:srgbClr val="6D4AB8"/>
          </a:solidFill>
          <a:ln w="12700">
            <a:solidFill>
              <a:srgbClr val="6D4AB8"/>
            </a:solidFill>
            <a:prstDash val="solid"/>
          </a:ln>
        </p:spPr>
      </p:sp>
      <p:sp>
        <p:nvSpPr>
          <p:cNvPr id="47" name="Text 34"/>
          <p:cNvSpPr txBox="1"/>
          <p:nvPr/>
        </p:nvSpPr>
        <p:spPr>
          <a:xfrm>
            <a:off x="329184" y="2011680"/>
            <a:ext cx="822960" cy="566928"/>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① During the call</a:t>
            </a:r>
            <a:endParaRPr lang="en-US" sz="900" dirty="0"/>
          </a:p>
          <a:p>
            <a:pPr indent="0" marL="0">
              <a:buNone/>
            </a:pPr>
            <a:r>
              <a:rPr lang="en-US" sz="750" dirty="0">
                <a:solidFill>
                  <a:srgbClr val="FFFFFF"/>
                </a:solidFill>
                <a:latin typeface="Calibri" pitchFamily="34" charset="0"/>
                <a:ea typeface="Calibri" pitchFamily="34" charset="-122"/>
                <a:cs typeface="Calibri" pitchFamily="34" charset="-120"/>
              </a:rPr>
              <a:t>seconds · keys instant</a:t>
            </a:r>
            <a:endParaRPr lang="en-US" sz="900" dirty="0"/>
          </a:p>
        </p:txBody>
      </p:sp>
      <p:sp>
        <p:nvSpPr>
          <p:cNvPr id="48" name="Shape 35"/>
          <p:cNvSpPr/>
          <p:nvPr/>
        </p:nvSpPr>
        <p:spPr>
          <a:xfrm>
            <a:off x="1298448" y="2011680"/>
            <a:ext cx="971877" cy="566928"/>
          </a:xfrm>
          <a:prstGeom prst="roundRect">
            <a:avLst>
              <a:gd name="adj" fmla="val 12903"/>
            </a:avLst>
          </a:prstGeom>
          <a:solidFill>
            <a:srgbClr val="FFFFFF"/>
          </a:solidFill>
          <a:ln w="9525">
            <a:solidFill>
              <a:srgbClr val="E5E7EB"/>
            </a:solidFill>
            <a:prstDash val="solid"/>
          </a:ln>
        </p:spPr>
      </p:sp>
      <p:pic>
        <p:nvPicPr>
          <p:cNvPr id="49" name="Image 11" descr="preencoded.png">    </p:cNvPr>
          <p:cNvPicPr>
            <a:picLocks noChangeAspect="1"/>
          </p:cNvPicPr>
          <p:nvPr/>
        </p:nvPicPr>
        <p:blipFill>
          <a:blip r:embed="rId12"/>
          <a:stretch>
            <a:fillRect/>
          </a:stretch>
        </p:blipFill>
        <p:spPr>
          <a:xfrm>
            <a:off x="1353312" y="2075688"/>
            <a:ext cx="164592" cy="164592"/>
          </a:xfrm>
          <a:prstGeom prst="rect">
            <a:avLst/>
          </a:prstGeom>
        </p:spPr>
      </p:pic>
      <p:sp>
        <p:nvSpPr>
          <p:cNvPr id="50" name="Text 36"/>
          <p:cNvSpPr txBox="1"/>
          <p:nvPr/>
        </p:nvSpPr>
        <p:spPr>
          <a:xfrm>
            <a:off x="1554480" y="2057400"/>
            <a:ext cx="679269" cy="201168"/>
          </a:xfrm>
          <a:prstGeom prst="rect">
            <a:avLst/>
          </a:prstGeom>
          <a:noFill/>
          <a:ln/>
        </p:spPr>
        <p:txBody>
          <a:bodyPr wrap="square" lIns="0" tIns="0" rIns="0" bIns="0" rtlCol="0" anchor="ctr"/>
          <a:lstStyle/>
          <a:p>
            <a:pPr indent="0" marL="0">
              <a:buNone/>
            </a:pPr>
            <a:r>
              <a:rPr lang="en-US" sz="800" b="1" dirty="0">
                <a:solidFill>
                  <a:srgbClr val="1B2A4A"/>
                </a:solidFill>
                <a:latin typeface="Calibri" pitchFamily="34" charset="0"/>
                <a:ea typeface="Calibri" pitchFamily="34" charset="-122"/>
                <a:cs typeface="Calibri" pitchFamily="34" charset="-120"/>
              </a:rPr>
              <a:t>Phone → Exotel</a:t>
            </a:r>
            <a:endParaRPr lang="en-US" sz="800" dirty="0"/>
          </a:p>
        </p:txBody>
      </p:sp>
      <p:sp>
        <p:nvSpPr>
          <p:cNvPr id="51" name="Text 37"/>
          <p:cNvSpPr txBox="1"/>
          <p:nvPr/>
        </p:nvSpPr>
        <p:spPr>
          <a:xfrm>
            <a:off x="1353312" y="2267712"/>
            <a:ext cx="880437" cy="292608"/>
          </a:xfrm>
          <a:prstGeom prst="rect">
            <a:avLst/>
          </a:prstGeom>
          <a:noFill/>
          <a:ln/>
        </p:spPr>
        <p:txBody>
          <a:bodyPr wrap="square" lIns="0" tIns="0" rIns="0" bIns="0" rtlCol="0" anchor="t"/>
          <a:lstStyle/>
          <a:p>
            <a:pPr indent="0" marL="0">
              <a:buNone/>
            </a:pPr>
            <a:r>
              <a:rPr lang="en-US" sz="700" dirty="0">
                <a:solidFill>
                  <a:srgbClr val="6B7280"/>
                </a:solidFill>
                <a:latin typeface="Calibri" pitchFamily="34" charset="0"/>
                <a:ea typeface="Calibri" pitchFamily="34" charset="-122"/>
                <a:cs typeface="Calibri" pitchFamily="34" charset="-120"/>
              </a:rPr>
              <a:t>missed call, callback, keys</a:t>
            </a:r>
            <a:endParaRPr lang="en-US" sz="700" dirty="0"/>
          </a:p>
        </p:txBody>
      </p:sp>
      <p:sp>
        <p:nvSpPr>
          <p:cNvPr id="52" name="Shape 38"/>
          <p:cNvSpPr/>
          <p:nvPr/>
        </p:nvSpPr>
        <p:spPr>
          <a:xfrm>
            <a:off x="2284041" y="2249424"/>
            <a:ext cx="100584" cy="91440"/>
          </a:xfrm>
          <a:prstGeom prst="rightArrow">
            <a:avLst/>
          </a:prstGeom>
          <a:solidFill>
            <a:srgbClr val="6D4AB8"/>
          </a:solidFill>
          <a:ln w="12700">
            <a:solidFill>
              <a:srgbClr val="6D4AB8"/>
            </a:solidFill>
            <a:prstDash val="solid"/>
          </a:ln>
        </p:spPr>
      </p:sp>
      <p:sp>
        <p:nvSpPr>
          <p:cNvPr id="53" name="Shape 39"/>
          <p:cNvSpPr/>
          <p:nvPr/>
        </p:nvSpPr>
        <p:spPr>
          <a:xfrm>
            <a:off x="2398341" y="2011680"/>
            <a:ext cx="971877" cy="566928"/>
          </a:xfrm>
          <a:prstGeom prst="roundRect">
            <a:avLst>
              <a:gd name="adj" fmla="val 12903"/>
            </a:avLst>
          </a:prstGeom>
          <a:solidFill>
            <a:srgbClr val="FFFFFF"/>
          </a:solidFill>
          <a:ln w="9525">
            <a:solidFill>
              <a:srgbClr val="E5E7EB"/>
            </a:solidFill>
            <a:prstDash val="solid"/>
          </a:ln>
        </p:spPr>
      </p:sp>
      <p:pic>
        <p:nvPicPr>
          <p:cNvPr id="54" name="Image 12" descr="preencoded.png">    </p:cNvPr>
          <p:cNvPicPr>
            <a:picLocks noChangeAspect="1"/>
          </p:cNvPicPr>
          <p:nvPr/>
        </p:nvPicPr>
        <p:blipFill>
          <a:blip r:embed="rId13"/>
          <a:stretch>
            <a:fillRect/>
          </a:stretch>
        </p:blipFill>
        <p:spPr>
          <a:xfrm>
            <a:off x="2453205" y="2075688"/>
            <a:ext cx="164592" cy="164592"/>
          </a:xfrm>
          <a:prstGeom prst="rect">
            <a:avLst/>
          </a:prstGeom>
        </p:spPr>
      </p:pic>
      <p:sp>
        <p:nvSpPr>
          <p:cNvPr id="55" name="Text 40"/>
          <p:cNvSpPr txBox="1"/>
          <p:nvPr/>
        </p:nvSpPr>
        <p:spPr>
          <a:xfrm>
            <a:off x="2654373" y="2057400"/>
            <a:ext cx="679269" cy="201168"/>
          </a:xfrm>
          <a:prstGeom prst="rect">
            <a:avLst/>
          </a:prstGeom>
          <a:noFill/>
          <a:ln/>
        </p:spPr>
        <p:txBody>
          <a:bodyPr wrap="square" lIns="0" tIns="0" rIns="0" bIns="0" rtlCol="0" anchor="ctr"/>
          <a:lstStyle/>
          <a:p>
            <a:pPr indent="0" marL="0">
              <a:buNone/>
            </a:pPr>
            <a:r>
              <a:rPr lang="en-US" sz="800" b="1" dirty="0">
                <a:solidFill>
                  <a:srgbClr val="1B2A4A"/>
                </a:solidFill>
                <a:latin typeface="Calibri" pitchFamily="34" charset="0"/>
                <a:ea typeface="Calibri" pitchFamily="34" charset="-122"/>
                <a:cs typeface="Calibri" pitchFamily="34" charset="-120"/>
              </a:rPr>
              <a:t>IndicConformer</a:t>
            </a:r>
            <a:endParaRPr lang="en-US" sz="800" dirty="0"/>
          </a:p>
        </p:txBody>
      </p:sp>
      <p:sp>
        <p:nvSpPr>
          <p:cNvPr id="56" name="Text 41"/>
          <p:cNvSpPr txBox="1"/>
          <p:nvPr/>
        </p:nvSpPr>
        <p:spPr>
          <a:xfrm>
            <a:off x="2453205" y="2267712"/>
            <a:ext cx="880437" cy="292608"/>
          </a:xfrm>
          <a:prstGeom prst="rect">
            <a:avLst/>
          </a:prstGeom>
          <a:noFill/>
          <a:ln/>
        </p:spPr>
        <p:txBody>
          <a:bodyPr wrap="square" lIns="0" tIns="0" rIns="0" bIns="0" rtlCol="0" anchor="t"/>
          <a:lstStyle/>
          <a:p>
            <a:pPr indent="0" marL="0">
              <a:buNone/>
            </a:pPr>
            <a:r>
              <a:rPr lang="en-US" sz="700" dirty="0">
                <a:solidFill>
                  <a:srgbClr val="6B7280"/>
                </a:solidFill>
                <a:latin typeface="Calibri" pitchFamily="34" charset="0"/>
                <a:ea typeface="Calibri" pitchFamily="34" charset="-122"/>
                <a:cs typeface="Calibri" pitchFamily="34" charset="-120"/>
              </a:rPr>
              <a:t>speech → text</a:t>
            </a:r>
            <a:endParaRPr lang="en-US" sz="700" dirty="0"/>
          </a:p>
        </p:txBody>
      </p:sp>
      <p:sp>
        <p:nvSpPr>
          <p:cNvPr id="57" name="Shape 42"/>
          <p:cNvSpPr/>
          <p:nvPr/>
        </p:nvSpPr>
        <p:spPr>
          <a:xfrm>
            <a:off x="3383933" y="2249424"/>
            <a:ext cx="100584" cy="91440"/>
          </a:xfrm>
          <a:prstGeom prst="rightArrow">
            <a:avLst/>
          </a:prstGeom>
          <a:solidFill>
            <a:srgbClr val="6D4AB8"/>
          </a:solidFill>
          <a:ln w="12700">
            <a:solidFill>
              <a:srgbClr val="6D4AB8"/>
            </a:solidFill>
            <a:prstDash val="solid"/>
          </a:ln>
        </p:spPr>
      </p:sp>
      <p:sp>
        <p:nvSpPr>
          <p:cNvPr id="58" name="Shape 43"/>
          <p:cNvSpPr/>
          <p:nvPr/>
        </p:nvSpPr>
        <p:spPr>
          <a:xfrm>
            <a:off x="3498233" y="2011680"/>
            <a:ext cx="971877" cy="566928"/>
          </a:xfrm>
          <a:prstGeom prst="roundRect">
            <a:avLst>
              <a:gd name="adj" fmla="val 12903"/>
            </a:avLst>
          </a:prstGeom>
          <a:solidFill>
            <a:srgbClr val="FFFFFF"/>
          </a:solidFill>
          <a:ln w="9525">
            <a:solidFill>
              <a:srgbClr val="E5E7EB"/>
            </a:solidFill>
            <a:prstDash val="solid"/>
          </a:ln>
        </p:spPr>
      </p:sp>
      <p:pic>
        <p:nvPicPr>
          <p:cNvPr id="59" name="Image 13" descr="preencoded.png">    </p:cNvPr>
          <p:cNvPicPr>
            <a:picLocks noChangeAspect="1"/>
          </p:cNvPicPr>
          <p:nvPr/>
        </p:nvPicPr>
        <p:blipFill>
          <a:blip r:embed="rId14"/>
          <a:stretch>
            <a:fillRect/>
          </a:stretch>
        </p:blipFill>
        <p:spPr>
          <a:xfrm>
            <a:off x="3553097" y="2075688"/>
            <a:ext cx="164592" cy="164592"/>
          </a:xfrm>
          <a:prstGeom prst="rect">
            <a:avLst/>
          </a:prstGeom>
        </p:spPr>
      </p:pic>
      <p:sp>
        <p:nvSpPr>
          <p:cNvPr id="60" name="Text 44"/>
          <p:cNvSpPr txBox="1"/>
          <p:nvPr/>
        </p:nvSpPr>
        <p:spPr>
          <a:xfrm>
            <a:off x="3754265" y="2057400"/>
            <a:ext cx="679269" cy="201168"/>
          </a:xfrm>
          <a:prstGeom prst="rect">
            <a:avLst/>
          </a:prstGeom>
          <a:noFill/>
          <a:ln/>
        </p:spPr>
        <p:txBody>
          <a:bodyPr wrap="square" lIns="0" tIns="0" rIns="0" bIns="0" rtlCol="0" anchor="ctr"/>
          <a:lstStyle/>
          <a:p>
            <a:pPr indent="0" marL="0">
              <a:buNone/>
            </a:pPr>
            <a:r>
              <a:rPr lang="en-US" sz="800" b="1" dirty="0">
                <a:solidFill>
                  <a:srgbClr val="1B2A4A"/>
                </a:solidFill>
                <a:latin typeface="Calibri" pitchFamily="34" charset="0"/>
                <a:ea typeface="Calibri" pitchFamily="34" charset="-122"/>
                <a:cs typeface="Calibri" pitchFamily="34" charset="-120"/>
              </a:rPr>
              <a:t>MuRIL + Sarvam-30B</a:t>
            </a:r>
            <a:endParaRPr lang="en-US" sz="800" dirty="0"/>
          </a:p>
        </p:txBody>
      </p:sp>
      <p:sp>
        <p:nvSpPr>
          <p:cNvPr id="61" name="Text 45"/>
          <p:cNvSpPr txBox="1"/>
          <p:nvPr/>
        </p:nvSpPr>
        <p:spPr>
          <a:xfrm>
            <a:off x="3553097" y="2267712"/>
            <a:ext cx="880437" cy="292608"/>
          </a:xfrm>
          <a:prstGeom prst="rect">
            <a:avLst/>
          </a:prstGeom>
          <a:noFill/>
          <a:ln/>
        </p:spPr>
        <p:txBody>
          <a:bodyPr wrap="square" lIns="0" tIns="0" rIns="0" bIns="0" rtlCol="0" anchor="t"/>
          <a:lstStyle/>
          <a:p>
            <a:pPr indent="0" marL="0">
              <a:buNone/>
            </a:pPr>
            <a:r>
              <a:rPr lang="en-US" sz="700" dirty="0">
                <a:solidFill>
                  <a:srgbClr val="6B7280"/>
                </a:solidFill>
                <a:latin typeface="Calibri" pitchFamily="34" charset="0"/>
                <a:ea typeface="Calibri" pitchFamily="34" charset="-122"/>
                <a:cs typeface="Calibri" pitchFamily="34" charset="-120"/>
              </a:rPr>
              <a:t>fill the profile form, job codes only</a:t>
            </a:r>
            <a:endParaRPr lang="en-US" sz="700" dirty="0"/>
          </a:p>
        </p:txBody>
      </p:sp>
      <p:sp>
        <p:nvSpPr>
          <p:cNvPr id="62" name="Shape 46"/>
          <p:cNvSpPr/>
          <p:nvPr/>
        </p:nvSpPr>
        <p:spPr>
          <a:xfrm>
            <a:off x="4483826" y="2249424"/>
            <a:ext cx="100584" cy="91440"/>
          </a:xfrm>
          <a:prstGeom prst="rightArrow">
            <a:avLst/>
          </a:prstGeom>
          <a:solidFill>
            <a:srgbClr val="6D4AB8"/>
          </a:solidFill>
          <a:ln w="12700">
            <a:solidFill>
              <a:srgbClr val="6D4AB8"/>
            </a:solidFill>
            <a:prstDash val="solid"/>
          </a:ln>
        </p:spPr>
      </p:sp>
      <p:sp>
        <p:nvSpPr>
          <p:cNvPr id="63" name="Shape 47"/>
          <p:cNvSpPr/>
          <p:nvPr/>
        </p:nvSpPr>
        <p:spPr>
          <a:xfrm>
            <a:off x="4598126" y="2011680"/>
            <a:ext cx="971877" cy="566928"/>
          </a:xfrm>
          <a:prstGeom prst="roundRect">
            <a:avLst>
              <a:gd name="adj" fmla="val 12903"/>
            </a:avLst>
          </a:prstGeom>
          <a:solidFill>
            <a:srgbClr val="FFFFFF"/>
          </a:solidFill>
          <a:ln w="9525">
            <a:solidFill>
              <a:srgbClr val="E5E7EB"/>
            </a:solidFill>
            <a:prstDash val="solid"/>
          </a:ln>
        </p:spPr>
      </p:sp>
      <p:pic>
        <p:nvPicPr>
          <p:cNvPr id="64" name="Image 14" descr="preencoded.png">    </p:cNvPr>
          <p:cNvPicPr>
            <a:picLocks noChangeAspect="1"/>
          </p:cNvPicPr>
          <p:nvPr/>
        </p:nvPicPr>
        <p:blipFill>
          <a:blip r:embed="rId15"/>
          <a:stretch>
            <a:fillRect/>
          </a:stretch>
        </p:blipFill>
        <p:spPr>
          <a:xfrm>
            <a:off x="4652990" y="2075688"/>
            <a:ext cx="164592" cy="164592"/>
          </a:xfrm>
          <a:prstGeom prst="rect">
            <a:avLst/>
          </a:prstGeom>
        </p:spPr>
      </p:pic>
      <p:sp>
        <p:nvSpPr>
          <p:cNvPr id="65" name="Text 48"/>
          <p:cNvSpPr txBox="1"/>
          <p:nvPr/>
        </p:nvSpPr>
        <p:spPr>
          <a:xfrm>
            <a:off x="4854158" y="2057400"/>
            <a:ext cx="679269" cy="201168"/>
          </a:xfrm>
          <a:prstGeom prst="rect">
            <a:avLst/>
          </a:prstGeom>
          <a:noFill/>
          <a:ln/>
        </p:spPr>
        <p:txBody>
          <a:bodyPr wrap="square" lIns="0" tIns="0" rIns="0" bIns="0" rtlCol="0" anchor="ctr"/>
          <a:lstStyle/>
          <a:p>
            <a:pPr indent="0" marL="0">
              <a:buNone/>
            </a:pPr>
            <a:r>
              <a:rPr lang="en-US" sz="800" b="1" dirty="0">
                <a:solidFill>
                  <a:srgbClr val="1B2A4A"/>
                </a:solidFill>
                <a:latin typeface="Calibri" pitchFamily="34" charset="0"/>
                <a:ea typeface="Calibri" pitchFamily="34" charset="-122"/>
                <a:cs typeface="Calibri" pitchFamily="34" charset="-120"/>
              </a:rPr>
              <a:t>e5 + BM25</a:t>
            </a:r>
            <a:endParaRPr lang="en-US" sz="800" dirty="0"/>
          </a:p>
        </p:txBody>
      </p:sp>
      <p:sp>
        <p:nvSpPr>
          <p:cNvPr id="66" name="Text 49"/>
          <p:cNvSpPr txBox="1"/>
          <p:nvPr/>
        </p:nvSpPr>
        <p:spPr>
          <a:xfrm>
            <a:off x="4652990" y="2267712"/>
            <a:ext cx="880437" cy="292608"/>
          </a:xfrm>
          <a:prstGeom prst="rect">
            <a:avLst/>
          </a:prstGeom>
          <a:noFill/>
          <a:ln/>
        </p:spPr>
        <p:txBody>
          <a:bodyPr wrap="square" lIns="0" tIns="0" rIns="0" bIns="0" rtlCol="0" anchor="t"/>
          <a:lstStyle/>
          <a:p>
            <a:pPr indent="0" marL="0">
              <a:buNone/>
            </a:pPr>
            <a:r>
              <a:rPr lang="en-US" sz="700" dirty="0">
                <a:solidFill>
                  <a:srgbClr val="6B7280"/>
                </a:solidFill>
                <a:latin typeface="Calibri" pitchFamily="34" charset="0"/>
                <a:ea typeface="Calibri" pitchFamily="34" charset="-122"/>
                <a:cs typeface="Calibri" pitchFamily="34" charset="-120"/>
              </a:rPr>
              <a:t>find the NCO job</a:t>
            </a:r>
            <a:endParaRPr lang="en-US" sz="700" dirty="0"/>
          </a:p>
        </p:txBody>
      </p:sp>
      <p:sp>
        <p:nvSpPr>
          <p:cNvPr id="67" name="Shape 50"/>
          <p:cNvSpPr/>
          <p:nvPr/>
        </p:nvSpPr>
        <p:spPr>
          <a:xfrm>
            <a:off x="5583718" y="2249424"/>
            <a:ext cx="100584" cy="91440"/>
          </a:xfrm>
          <a:prstGeom prst="rightArrow">
            <a:avLst/>
          </a:prstGeom>
          <a:solidFill>
            <a:srgbClr val="6D4AB8"/>
          </a:solidFill>
          <a:ln w="12700">
            <a:solidFill>
              <a:srgbClr val="6D4AB8"/>
            </a:solidFill>
            <a:prstDash val="solid"/>
          </a:ln>
        </p:spPr>
      </p:sp>
      <p:sp>
        <p:nvSpPr>
          <p:cNvPr id="68" name="Shape 51"/>
          <p:cNvSpPr/>
          <p:nvPr/>
        </p:nvSpPr>
        <p:spPr>
          <a:xfrm>
            <a:off x="5698018" y="2011680"/>
            <a:ext cx="971877" cy="566928"/>
          </a:xfrm>
          <a:prstGeom prst="roundRect">
            <a:avLst>
              <a:gd name="adj" fmla="val 12903"/>
            </a:avLst>
          </a:prstGeom>
          <a:solidFill>
            <a:srgbClr val="FFFFFF"/>
          </a:solidFill>
          <a:ln w="9525">
            <a:solidFill>
              <a:srgbClr val="E5E7EB"/>
            </a:solidFill>
            <a:prstDash val="solid"/>
          </a:ln>
        </p:spPr>
      </p:sp>
      <p:pic>
        <p:nvPicPr>
          <p:cNvPr id="69" name="Image 15" descr="preencoded.png">    </p:cNvPr>
          <p:cNvPicPr>
            <a:picLocks noChangeAspect="1"/>
          </p:cNvPicPr>
          <p:nvPr/>
        </p:nvPicPr>
        <p:blipFill>
          <a:blip r:embed="rId16"/>
          <a:stretch>
            <a:fillRect/>
          </a:stretch>
        </p:blipFill>
        <p:spPr>
          <a:xfrm>
            <a:off x="5752882" y="2075688"/>
            <a:ext cx="164592" cy="164592"/>
          </a:xfrm>
          <a:prstGeom prst="rect">
            <a:avLst/>
          </a:prstGeom>
        </p:spPr>
      </p:pic>
      <p:sp>
        <p:nvSpPr>
          <p:cNvPr id="70" name="Text 52"/>
          <p:cNvSpPr txBox="1"/>
          <p:nvPr/>
        </p:nvSpPr>
        <p:spPr>
          <a:xfrm>
            <a:off x="5954050" y="2057400"/>
            <a:ext cx="679269" cy="201168"/>
          </a:xfrm>
          <a:prstGeom prst="rect">
            <a:avLst/>
          </a:prstGeom>
          <a:noFill/>
          <a:ln/>
        </p:spPr>
        <p:txBody>
          <a:bodyPr wrap="square" lIns="0" tIns="0" rIns="0" bIns="0" rtlCol="0" anchor="ctr"/>
          <a:lstStyle/>
          <a:p>
            <a:pPr indent="0" marL="0">
              <a:buNone/>
            </a:pPr>
            <a:r>
              <a:rPr lang="en-US" sz="800" b="1" dirty="0">
                <a:solidFill>
                  <a:srgbClr val="1B2A4A"/>
                </a:solidFill>
                <a:latin typeface="Calibri" pitchFamily="34" charset="0"/>
                <a:ea typeface="Calibri" pitchFamily="34" charset="-122"/>
                <a:cs typeface="Calibri" pitchFamily="34" charset="-120"/>
              </a:rPr>
              <a:t>“You said…”</a:t>
            </a:r>
            <a:endParaRPr lang="en-US" sz="800" dirty="0"/>
          </a:p>
        </p:txBody>
      </p:sp>
      <p:sp>
        <p:nvSpPr>
          <p:cNvPr id="71" name="Text 53"/>
          <p:cNvSpPr txBox="1"/>
          <p:nvPr/>
        </p:nvSpPr>
        <p:spPr>
          <a:xfrm>
            <a:off x="5752882" y="2267712"/>
            <a:ext cx="880437" cy="292608"/>
          </a:xfrm>
          <a:prstGeom prst="rect">
            <a:avLst/>
          </a:prstGeom>
          <a:noFill/>
          <a:ln/>
        </p:spPr>
        <p:txBody>
          <a:bodyPr wrap="square" lIns="0" tIns="0" rIns="0" bIns="0" rtlCol="0" anchor="t"/>
          <a:lstStyle/>
          <a:p>
            <a:pPr indent="0" marL="0">
              <a:buNone/>
            </a:pPr>
            <a:r>
              <a:rPr lang="en-US" sz="700" dirty="0">
                <a:solidFill>
                  <a:srgbClr val="6B7280"/>
                </a:solidFill>
                <a:latin typeface="Calibri" pitchFamily="34" charset="0"/>
                <a:ea typeface="Calibri" pitchFamily="34" charset="-122"/>
                <a:cs typeface="Calibri" pitchFamily="34" charset="-120"/>
              </a:rPr>
              <a:t>caller confirms with 1</a:t>
            </a:r>
            <a:endParaRPr lang="en-US" sz="700" dirty="0"/>
          </a:p>
        </p:txBody>
      </p:sp>
      <p:sp>
        <p:nvSpPr>
          <p:cNvPr id="72" name="Shape 54"/>
          <p:cNvSpPr/>
          <p:nvPr/>
        </p:nvSpPr>
        <p:spPr>
          <a:xfrm>
            <a:off x="6683611" y="2249424"/>
            <a:ext cx="100584" cy="91440"/>
          </a:xfrm>
          <a:prstGeom prst="rightArrow">
            <a:avLst/>
          </a:prstGeom>
          <a:solidFill>
            <a:srgbClr val="6D4AB8"/>
          </a:solidFill>
          <a:ln w="12700">
            <a:solidFill>
              <a:srgbClr val="6D4AB8"/>
            </a:solidFill>
            <a:prstDash val="solid"/>
          </a:ln>
        </p:spPr>
      </p:sp>
      <p:sp>
        <p:nvSpPr>
          <p:cNvPr id="73" name="Shape 55"/>
          <p:cNvSpPr/>
          <p:nvPr/>
        </p:nvSpPr>
        <p:spPr>
          <a:xfrm>
            <a:off x="6797911" y="2011680"/>
            <a:ext cx="971877" cy="566928"/>
          </a:xfrm>
          <a:prstGeom prst="roundRect">
            <a:avLst>
              <a:gd name="adj" fmla="val 12903"/>
            </a:avLst>
          </a:prstGeom>
          <a:solidFill>
            <a:srgbClr val="FFFFFF"/>
          </a:solidFill>
          <a:ln w="9525">
            <a:solidFill>
              <a:srgbClr val="E5E7EB"/>
            </a:solidFill>
            <a:prstDash val="solid"/>
          </a:ln>
        </p:spPr>
      </p:sp>
      <p:pic>
        <p:nvPicPr>
          <p:cNvPr id="74" name="Image 16" descr="preencoded.png">    </p:cNvPr>
          <p:cNvPicPr>
            <a:picLocks noChangeAspect="1"/>
          </p:cNvPicPr>
          <p:nvPr/>
        </p:nvPicPr>
        <p:blipFill>
          <a:blip r:embed="rId17"/>
          <a:stretch>
            <a:fillRect/>
          </a:stretch>
        </p:blipFill>
        <p:spPr>
          <a:xfrm>
            <a:off x="6852775" y="2075688"/>
            <a:ext cx="164592" cy="164592"/>
          </a:xfrm>
          <a:prstGeom prst="rect">
            <a:avLst/>
          </a:prstGeom>
        </p:spPr>
      </p:pic>
      <p:sp>
        <p:nvSpPr>
          <p:cNvPr id="75" name="Text 56"/>
          <p:cNvSpPr txBox="1"/>
          <p:nvPr/>
        </p:nvSpPr>
        <p:spPr>
          <a:xfrm>
            <a:off x="7053943" y="2057400"/>
            <a:ext cx="679269" cy="201168"/>
          </a:xfrm>
          <a:prstGeom prst="rect">
            <a:avLst/>
          </a:prstGeom>
          <a:noFill/>
          <a:ln/>
        </p:spPr>
        <p:txBody>
          <a:bodyPr wrap="square" lIns="0" tIns="0" rIns="0" bIns="0" rtlCol="0" anchor="ctr"/>
          <a:lstStyle/>
          <a:p>
            <a:pPr indent="0" marL="0">
              <a:buNone/>
            </a:pPr>
            <a:r>
              <a:rPr lang="en-US" sz="800" b="1" dirty="0">
                <a:solidFill>
                  <a:srgbClr val="1B2A4A"/>
                </a:solidFill>
                <a:latin typeface="Calibri" pitchFamily="34" charset="0"/>
                <a:ea typeface="Calibri" pitchFamily="34" charset="-122"/>
                <a:cs typeface="Calibri" pitchFamily="34" charset="-120"/>
              </a:rPr>
              <a:t>LightGBM ranker</a:t>
            </a:r>
            <a:endParaRPr lang="en-US" sz="800" dirty="0"/>
          </a:p>
        </p:txBody>
      </p:sp>
      <p:sp>
        <p:nvSpPr>
          <p:cNvPr id="76" name="Text 57"/>
          <p:cNvSpPr txBox="1"/>
          <p:nvPr/>
        </p:nvSpPr>
        <p:spPr>
          <a:xfrm>
            <a:off x="6852775" y="2267712"/>
            <a:ext cx="880437" cy="292608"/>
          </a:xfrm>
          <a:prstGeom prst="rect">
            <a:avLst/>
          </a:prstGeom>
          <a:noFill/>
          <a:ln/>
        </p:spPr>
        <p:txBody>
          <a:bodyPr wrap="square" lIns="0" tIns="0" rIns="0" bIns="0" rtlCol="0" anchor="t"/>
          <a:lstStyle/>
          <a:p>
            <a:pPr indent="0" marL="0">
              <a:buNone/>
            </a:pPr>
            <a:r>
              <a:rPr lang="en-US" sz="700" dirty="0">
                <a:solidFill>
                  <a:srgbClr val="6B7280"/>
                </a:solidFill>
                <a:latin typeface="Calibri" pitchFamily="34" charset="0"/>
                <a:ea typeface="Calibri" pitchFamily="34" charset="-122"/>
                <a:cs typeface="Calibri" pitchFamily="34" charset="-120"/>
              </a:rPr>
              <a:t>on govt data: courses, centres, schemes</a:t>
            </a:r>
            <a:endParaRPr lang="en-US" sz="700" dirty="0"/>
          </a:p>
        </p:txBody>
      </p:sp>
      <p:sp>
        <p:nvSpPr>
          <p:cNvPr id="77" name="Shape 58"/>
          <p:cNvSpPr/>
          <p:nvPr/>
        </p:nvSpPr>
        <p:spPr>
          <a:xfrm>
            <a:off x="7783503" y="2249424"/>
            <a:ext cx="100584" cy="91440"/>
          </a:xfrm>
          <a:prstGeom prst="rightArrow">
            <a:avLst/>
          </a:prstGeom>
          <a:solidFill>
            <a:srgbClr val="6D4AB8"/>
          </a:solidFill>
          <a:ln w="12700">
            <a:solidFill>
              <a:srgbClr val="6D4AB8"/>
            </a:solidFill>
            <a:prstDash val="solid"/>
          </a:ln>
        </p:spPr>
      </p:sp>
      <p:sp>
        <p:nvSpPr>
          <p:cNvPr id="78" name="Shape 59"/>
          <p:cNvSpPr/>
          <p:nvPr/>
        </p:nvSpPr>
        <p:spPr>
          <a:xfrm>
            <a:off x="7897803" y="2011680"/>
            <a:ext cx="971877" cy="566928"/>
          </a:xfrm>
          <a:prstGeom prst="roundRect">
            <a:avLst>
              <a:gd name="adj" fmla="val 12903"/>
            </a:avLst>
          </a:prstGeom>
          <a:solidFill>
            <a:srgbClr val="FFFFFF"/>
          </a:solidFill>
          <a:ln w="9525">
            <a:solidFill>
              <a:srgbClr val="E5E7EB"/>
            </a:solidFill>
            <a:prstDash val="solid"/>
          </a:ln>
        </p:spPr>
      </p:sp>
      <p:pic>
        <p:nvPicPr>
          <p:cNvPr id="79" name="Image 17" descr="preencoded.png">    </p:cNvPr>
          <p:cNvPicPr>
            <a:picLocks noChangeAspect="1"/>
          </p:cNvPicPr>
          <p:nvPr/>
        </p:nvPicPr>
        <p:blipFill>
          <a:blip r:embed="rId18"/>
          <a:stretch>
            <a:fillRect/>
          </a:stretch>
        </p:blipFill>
        <p:spPr>
          <a:xfrm>
            <a:off x="7952667" y="2075688"/>
            <a:ext cx="164592" cy="164592"/>
          </a:xfrm>
          <a:prstGeom prst="rect">
            <a:avLst/>
          </a:prstGeom>
        </p:spPr>
      </p:pic>
      <p:sp>
        <p:nvSpPr>
          <p:cNvPr id="80" name="Text 60"/>
          <p:cNvSpPr txBox="1"/>
          <p:nvPr/>
        </p:nvSpPr>
        <p:spPr>
          <a:xfrm>
            <a:off x="8153835" y="2057400"/>
            <a:ext cx="679269" cy="201168"/>
          </a:xfrm>
          <a:prstGeom prst="rect">
            <a:avLst/>
          </a:prstGeom>
          <a:noFill/>
          <a:ln/>
        </p:spPr>
        <p:txBody>
          <a:bodyPr wrap="square" lIns="0" tIns="0" rIns="0" bIns="0" rtlCol="0" anchor="ctr"/>
          <a:lstStyle/>
          <a:p>
            <a:pPr indent="0" marL="0">
              <a:buNone/>
            </a:pPr>
            <a:r>
              <a:rPr lang="en-US" sz="800" b="1" dirty="0">
                <a:solidFill>
                  <a:srgbClr val="1B2A4A"/>
                </a:solidFill>
                <a:latin typeface="Calibri" pitchFamily="34" charset="0"/>
                <a:ea typeface="Calibri" pitchFamily="34" charset="-122"/>
                <a:cs typeface="Calibri" pitchFamily="34" charset="-120"/>
              </a:rPr>
              <a:t>Parler-TTS speaks</a:t>
            </a:r>
            <a:endParaRPr lang="en-US" sz="800" dirty="0"/>
          </a:p>
        </p:txBody>
      </p:sp>
      <p:sp>
        <p:nvSpPr>
          <p:cNvPr id="81" name="Text 61"/>
          <p:cNvSpPr txBox="1"/>
          <p:nvPr/>
        </p:nvSpPr>
        <p:spPr>
          <a:xfrm>
            <a:off x="7952667" y="2267712"/>
            <a:ext cx="880437" cy="292608"/>
          </a:xfrm>
          <a:prstGeom prst="rect">
            <a:avLst/>
          </a:prstGeom>
          <a:noFill/>
          <a:ln/>
        </p:spPr>
        <p:txBody>
          <a:bodyPr wrap="square" lIns="0" tIns="0" rIns="0" bIns="0" rtlCol="0" anchor="t"/>
          <a:lstStyle/>
          <a:p>
            <a:pPr indent="0" marL="0">
              <a:buNone/>
            </a:pPr>
            <a:r>
              <a:rPr lang="en-US" sz="700" dirty="0">
                <a:solidFill>
                  <a:srgbClr val="6B7280"/>
                </a:solidFill>
                <a:latin typeface="Calibri" pitchFamily="34" charset="0"/>
                <a:ea typeface="Calibri" pitchFamily="34" charset="-122"/>
                <a:cs typeface="Calibri" pitchFamily="34" charset="-120"/>
              </a:rPr>
              <a:t>facts checked, then 3 options</a:t>
            </a:r>
            <a:endParaRPr lang="en-US" sz="700" dirty="0"/>
          </a:p>
        </p:txBody>
      </p:sp>
      <p:sp>
        <p:nvSpPr>
          <p:cNvPr id="82" name="Shape 62"/>
          <p:cNvSpPr/>
          <p:nvPr/>
        </p:nvSpPr>
        <p:spPr>
          <a:xfrm>
            <a:off x="274320" y="2688336"/>
            <a:ext cx="914400" cy="512064"/>
          </a:xfrm>
          <a:prstGeom prst="roundRect">
            <a:avLst>
              <a:gd name="adj" fmla="val 14286"/>
            </a:avLst>
          </a:prstGeom>
          <a:solidFill>
            <a:srgbClr val="0F766E"/>
          </a:solidFill>
          <a:ln w="12700">
            <a:solidFill>
              <a:srgbClr val="0F766E"/>
            </a:solidFill>
            <a:prstDash val="solid"/>
          </a:ln>
        </p:spPr>
      </p:sp>
      <p:sp>
        <p:nvSpPr>
          <p:cNvPr id="83" name="Text 63"/>
          <p:cNvSpPr txBox="1"/>
          <p:nvPr/>
        </p:nvSpPr>
        <p:spPr>
          <a:xfrm>
            <a:off x="329184" y="2688336"/>
            <a:ext cx="822960" cy="512064"/>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② After the call</a:t>
            </a:r>
            <a:endParaRPr lang="en-US" sz="900" dirty="0"/>
          </a:p>
          <a:p>
            <a:pPr indent="0" marL="0">
              <a:buNone/>
            </a:pPr>
            <a:r>
              <a:rPr lang="en-US" sz="750" dirty="0">
                <a:solidFill>
                  <a:srgbClr val="FFFFFF"/>
                </a:solidFill>
                <a:latin typeface="Calibri" pitchFamily="34" charset="0"/>
                <a:ea typeface="Calibri" pitchFamily="34" charset="-122"/>
                <a:cs typeface="Calibri" pitchFamily="34" charset="-120"/>
              </a:rPr>
              <a:t>days · people</a:t>
            </a:r>
            <a:endParaRPr lang="en-US" sz="900" dirty="0"/>
          </a:p>
        </p:txBody>
      </p:sp>
      <p:sp>
        <p:nvSpPr>
          <p:cNvPr id="84" name="Shape 64"/>
          <p:cNvSpPr/>
          <p:nvPr/>
        </p:nvSpPr>
        <p:spPr>
          <a:xfrm>
            <a:off x="1298448" y="2688336"/>
            <a:ext cx="1411834" cy="512064"/>
          </a:xfrm>
          <a:prstGeom prst="roundRect">
            <a:avLst>
              <a:gd name="adj" fmla="val 14286"/>
            </a:avLst>
          </a:prstGeom>
          <a:solidFill>
            <a:srgbClr val="FFFFFF"/>
          </a:solidFill>
          <a:ln w="9525">
            <a:solidFill>
              <a:srgbClr val="E5E7EB"/>
            </a:solidFill>
            <a:prstDash val="solid"/>
          </a:ln>
        </p:spPr>
      </p:sp>
      <p:pic>
        <p:nvPicPr>
          <p:cNvPr id="85" name="Image 18" descr="preencoded.png">    </p:cNvPr>
          <p:cNvPicPr>
            <a:picLocks noChangeAspect="1"/>
          </p:cNvPicPr>
          <p:nvPr/>
        </p:nvPicPr>
        <p:blipFill>
          <a:blip r:embed="rId19"/>
          <a:stretch>
            <a:fillRect/>
          </a:stretch>
        </p:blipFill>
        <p:spPr>
          <a:xfrm>
            <a:off x="1353312" y="2752344"/>
            <a:ext cx="164592" cy="164592"/>
          </a:xfrm>
          <a:prstGeom prst="rect">
            <a:avLst/>
          </a:prstGeom>
        </p:spPr>
      </p:pic>
      <p:sp>
        <p:nvSpPr>
          <p:cNvPr id="86" name="Text 65"/>
          <p:cNvSpPr txBox="1"/>
          <p:nvPr/>
        </p:nvSpPr>
        <p:spPr>
          <a:xfrm>
            <a:off x="1554480" y="2734056"/>
            <a:ext cx="1119226" cy="201168"/>
          </a:xfrm>
          <a:prstGeom prst="rect">
            <a:avLst/>
          </a:prstGeom>
          <a:noFill/>
          <a:ln/>
        </p:spPr>
        <p:txBody>
          <a:bodyPr wrap="square" lIns="0" tIns="0" rIns="0" bIns="0" rtlCol="0" anchor="ctr"/>
          <a:lstStyle/>
          <a:p>
            <a:pPr indent="0" marL="0">
              <a:buNone/>
            </a:pPr>
            <a:r>
              <a:rPr lang="en-US" sz="800" b="1" dirty="0">
                <a:solidFill>
                  <a:srgbClr val="1B2A4A"/>
                </a:solidFill>
                <a:latin typeface="Calibri" pitchFamily="34" charset="0"/>
                <a:ea typeface="Calibri" pitchFamily="34" charset="-122"/>
                <a:cs typeface="Calibri" pitchFamily="34" charset="-120"/>
              </a:rPr>
              <a:t>Profile → case</a:t>
            </a:r>
            <a:endParaRPr lang="en-US" sz="800" dirty="0"/>
          </a:p>
        </p:txBody>
      </p:sp>
      <p:sp>
        <p:nvSpPr>
          <p:cNvPr id="87" name="Text 66"/>
          <p:cNvSpPr txBox="1"/>
          <p:nvPr/>
        </p:nvSpPr>
        <p:spPr>
          <a:xfrm>
            <a:off x="1353312" y="2944368"/>
            <a:ext cx="1320394" cy="237744"/>
          </a:xfrm>
          <a:prstGeom prst="rect">
            <a:avLst/>
          </a:prstGeom>
          <a:noFill/>
          <a:ln/>
        </p:spPr>
        <p:txBody>
          <a:bodyPr wrap="square" lIns="0" tIns="0" rIns="0" bIns="0" rtlCol="0" anchor="t"/>
          <a:lstStyle/>
          <a:p>
            <a:pPr indent="0" marL="0">
              <a:buNone/>
            </a:pPr>
            <a:r>
              <a:rPr lang="en-US" sz="700" dirty="0">
                <a:solidFill>
                  <a:srgbClr val="6B7280"/>
                </a:solidFill>
                <a:latin typeface="Calibri" pitchFamily="34" charset="0"/>
                <a:ea typeface="Calibri" pitchFamily="34" charset="-122"/>
                <a:cs typeface="Calibri" pitchFamily="34" charset="-120"/>
              </a:rPr>
              <a:t>FastAPI + PostgreSQL, audit log</a:t>
            </a:r>
            <a:endParaRPr lang="en-US" sz="700" dirty="0"/>
          </a:p>
        </p:txBody>
      </p:sp>
      <p:sp>
        <p:nvSpPr>
          <p:cNvPr id="88" name="Shape 67"/>
          <p:cNvSpPr/>
          <p:nvPr/>
        </p:nvSpPr>
        <p:spPr>
          <a:xfrm>
            <a:off x="2723998" y="2898648"/>
            <a:ext cx="100584" cy="91440"/>
          </a:xfrm>
          <a:prstGeom prst="rightArrow">
            <a:avLst/>
          </a:prstGeom>
          <a:solidFill>
            <a:srgbClr val="0F766E"/>
          </a:solidFill>
          <a:ln w="12700">
            <a:solidFill>
              <a:srgbClr val="0F766E"/>
            </a:solidFill>
            <a:prstDash val="solid"/>
          </a:ln>
        </p:spPr>
      </p:sp>
      <p:sp>
        <p:nvSpPr>
          <p:cNvPr id="89" name="Shape 68"/>
          <p:cNvSpPr/>
          <p:nvPr/>
        </p:nvSpPr>
        <p:spPr>
          <a:xfrm>
            <a:off x="2838298" y="2688336"/>
            <a:ext cx="1411834" cy="512064"/>
          </a:xfrm>
          <a:prstGeom prst="roundRect">
            <a:avLst>
              <a:gd name="adj" fmla="val 14286"/>
            </a:avLst>
          </a:prstGeom>
          <a:solidFill>
            <a:srgbClr val="FFFFFF"/>
          </a:solidFill>
          <a:ln w="9525">
            <a:solidFill>
              <a:srgbClr val="E5E7EB"/>
            </a:solidFill>
            <a:prstDash val="solid"/>
          </a:ln>
        </p:spPr>
      </p:sp>
      <p:pic>
        <p:nvPicPr>
          <p:cNvPr id="90" name="Image 19" descr="preencoded.png">    </p:cNvPr>
          <p:cNvPicPr>
            <a:picLocks noChangeAspect="1"/>
          </p:cNvPicPr>
          <p:nvPr/>
        </p:nvPicPr>
        <p:blipFill>
          <a:blip r:embed="rId20"/>
          <a:stretch>
            <a:fillRect/>
          </a:stretch>
        </p:blipFill>
        <p:spPr>
          <a:xfrm>
            <a:off x="2893162" y="2752344"/>
            <a:ext cx="164592" cy="164592"/>
          </a:xfrm>
          <a:prstGeom prst="rect">
            <a:avLst/>
          </a:prstGeom>
        </p:spPr>
      </p:pic>
      <p:sp>
        <p:nvSpPr>
          <p:cNvPr id="91" name="Text 69"/>
          <p:cNvSpPr txBox="1"/>
          <p:nvPr/>
        </p:nvSpPr>
        <p:spPr>
          <a:xfrm>
            <a:off x="3094330" y="2734056"/>
            <a:ext cx="1119226" cy="201168"/>
          </a:xfrm>
          <a:prstGeom prst="rect">
            <a:avLst/>
          </a:prstGeom>
          <a:noFill/>
          <a:ln/>
        </p:spPr>
        <p:txBody>
          <a:bodyPr wrap="square" lIns="0" tIns="0" rIns="0" bIns="0" rtlCol="0" anchor="ctr"/>
          <a:lstStyle/>
          <a:p>
            <a:pPr indent="0" marL="0">
              <a:buNone/>
            </a:pPr>
            <a:r>
              <a:rPr lang="en-US" sz="800" b="1" dirty="0">
                <a:solidFill>
                  <a:srgbClr val="1B2A4A"/>
                </a:solidFill>
                <a:latin typeface="Calibri" pitchFamily="34" charset="0"/>
                <a:ea typeface="Calibri" pitchFamily="34" charset="-122"/>
                <a:cs typeface="Calibri" pitchFamily="34" charset="-120"/>
              </a:rPr>
              <a:t>SMS</a:t>
            </a:r>
            <a:endParaRPr lang="en-US" sz="800" dirty="0"/>
          </a:p>
        </p:txBody>
      </p:sp>
      <p:sp>
        <p:nvSpPr>
          <p:cNvPr id="92" name="Text 70"/>
          <p:cNvSpPr txBox="1"/>
          <p:nvPr/>
        </p:nvSpPr>
        <p:spPr>
          <a:xfrm>
            <a:off x="2893162" y="2944368"/>
            <a:ext cx="1320394" cy="237744"/>
          </a:xfrm>
          <a:prstGeom prst="rect">
            <a:avLst/>
          </a:prstGeom>
          <a:noFill/>
          <a:ln/>
        </p:spPr>
        <p:txBody>
          <a:bodyPr wrap="square" lIns="0" tIns="0" rIns="0" bIns="0" rtlCol="0" anchor="t"/>
          <a:lstStyle/>
          <a:p>
            <a:pPr indent="0" marL="0">
              <a:buNone/>
            </a:pPr>
            <a:r>
              <a:rPr lang="en-US" sz="700" dirty="0">
                <a:solidFill>
                  <a:srgbClr val="6B7280"/>
                </a:solidFill>
                <a:latin typeface="Calibri" pitchFamily="34" charset="0"/>
                <a:ea typeface="Calibri" pitchFamily="34" charset="-122"/>
                <a:cs typeface="Calibri" pitchFamily="34" charset="-120"/>
              </a:rPr>
              <a:t>case ID + documents list</a:t>
            </a:r>
            <a:endParaRPr lang="en-US" sz="700" dirty="0"/>
          </a:p>
        </p:txBody>
      </p:sp>
      <p:sp>
        <p:nvSpPr>
          <p:cNvPr id="93" name="Shape 71"/>
          <p:cNvSpPr/>
          <p:nvPr/>
        </p:nvSpPr>
        <p:spPr>
          <a:xfrm>
            <a:off x="4263847" y="2898648"/>
            <a:ext cx="100584" cy="91440"/>
          </a:xfrm>
          <a:prstGeom prst="rightArrow">
            <a:avLst/>
          </a:prstGeom>
          <a:solidFill>
            <a:srgbClr val="0F766E"/>
          </a:solidFill>
          <a:ln w="12700">
            <a:solidFill>
              <a:srgbClr val="0F766E"/>
            </a:solidFill>
            <a:prstDash val="solid"/>
          </a:ln>
        </p:spPr>
      </p:sp>
      <p:sp>
        <p:nvSpPr>
          <p:cNvPr id="94" name="Shape 72"/>
          <p:cNvSpPr/>
          <p:nvPr/>
        </p:nvSpPr>
        <p:spPr>
          <a:xfrm>
            <a:off x="4378147" y="2688336"/>
            <a:ext cx="1411834" cy="512064"/>
          </a:xfrm>
          <a:prstGeom prst="roundRect">
            <a:avLst>
              <a:gd name="adj" fmla="val 14286"/>
            </a:avLst>
          </a:prstGeom>
          <a:solidFill>
            <a:srgbClr val="FFFFFF"/>
          </a:solidFill>
          <a:ln w="9525">
            <a:solidFill>
              <a:srgbClr val="E5E7EB"/>
            </a:solidFill>
            <a:prstDash val="solid"/>
          </a:ln>
        </p:spPr>
      </p:sp>
      <p:pic>
        <p:nvPicPr>
          <p:cNvPr id="95" name="Image 20" descr="preencoded.png">    </p:cNvPr>
          <p:cNvPicPr>
            <a:picLocks noChangeAspect="1"/>
          </p:cNvPicPr>
          <p:nvPr/>
        </p:nvPicPr>
        <p:blipFill>
          <a:blip r:embed="rId21"/>
          <a:stretch>
            <a:fillRect/>
          </a:stretch>
        </p:blipFill>
        <p:spPr>
          <a:xfrm>
            <a:off x="4433011" y="2752344"/>
            <a:ext cx="164592" cy="164592"/>
          </a:xfrm>
          <a:prstGeom prst="rect">
            <a:avLst/>
          </a:prstGeom>
        </p:spPr>
      </p:pic>
      <p:sp>
        <p:nvSpPr>
          <p:cNvPr id="96" name="Text 73"/>
          <p:cNvSpPr txBox="1"/>
          <p:nvPr/>
        </p:nvSpPr>
        <p:spPr>
          <a:xfrm>
            <a:off x="4634179" y="2734056"/>
            <a:ext cx="1119226" cy="201168"/>
          </a:xfrm>
          <a:prstGeom prst="rect">
            <a:avLst/>
          </a:prstGeom>
          <a:noFill/>
          <a:ln/>
        </p:spPr>
        <p:txBody>
          <a:bodyPr wrap="square" lIns="0" tIns="0" rIns="0" bIns="0" rtlCol="0" anchor="ctr"/>
          <a:lstStyle/>
          <a:p>
            <a:pPr indent="0" marL="0">
              <a:buNone/>
            </a:pPr>
            <a:r>
              <a:rPr lang="en-US" sz="800" b="1" dirty="0">
                <a:solidFill>
                  <a:srgbClr val="1B2A4A"/>
                </a:solidFill>
                <a:latin typeface="Calibri" pitchFamily="34" charset="0"/>
                <a:ea typeface="Calibri" pitchFamily="34" charset="-122"/>
                <a:cs typeface="Calibri" pitchFamily="34" charset="-120"/>
              </a:rPr>
              <a:t>Officer approves*</a:t>
            </a:r>
            <a:endParaRPr lang="en-US" sz="800" dirty="0"/>
          </a:p>
        </p:txBody>
      </p:sp>
      <p:sp>
        <p:nvSpPr>
          <p:cNvPr id="97" name="Text 74"/>
          <p:cNvSpPr txBox="1"/>
          <p:nvPr/>
        </p:nvSpPr>
        <p:spPr>
          <a:xfrm>
            <a:off x="4433011" y="2944368"/>
            <a:ext cx="1320394" cy="237744"/>
          </a:xfrm>
          <a:prstGeom prst="rect">
            <a:avLst/>
          </a:prstGeom>
          <a:noFill/>
          <a:ln/>
        </p:spPr>
        <p:txBody>
          <a:bodyPr wrap="square" lIns="0" tIns="0" rIns="0" bIns="0" rtlCol="0" anchor="t"/>
          <a:lstStyle/>
          <a:p>
            <a:pPr indent="0" marL="0">
              <a:buNone/>
            </a:pPr>
            <a:r>
              <a:rPr lang="en-US" sz="700" dirty="0">
                <a:solidFill>
                  <a:srgbClr val="6B7280"/>
                </a:solidFill>
                <a:latin typeface="Calibri" pitchFamily="34" charset="0"/>
                <a:ea typeface="Calibri" pitchFamily="34" charset="-122"/>
                <a:cs typeface="Calibri" pitchFamily="34" charset="-120"/>
              </a:rPr>
              <a:t>team console / AJAY app</a:t>
            </a:r>
            <a:endParaRPr lang="en-US" sz="700" dirty="0"/>
          </a:p>
        </p:txBody>
      </p:sp>
      <p:sp>
        <p:nvSpPr>
          <p:cNvPr id="98" name="Shape 75"/>
          <p:cNvSpPr/>
          <p:nvPr/>
        </p:nvSpPr>
        <p:spPr>
          <a:xfrm>
            <a:off x="5803697" y="2898648"/>
            <a:ext cx="100584" cy="91440"/>
          </a:xfrm>
          <a:prstGeom prst="rightArrow">
            <a:avLst/>
          </a:prstGeom>
          <a:solidFill>
            <a:srgbClr val="0F766E"/>
          </a:solidFill>
          <a:ln w="12700">
            <a:solidFill>
              <a:srgbClr val="0F766E"/>
            </a:solidFill>
            <a:prstDash val="solid"/>
          </a:ln>
        </p:spPr>
      </p:sp>
      <p:sp>
        <p:nvSpPr>
          <p:cNvPr id="99" name="Shape 76"/>
          <p:cNvSpPr/>
          <p:nvPr/>
        </p:nvSpPr>
        <p:spPr>
          <a:xfrm>
            <a:off x="5917997" y="2688336"/>
            <a:ext cx="1411834" cy="512064"/>
          </a:xfrm>
          <a:prstGeom prst="roundRect">
            <a:avLst>
              <a:gd name="adj" fmla="val 14286"/>
            </a:avLst>
          </a:prstGeom>
          <a:solidFill>
            <a:srgbClr val="FFFFFF"/>
          </a:solidFill>
          <a:ln w="9525">
            <a:solidFill>
              <a:srgbClr val="E5E7EB"/>
            </a:solidFill>
            <a:prstDash val="solid"/>
          </a:ln>
        </p:spPr>
      </p:sp>
      <p:pic>
        <p:nvPicPr>
          <p:cNvPr id="100" name="Image 21" descr="preencoded.png">    </p:cNvPr>
          <p:cNvPicPr>
            <a:picLocks noChangeAspect="1"/>
          </p:cNvPicPr>
          <p:nvPr/>
        </p:nvPicPr>
        <p:blipFill>
          <a:blip r:embed="rId22"/>
          <a:stretch>
            <a:fillRect/>
          </a:stretch>
        </p:blipFill>
        <p:spPr>
          <a:xfrm>
            <a:off x="5972861" y="2752344"/>
            <a:ext cx="164592" cy="164592"/>
          </a:xfrm>
          <a:prstGeom prst="rect">
            <a:avLst/>
          </a:prstGeom>
        </p:spPr>
      </p:pic>
      <p:sp>
        <p:nvSpPr>
          <p:cNvPr id="101" name="Text 77"/>
          <p:cNvSpPr txBox="1"/>
          <p:nvPr/>
        </p:nvSpPr>
        <p:spPr>
          <a:xfrm>
            <a:off x="6174029" y="2734056"/>
            <a:ext cx="1119226" cy="201168"/>
          </a:xfrm>
          <a:prstGeom prst="rect">
            <a:avLst/>
          </a:prstGeom>
          <a:noFill/>
          <a:ln/>
        </p:spPr>
        <p:txBody>
          <a:bodyPr wrap="square" lIns="0" tIns="0" rIns="0" bIns="0" rtlCol="0" anchor="ctr"/>
          <a:lstStyle/>
          <a:p>
            <a:pPr indent="0" marL="0">
              <a:buNone/>
            </a:pPr>
            <a:r>
              <a:rPr lang="en-US" sz="800" b="1" dirty="0">
                <a:solidFill>
                  <a:srgbClr val="1B2A4A"/>
                </a:solidFill>
                <a:latin typeface="Calibri" pitchFamily="34" charset="0"/>
                <a:ea typeface="Calibri" pitchFamily="34" charset="-122"/>
                <a:cs typeface="Calibri" pitchFamily="34" charset="-120"/>
              </a:rPr>
              <a:t>Follow-ups 1·3·6 mo</a:t>
            </a:r>
            <a:endParaRPr lang="en-US" sz="800" dirty="0"/>
          </a:p>
        </p:txBody>
      </p:sp>
      <p:sp>
        <p:nvSpPr>
          <p:cNvPr id="102" name="Text 78"/>
          <p:cNvSpPr txBox="1"/>
          <p:nvPr/>
        </p:nvSpPr>
        <p:spPr>
          <a:xfrm>
            <a:off x="5972861" y="2944368"/>
            <a:ext cx="1320394" cy="237744"/>
          </a:xfrm>
          <a:prstGeom prst="rect">
            <a:avLst/>
          </a:prstGeom>
          <a:noFill/>
          <a:ln/>
        </p:spPr>
        <p:txBody>
          <a:bodyPr wrap="square" lIns="0" tIns="0" rIns="0" bIns="0" rtlCol="0" anchor="t"/>
          <a:lstStyle/>
          <a:p>
            <a:pPr indent="0" marL="0">
              <a:buNone/>
            </a:pPr>
            <a:r>
              <a:rPr lang="en-US" sz="700" dirty="0">
                <a:solidFill>
                  <a:srgbClr val="6B7280"/>
                </a:solidFill>
                <a:latin typeface="Calibri" pitchFamily="34" charset="0"/>
                <a:ea typeface="Calibri" pitchFamily="34" charset="-122"/>
                <a:cs typeface="Calibri" pitchFamily="34" charset="-120"/>
              </a:rPr>
              <a:t>+ Satyavaani liveness check</a:t>
            </a:r>
            <a:endParaRPr lang="en-US" sz="700" dirty="0"/>
          </a:p>
        </p:txBody>
      </p:sp>
      <p:sp>
        <p:nvSpPr>
          <p:cNvPr id="103" name="Shape 79"/>
          <p:cNvSpPr/>
          <p:nvPr/>
        </p:nvSpPr>
        <p:spPr>
          <a:xfrm>
            <a:off x="7343546" y="2898648"/>
            <a:ext cx="100584" cy="91440"/>
          </a:xfrm>
          <a:prstGeom prst="rightArrow">
            <a:avLst/>
          </a:prstGeom>
          <a:solidFill>
            <a:srgbClr val="0F766E"/>
          </a:solidFill>
          <a:ln w="12700">
            <a:solidFill>
              <a:srgbClr val="0F766E"/>
            </a:solidFill>
            <a:prstDash val="solid"/>
          </a:ln>
        </p:spPr>
      </p:sp>
      <p:sp>
        <p:nvSpPr>
          <p:cNvPr id="104" name="Shape 80"/>
          <p:cNvSpPr/>
          <p:nvPr/>
        </p:nvSpPr>
        <p:spPr>
          <a:xfrm>
            <a:off x="7457846" y="2688336"/>
            <a:ext cx="1411834" cy="512064"/>
          </a:xfrm>
          <a:prstGeom prst="roundRect">
            <a:avLst>
              <a:gd name="adj" fmla="val 14286"/>
            </a:avLst>
          </a:prstGeom>
          <a:solidFill>
            <a:srgbClr val="FFFFFF"/>
          </a:solidFill>
          <a:ln w="9525">
            <a:solidFill>
              <a:srgbClr val="E5E7EB"/>
            </a:solidFill>
            <a:prstDash val="solid"/>
          </a:ln>
        </p:spPr>
      </p:sp>
      <p:pic>
        <p:nvPicPr>
          <p:cNvPr id="105" name="Image 22" descr="preencoded.png">    </p:cNvPr>
          <p:cNvPicPr>
            <a:picLocks noChangeAspect="1"/>
          </p:cNvPicPr>
          <p:nvPr/>
        </p:nvPicPr>
        <p:blipFill>
          <a:blip r:embed="rId23"/>
          <a:stretch>
            <a:fillRect/>
          </a:stretch>
        </p:blipFill>
        <p:spPr>
          <a:xfrm>
            <a:off x="7512710" y="2752344"/>
            <a:ext cx="164592" cy="164592"/>
          </a:xfrm>
          <a:prstGeom prst="rect">
            <a:avLst/>
          </a:prstGeom>
        </p:spPr>
      </p:pic>
      <p:sp>
        <p:nvSpPr>
          <p:cNvPr id="106" name="Text 81"/>
          <p:cNvSpPr txBox="1"/>
          <p:nvPr/>
        </p:nvSpPr>
        <p:spPr>
          <a:xfrm>
            <a:off x="7713878" y="2734056"/>
            <a:ext cx="1119226" cy="201168"/>
          </a:xfrm>
          <a:prstGeom prst="rect">
            <a:avLst/>
          </a:prstGeom>
          <a:noFill/>
          <a:ln/>
        </p:spPr>
        <p:txBody>
          <a:bodyPr wrap="square" lIns="0" tIns="0" rIns="0" bIns="0" rtlCol="0" anchor="ctr"/>
          <a:lstStyle/>
          <a:p>
            <a:pPr indent="0" marL="0">
              <a:buNone/>
            </a:pPr>
            <a:r>
              <a:rPr lang="en-US" sz="800" b="1" dirty="0">
                <a:solidFill>
                  <a:srgbClr val="1B2A4A"/>
                </a:solidFill>
                <a:latin typeface="Calibri" pitchFamily="34" charset="0"/>
                <a:ea typeface="Calibri" pitchFamily="34" charset="-122"/>
                <a:cs typeface="Calibri" pitchFamily="34" charset="-120"/>
              </a:rPr>
              <a:t>Verified outcomes</a:t>
            </a:r>
            <a:endParaRPr lang="en-US" sz="800" dirty="0"/>
          </a:p>
        </p:txBody>
      </p:sp>
      <p:sp>
        <p:nvSpPr>
          <p:cNvPr id="107" name="Text 82"/>
          <p:cNvSpPr txBox="1"/>
          <p:nvPr/>
        </p:nvSpPr>
        <p:spPr>
          <a:xfrm>
            <a:off x="7512710" y="2944368"/>
            <a:ext cx="1320394" cy="237744"/>
          </a:xfrm>
          <a:prstGeom prst="rect">
            <a:avLst/>
          </a:prstGeom>
          <a:noFill/>
          <a:ln/>
        </p:spPr>
        <p:txBody>
          <a:bodyPr wrap="square" lIns="0" tIns="0" rIns="0" bIns="0" rtlCol="0" anchor="t"/>
          <a:lstStyle/>
          <a:p>
            <a:pPr indent="0" marL="0">
              <a:buNone/>
            </a:pPr>
            <a:r>
              <a:rPr lang="en-US" sz="700" dirty="0">
                <a:solidFill>
                  <a:srgbClr val="6B7280"/>
                </a:solidFill>
                <a:latin typeface="Calibri" pitchFamily="34" charset="0"/>
                <a:ea typeface="Calibri" pitchFamily="34" charset="-122"/>
                <a:cs typeface="Calibri" pitchFamily="34" charset="-120"/>
              </a:rPr>
              <a:t>ranker retrained monthly</a:t>
            </a:r>
            <a:endParaRPr lang="en-US" sz="700" dirty="0"/>
          </a:p>
        </p:txBody>
      </p:sp>
      <p:sp>
        <p:nvSpPr>
          <p:cNvPr id="108" name="Text 83"/>
          <p:cNvSpPr txBox="1"/>
          <p:nvPr/>
        </p:nvSpPr>
        <p:spPr>
          <a:xfrm>
            <a:off x="274320" y="3255264"/>
            <a:ext cx="8595360" cy="201168"/>
          </a:xfrm>
          <a:prstGeom prst="rect">
            <a:avLst/>
          </a:prstGeom>
          <a:noFill/>
          <a:ln/>
        </p:spPr>
        <p:txBody>
          <a:bodyPr wrap="square" lIns="0" tIns="0" rIns="0" bIns="0" rtlCol="0" anchor="ctr"/>
          <a:lstStyle/>
          <a:p>
            <a:pPr algn="ctr" indent="0" marL="0">
              <a:buNone/>
            </a:pPr>
            <a:r>
              <a:rPr lang="en-US" sz="950" b="1" dirty="0">
                <a:solidFill>
                  <a:srgbClr val="1B2A4A"/>
                </a:solidFill>
                <a:latin typeface="Calibri" pitchFamily="34" charset="0"/>
                <a:ea typeface="Calibri" pitchFamily="34" charset="-122"/>
                <a:cs typeface="Calibri" pitchFamily="34" charset="-120"/>
              </a:rPr>
              <a:t>AI understands  →  data and rules decide  →  facts checked  →  humans approve</a:t>
            </a:r>
            <a:pPr algn="ctr" indent="0" marL="0">
              <a:buNone/>
            </a:pPr>
            <a:r>
              <a:rPr lang="en-US" sz="800" i="1" dirty="0">
                <a:solidFill>
                  <a:srgbClr val="6B7280"/>
                </a:solidFill>
                <a:latin typeface="Calibri" pitchFamily="34" charset="0"/>
                <a:ea typeface="Calibri" pitchFamily="34" charset="-122"/>
                <a:cs typeface="Calibri" pitchFamily="34" charset="-120"/>
              </a:rPr>
              <a:t>      GPU down → Sarvam API  ·  AI stuck → human counsellor</a:t>
            </a:r>
            <a:endParaRPr lang="en-US" sz="950" dirty="0"/>
          </a:p>
        </p:txBody>
      </p:sp>
      <p:sp>
        <p:nvSpPr>
          <p:cNvPr id="109" name="Text 84"/>
          <p:cNvSpPr txBox="1"/>
          <p:nvPr/>
        </p:nvSpPr>
        <p:spPr>
          <a:xfrm>
            <a:off x="274320" y="3511296"/>
            <a:ext cx="8595360" cy="219456"/>
          </a:xfrm>
          <a:prstGeom prst="rect">
            <a:avLst/>
          </a:prstGeom>
          <a:noFill/>
          <a:ln/>
        </p:spPr>
        <p:txBody>
          <a:bodyPr wrap="square" lIns="0" tIns="0" rIns="0" bIns="0" rtlCol="0" anchor="ctr"/>
          <a:lstStyle/>
          <a:p>
            <a:pPr indent="0" marL="0">
              <a:buNone/>
            </a:pPr>
            <a:r>
              <a:rPr lang="en-US" sz="1050" b="1" spc="150" kern="0" dirty="0">
                <a:solidFill>
                  <a:srgbClr val="0F766E"/>
                </a:solidFill>
                <a:latin typeface="Calibri" pitchFamily="34" charset="0"/>
                <a:ea typeface="Calibri" pitchFamily="34" charset="-122"/>
                <a:cs typeface="Calibri" pitchFamily="34" charset="-120"/>
              </a:rPr>
              <a:t>OUR MODELS</a:t>
            </a:r>
            <a:pPr indent="0" marL="0">
              <a:buNone/>
            </a:pPr>
            <a:r>
              <a:rPr lang="en-US" sz="1050" i="1" dirty="0">
                <a:solidFill>
                  <a:srgbClr val="6B7280"/>
                </a:solidFill>
                <a:latin typeface="Calibri" pitchFamily="34" charset="0"/>
                <a:ea typeface="Calibri" pitchFamily="34" charset="-122"/>
                <a:cs typeface="Calibri" pitchFamily="34" charset="-120"/>
              </a:rPr>
              <a:t>   what each one does, how we train it, the bar it must pass</a:t>
            </a:r>
            <a:endParaRPr lang="en-US" sz="1050" dirty="0"/>
          </a:p>
        </p:txBody>
      </p:sp>
      <p:sp>
        <p:nvSpPr>
          <p:cNvPr id="110" name="Shape 85"/>
          <p:cNvSpPr/>
          <p:nvPr/>
        </p:nvSpPr>
        <p:spPr>
          <a:xfrm>
            <a:off x="274320" y="3767328"/>
            <a:ext cx="2807208" cy="493776"/>
          </a:xfrm>
          <a:prstGeom prst="roundRect">
            <a:avLst>
              <a:gd name="adj" fmla="val 14815"/>
            </a:avLst>
          </a:prstGeom>
          <a:solidFill>
            <a:srgbClr val="F5F6F8"/>
          </a:solidFill>
          <a:ln w="12700">
            <a:solidFill>
              <a:srgbClr val="F5F6F8"/>
            </a:solidFill>
            <a:prstDash val="solid"/>
          </a:ln>
        </p:spPr>
      </p:sp>
      <p:sp>
        <p:nvSpPr>
          <p:cNvPr id="111" name="Text 86"/>
          <p:cNvSpPr txBox="1"/>
          <p:nvPr/>
        </p:nvSpPr>
        <p:spPr>
          <a:xfrm>
            <a:off x="365760" y="3803904"/>
            <a:ext cx="1600200" cy="164592"/>
          </a:xfrm>
          <a:prstGeom prst="rect">
            <a:avLst/>
          </a:prstGeom>
          <a:noFill/>
          <a:ln/>
        </p:spPr>
        <p:txBody>
          <a:bodyPr wrap="square" lIns="0" tIns="0" rIns="0" bIns="0" rtlCol="0" anchor="t"/>
          <a:lstStyle/>
          <a:p>
            <a:pPr indent="0" marL="0">
              <a:buNone/>
            </a:pPr>
            <a:r>
              <a:rPr lang="en-US" sz="900" b="1" dirty="0">
                <a:solidFill>
                  <a:srgbClr val="1B2A4A"/>
                </a:solidFill>
                <a:latin typeface="Calibri" pitchFamily="34" charset="0"/>
                <a:ea typeface="Calibri" pitchFamily="34" charset="-122"/>
                <a:cs typeface="Calibri" pitchFamily="34" charset="-120"/>
              </a:rPr>
              <a:t>IndicConformer-600M</a:t>
            </a:r>
            <a:endParaRPr lang="en-US" sz="900" dirty="0"/>
          </a:p>
        </p:txBody>
      </p:sp>
      <p:sp>
        <p:nvSpPr>
          <p:cNvPr id="112" name="Text 87"/>
          <p:cNvSpPr txBox="1"/>
          <p:nvPr/>
        </p:nvSpPr>
        <p:spPr>
          <a:xfrm>
            <a:off x="1828800" y="3803904"/>
            <a:ext cx="1188720" cy="164592"/>
          </a:xfrm>
          <a:prstGeom prst="rect">
            <a:avLst/>
          </a:prstGeom>
          <a:noFill/>
          <a:ln/>
        </p:spPr>
        <p:txBody>
          <a:bodyPr wrap="square" lIns="0" tIns="0" rIns="0" bIns="0" rtlCol="0" anchor="t"/>
          <a:lstStyle/>
          <a:p>
            <a:pPr algn="r" indent="0" marL="0">
              <a:buNone/>
            </a:pPr>
            <a:r>
              <a:rPr lang="en-US" sz="750" b="1" dirty="0">
                <a:solidFill>
                  <a:srgbClr val="E8772E"/>
                </a:solidFill>
                <a:latin typeface="Calibri" pitchFamily="34" charset="0"/>
                <a:ea typeface="Calibri" pitchFamily="34" charset="-122"/>
                <a:cs typeface="Calibri" pitchFamily="34" charset="-120"/>
              </a:rPr>
              <a:t>Hindi error ≤ 20%</a:t>
            </a:r>
            <a:endParaRPr lang="en-US" sz="750" dirty="0"/>
          </a:p>
        </p:txBody>
      </p:sp>
      <p:sp>
        <p:nvSpPr>
          <p:cNvPr id="113" name="Text 88"/>
          <p:cNvSpPr txBox="1"/>
          <p:nvPr/>
        </p:nvSpPr>
        <p:spPr>
          <a:xfrm>
            <a:off x="365760" y="3968496"/>
            <a:ext cx="2651760" cy="274320"/>
          </a:xfrm>
          <a:prstGeom prst="rect">
            <a:avLst/>
          </a:prstGeom>
          <a:noFill/>
          <a:ln/>
        </p:spPr>
        <p:txBody>
          <a:bodyPr wrap="square" lIns="0" tIns="0" rIns="0" bIns="0" rtlCol="0" anchor="t"/>
          <a:lstStyle/>
          <a:p>
            <a:pPr indent="0" marL="0">
              <a:buNone/>
            </a:pPr>
            <a:r>
              <a:rPr lang="en-US" sz="700" b="1" dirty="0">
                <a:solidFill>
                  <a:srgbClr val="0F766E"/>
                </a:solidFill>
                <a:latin typeface="Calibri" pitchFamily="34" charset="0"/>
                <a:ea typeface="Calibri" pitchFamily="34" charset="-122"/>
                <a:cs typeface="Calibri" pitchFamily="34" charset="-120"/>
              </a:rPr>
              <a:t>Works: </a:t>
            </a:r>
            <a:pPr indent="0" marL="0">
              <a:buNone/>
            </a:pPr>
            <a:r>
              <a:rPr lang="en-US" sz="700" dirty="0">
                <a:solidFill>
                  <a:srgbClr val="1F2937"/>
                </a:solidFill>
                <a:latin typeface="Calibri" pitchFamily="34" charset="0"/>
                <a:ea typeface="Calibri" pitchFamily="34" charset="-122"/>
                <a:cs typeface="Calibri" pitchFamily="34" charset="-120"/>
              </a:rPr>
              <a:t>22 languages; 8 kHz phone audio → text</a:t>
            </a:r>
            <a:endParaRPr lang="en-US" sz="700" dirty="0"/>
          </a:p>
          <a:p>
            <a:pPr indent="0" marL="0">
              <a:buNone/>
            </a:pPr>
            <a:r>
              <a:rPr lang="en-US" sz="700" b="1" dirty="0">
                <a:solidFill>
                  <a:srgbClr val="6D4AB8"/>
                </a:solidFill>
                <a:latin typeface="Calibri" pitchFamily="34" charset="0"/>
                <a:ea typeface="Calibri" pitchFamily="34" charset="-122"/>
                <a:cs typeface="Calibri" pitchFamily="34" charset="-120"/>
              </a:rPr>
              <a:t>Trains: </a:t>
            </a:r>
            <a:pPr indent="0" marL="0">
              <a:buNone/>
            </a:pPr>
            <a:r>
              <a:rPr lang="en-US" sz="700" dirty="0">
                <a:solidFill>
                  <a:srgbClr val="1F2937"/>
                </a:solidFill>
                <a:latin typeface="Calibri" pitchFamily="34" charset="0"/>
                <a:ea typeface="Calibri" pitchFamily="34" charset="-122"/>
                <a:cs typeface="Calibri" pitchFamily="34" charset="-120"/>
              </a:rPr>
              <a:t>100 h consented calls per language + IndicVoices · ~72 GPU-h</a:t>
            </a:r>
            <a:endParaRPr lang="en-US" sz="700" dirty="0"/>
          </a:p>
        </p:txBody>
      </p:sp>
      <p:sp>
        <p:nvSpPr>
          <p:cNvPr id="114" name="Shape 89"/>
          <p:cNvSpPr/>
          <p:nvPr/>
        </p:nvSpPr>
        <p:spPr>
          <a:xfrm>
            <a:off x="3172968" y="3767328"/>
            <a:ext cx="2807208" cy="493776"/>
          </a:xfrm>
          <a:prstGeom prst="roundRect">
            <a:avLst>
              <a:gd name="adj" fmla="val 14815"/>
            </a:avLst>
          </a:prstGeom>
          <a:solidFill>
            <a:srgbClr val="F5F6F8"/>
          </a:solidFill>
          <a:ln w="12700">
            <a:solidFill>
              <a:srgbClr val="F5F6F8"/>
            </a:solidFill>
            <a:prstDash val="solid"/>
          </a:ln>
        </p:spPr>
      </p:sp>
      <p:sp>
        <p:nvSpPr>
          <p:cNvPr id="115" name="Text 90"/>
          <p:cNvSpPr txBox="1"/>
          <p:nvPr/>
        </p:nvSpPr>
        <p:spPr>
          <a:xfrm>
            <a:off x="3264408" y="3803904"/>
            <a:ext cx="1600200" cy="164592"/>
          </a:xfrm>
          <a:prstGeom prst="rect">
            <a:avLst/>
          </a:prstGeom>
          <a:noFill/>
          <a:ln/>
        </p:spPr>
        <p:txBody>
          <a:bodyPr wrap="square" lIns="0" tIns="0" rIns="0" bIns="0" rtlCol="0" anchor="t"/>
          <a:lstStyle/>
          <a:p>
            <a:pPr indent="0" marL="0">
              <a:buNone/>
            </a:pPr>
            <a:r>
              <a:rPr lang="en-US" sz="900" b="1" dirty="0">
                <a:solidFill>
                  <a:srgbClr val="1B2A4A"/>
                </a:solidFill>
                <a:latin typeface="Calibri" pitchFamily="34" charset="0"/>
                <a:ea typeface="Calibri" pitchFamily="34" charset="-122"/>
                <a:cs typeface="Calibri" pitchFamily="34" charset="-120"/>
              </a:rPr>
              <a:t>Indic Parler-TTS</a:t>
            </a:r>
            <a:endParaRPr lang="en-US" sz="900" dirty="0"/>
          </a:p>
        </p:txBody>
      </p:sp>
      <p:sp>
        <p:nvSpPr>
          <p:cNvPr id="116" name="Text 91"/>
          <p:cNvSpPr txBox="1"/>
          <p:nvPr/>
        </p:nvSpPr>
        <p:spPr>
          <a:xfrm>
            <a:off x="4727448" y="3803904"/>
            <a:ext cx="1188720" cy="164592"/>
          </a:xfrm>
          <a:prstGeom prst="rect">
            <a:avLst/>
          </a:prstGeom>
          <a:noFill/>
          <a:ln/>
        </p:spPr>
        <p:txBody>
          <a:bodyPr wrap="square" lIns="0" tIns="0" rIns="0" bIns="0" rtlCol="0" anchor="t"/>
          <a:lstStyle/>
          <a:p>
            <a:pPr algn="r" indent="0" marL="0">
              <a:buNone/>
            </a:pPr>
            <a:r>
              <a:rPr lang="en-US" sz="750" b="1" dirty="0">
                <a:solidFill>
                  <a:srgbClr val="E8772E"/>
                </a:solidFill>
                <a:latin typeface="Calibri" pitchFamily="34" charset="0"/>
                <a:ea typeface="Calibri" pitchFamily="34" charset="-122"/>
                <a:cs typeface="Calibri" pitchFamily="34" charset="-120"/>
              </a:rPr>
              <a:t>listeners ≥ 4/5</a:t>
            </a:r>
            <a:endParaRPr lang="en-US" sz="750" dirty="0"/>
          </a:p>
        </p:txBody>
      </p:sp>
      <p:sp>
        <p:nvSpPr>
          <p:cNvPr id="117" name="Text 92"/>
          <p:cNvSpPr txBox="1"/>
          <p:nvPr/>
        </p:nvSpPr>
        <p:spPr>
          <a:xfrm>
            <a:off x="3264408" y="3968496"/>
            <a:ext cx="2651760" cy="274320"/>
          </a:xfrm>
          <a:prstGeom prst="rect">
            <a:avLst/>
          </a:prstGeom>
          <a:noFill/>
          <a:ln/>
        </p:spPr>
        <p:txBody>
          <a:bodyPr wrap="square" lIns="0" tIns="0" rIns="0" bIns="0" rtlCol="0" anchor="t"/>
          <a:lstStyle/>
          <a:p>
            <a:pPr indent="0" marL="0">
              <a:buNone/>
            </a:pPr>
            <a:r>
              <a:rPr lang="en-US" sz="700" b="1" dirty="0">
                <a:solidFill>
                  <a:srgbClr val="0F766E"/>
                </a:solidFill>
                <a:latin typeface="Calibri" pitchFamily="34" charset="0"/>
                <a:ea typeface="Calibri" pitchFamily="34" charset="-122"/>
                <a:cs typeface="Calibri" pitchFamily="34" charset="-120"/>
              </a:rPr>
              <a:t>Works: </a:t>
            </a:r>
            <a:pPr indent="0" marL="0">
              <a:buNone/>
            </a:pPr>
            <a:r>
              <a:rPr lang="en-US" sz="700" dirty="0">
                <a:solidFill>
                  <a:srgbClr val="1F2937"/>
                </a:solidFill>
                <a:latin typeface="Calibri" pitchFamily="34" charset="0"/>
                <a:ea typeface="Calibri" pitchFamily="34" charset="-122"/>
                <a:cs typeface="Calibri" pitchFamily="34" charset="-120"/>
              </a:rPr>
              <a:t>21 languages; text + “calm, clear voice” → speech</a:t>
            </a:r>
            <a:endParaRPr lang="en-US" sz="700" dirty="0"/>
          </a:p>
          <a:p>
            <a:pPr indent="0" marL="0">
              <a:buNone/>
            </a:pPr>
            <a:r>
              <a:rPr lang="en-US" sz="700" b="1" dirty="0">
                <a:solidFill>
                  <a:srgbClr val="6D4AB8"/>
                </a:solidFill>
                <a:latin typeface="Calibri" pitchFamily="34" charset="0"/>
                <a:ea typeface="Calibri" pitchFamily="34" charset="-122"/>
                <a:cs typeface="Calibri" pitchFamily="34" charset="-120"/>
              </a:rPr>
              <a:t>Trains: </a:t>
            </a:r>
            <a:pPr indent="0" marL="0">
              <a:buNone/>
            </a:pPr>
            <a:r>
              <a:rPr lang="en-US" sz="700" dirty="0">
                <a:solidFill>
                  <a:srgbClr val="1F2937"/>
                </a:solidFill>
                <a:latin typeface="Calibri" pitchFamily="34" charset="0"/>
                <a:ea typeface="Calibri" pitchFamily="34" charset="-122"/>
                <a:cs typeface="Calibri" pitchFamily="34" charset="-120"/>
              </a:rPr>
              <a:t>12 h of one local voice artist per language · ~24 GPU-h</a:t>
            </a:r>
            <a:endParaRPr lang="en-US" sz="700" dirty="0"/>
          </a:p>
        </p:txBody>
      </p:sp>
      <p:sp>
        <p:nvSpPr>
          <p:cNvPr id="118" name="Shape 93"/>
          <p:cNvSpPr/>
          <p:nvPr/>
        </p:nvSpPr>
        <p:spPr>
          <a:xfrm>
            <a:off x="6071616" y="3767328"/>
            <a:ext cx="2807208" cy="493776"/>
          </a:xfrm>
          <a:prstGeom prst="roundRect">
            <a:avLst>
              <a:gd name="adj" fmla="val 14815"/>
            </a:avLst>
          </a:prstGeom>
          <a:solidFill>
            <a:srgbClr val="F5F6F8"/>
          </a:solidFill>
          <a:ln w="12700">
            <a:solidFill>
              <a:srgbClr val="F5F6F8"/>
            </a:solidFill>
            <a:prstDash val="solid"/>
          </a:ln>
        </p:spPr>
      </p:sp>
      <p:sp>
        <p:nvSpPr>
          <p:cNvPr id="119" name="Text 94"/>
          <p:cNvSpPr txBox="1"/>
          <p:nvPr/>
        </p:nvSpPr>
        <p:spPr>
          <a:xfrm>
            <a:off x="6163056" y="3803904"/>
            <a:ext cx="1600200" cy="164592"/>
          </a:xfrm>
          <a:prstGeom prst="rect">
            <a:avLst/>
          </a:prstGeom>
          <a:noFill/>
          <a:ln/>
        </p:spPr>
        <p:txBody>
          <a:bodyPr wrap="square" lIns="0" tIns="0" rIns="0" bIns="0" rtlCol="0" anchor="t"/>
          <a:lstStyle/>
          <a:p>
            <a:pPr indent="0" marL="0">
              <a:buNone/>
            </a:pPr>
            <a:r>
              <a:rPr lang="en-US" sz="900" b="1" dirty="0">
                <a:solidFill>
                  <a:srgbClr val="1B2A4A"/>
                </a:solidFill>
                <a:latin typeface="Calibri" pitchFamily="34" charset="0"/>
                <a:ea typeface="Calibri" pitchFamily="34" charset="-122"/>
                <a:cs typeface="Calibri" pitchFamily="34" charset="-120"/>
              </a:rPr>
              <a:t>Sarvam-30B</a:t>
            </a:r>
            <a:endParaRPr lang="en-US" sz="900" dirty="0"/>
          </a:p>
        </p:txBody>
      </p:sp>
      <p:sp>
        <p:nvSpPr>
          <p:cNvPr id="120" name="Text 95"/>
          <p:cNvSpPr txBox="1"/>
          <p:nvPr/>
        </p:nvSpPr>
        <p:spPr>
          <a:xfrm>
            <a:off x="7626096" y="3803904"/>
            <a:ext cx="1188720" cy="164592"/>
          </a:xfrm>
          <a:prstGeom prst="rect">
            <a:avLst/>
          </a:prstGeom>
          <a:noFill/>
          <a:ln/>
        </p:spPr>
        <p:txBody>
          <a:bodyPr wrap="square" lIns="0" tIns="0" rIns="0" bIns="0" rtlCol="0" anchor="t"/>
          <a:lstStyle/>
          <a:p>
            <a:pPr algn="r" indent="0" marL="0">
              <a:buNone/>
            </a:pPr>
            <a:r>
              <a:rPr lang="en-US" sz="750" b="1" dirty="0">
                <a:solidFill>
                  <a:srgbClr val="E8772E"/>
                </a:solidFill>
                <a:latin typeface="Calibri" pitchFamily="34" charset="0"/>
                <a:ea typeface="Calibri" pitchFamily="34" charset="-122"/>
                <a:cs typeface="Calibri" pitchFamily="34" charset="-120"/>
              </a:rPr>
              <a:t>right job in top 3 ≥ 90%</a:t>
            </a:r>
            <a:endParaRPr lang="en-US" sz="750" dirty="0"/>
          </a:p>
        </p:txBody>
      </p:sp>
      <p:sp>
        <p:nvSpPr>
          <p:cNvPr id="121" name="Text 96"/>
          <p:cNvSpPr txBox="1"/>
          <p:nvPr/>
        </p:nvSpPr>
        <p:spPr>
          <a:xfrm>
            <a:off x="6163056" y="3968496"/>
            <a:ext cx="2651760" cy="274320"/>
          </a:xfrm>
          <a:prstGeom prst="rect">
            <a:avLst/>
          </a:prstGeom>
          <a:noFill/>
          <a:ln/>
        </p:spPr>
        <p:txBody>
          <a:bodyPr wrap="square" lIns="0" tIns="0" rIns="0" bIns="0" rtlCol="0" anchor="t"/>
          <a:lstStyle/>
          <a:p>
            <a:pPr indent="0" marL="0">
              <a:buNone/>
            </a:pPr>
            <a:r>
              <a:rPr lang="en-US" sz="700" b="1" dirty="0">
                <a:solidFill>
                  <a:srgbClr val="0F766E"/>
                </a:solidFill>
                <a:latin typeface="Calibri" pitchFamily="34" charset="0"/>
                <a:ea typeface="Calibri" pitchFamily="34" charset="-122"/>
                <a:cs typeface="Calibri" pitchFamily="34" charset="-120"/>
              </a:rPr>
              <a:t>Works: </a:t>
            </a:r>
            <a:pPr indent="0" marL="0">
              <a:buNone/>
            </a:pPr>
            <a:r>
              <a:rPr lang="en-US" sz="700" dirty="0">
                <a:solidFill>
                  <a:srgbClr val="1F2937"/>
                </a:solidFill>
                <a:latin typeface="Calibri" pitchFamily="34" charset="0"/>
                <a:ea typeface="Calibri" pitchFamily="34" charset="-122"/>
                <a:cs typeface="Calibri" pitchFamily="34" charset="-120"/>
              </a:rPr>
              <a:t>fills a fixed form: job codes, years, skills; never advises</a:t>
            </a:r>
            <a:endParaRPr lang="en-US" sz="700" dirty="0"/>
          </a:p>
          <a:p>
            <a:pPr indent="0" marL="0">
              <a:buNone/>
            </a:pPr>
            <a:r>
              <a:rPr lang="en-US" sz="700" b="1" dirty="0">
                <a:solidFill>
                  <a:srgbClr val="6D4AB8"/>
                </a:solidFill>
                <a:latin typeface="Calibri" pitchFamily="34" charset="0"/>
                <a:ea typeface="Calibri" pitchFamily="34" charset="-122"/>
                <a:cs typeface="Calibri" pitchFamily="34" charset="-120"/>
              </a:rPr>
              <a:t>Trains: </a:t>
            </a:r>
            <a:pPr indent="0" marL="0">
              <a:buNone/>
            </a:pPr>
            <a:r>
              <a:rPr lang="en-US" sz="700" dirty="0">
                <a:solidFill>
                  <a:srgbClr val="1F2937"/>
                </a:solidFill>
                <a:latin typeface="Calibri" pitchFamily="34" charset="0"/>
                <a:ea typeface="Calibri" pitchFamily="34" charset="-122"/>
                <a:cs typeface="Calibri" pitchFamily="34" charset="-120"/>
              </a:rPr>
              <a:t>LoRA on 5,000 checked story → form pairs · ~16 GPU-h</a:t>
            </a:r>
            <a:endParaRPr lang="en-US" sz="700" dirty="0"/>
          </a:p>
        </p:txBody>
      </p:sp>
      <p:sp>
        <p:nvSpPr>
          <p:cNvPr id="122" name="Shape 97"/>
          <p:cNvSpPr/>
          <p:nvPr/>
        </p:nvSpPr>
        <p:spPr>
          <a:xfrm>
            <a:off x="274320" y="4315968"/>
            <a:ext cx="2807208" cy="493776"/>
          </a:xfrm>
          <a:prstGeom prst="roundRect">
            <a:avLst>
              <a:gd name="adj" fmla="val 14815"/>
            </a:avLst>
          </a:prstGeom>
          <a:solidFill>
            <a:srgbClr val="F5F6F8"/>
          </a:solidFill>
          <a:ln w="12700">
            <a:solidFill>
              <a:srgbClr val="F5F6F8"/>
            </a:solidFill>
            <a:prstDash val="solid"/>
          </a:ln>
        </p:spPr>
      </p:sp>
      <p:sp>
        <p:nvSpPr>
          <p:cNvPr id="123" name="Text 98"/>
          <p:cNvSpPr txBox="1"/>
          <p:nvPr/>
        </p:nvSpPr>
        <p:spPr>
          <a:xfrm>
            <a:off x="365760" y="4352544"/>
            <a:ext cx="1600200" cy="164592"/>
          </a:xfrm>
          <a:prstGeom prst="rect">
            <a:avLst/>
          </a:prstGeom>
          <a:noFill/>
          <a:ln/>
        </p:spPr>
        <p:txBody>
          <a:bodyPr wrap="square" lIns="0" tIns="0" rIns="0" bIns="0" rtlCol="0" anchor="t"/>
          <a:lstStyle/>
          <a:p>
            <a:pPr indent="0" marL="0">
              <a:buNone/>
            </a:pPr>
            <a:r>
              <a:rPr lang="en-US" sz="900" b="1" dirty="0">
                <a:solidFill>
                  <a:srgbClr val="1B2A4A"/>
                </a:solidFill>
                <a:latin typeface="Calibri" pitchFamily="34" charset="0"/>
                <a:ea typeface="Calibri" pitchFamily="34" charset="-122"/>
                <a:cs typeface="Calibri" pitchFamily="34" charset="-120"/>
              </a:rPr>
              <a:t>multilingual-e5 + BM25</a:t>
            </a:r>
            <a:endParaRPr lang="en-US" sz="900" dirty="0"/>
          </a:p>
        </p:txBody>
      </p:sp>
      <p:sp>
        <p:nvSpPr>
          <p:cNvPr id="124" name="Text 99"/>
          <p:cNvSpPr txBox="1"/>
          <p:nvPr/>
        </p:nvSpPr>
        <p:spPr>
          <a:xfrm>
            <a:off x="1828800" y="4352544"/>
            <a:ext cx="1188720" cy="164592"/>
          </a:xfrm>
          <a:prstGeom prst="rect">
            <a:avLst/>
          </a:prstGeom>
          <a:noFill/>
          <a:ln/>
        </p:spPr>
        <p:txBody>
          <a:bodyPr wrap="square" lIns="0" tIns="0" rIns="0" bIns="0" rtlCol="0" anchor="t"/>
          <a:lstStyle/>
          <a:p>
            <a:pPr algn="r" indent="0" marL="0">
              <a:buNone/>
            </a:pPr>
            <a:r>
              <a:rPr lang="en-US" sz="750" b="1" dirty="0">
                <a:solidFill>
                  <a:srgbClr val="E8772E"/>
                </a:solidFill>
                <a:latin typeface="Calibri" pitchFamily="34" charset="0"/>
                <a:ea typeface="Calibri" pitchFamily="34" charset="-122"/>
                <a:cs typeface="Calibri" pitchFamily="34" charset="-120"/>
              </a:rPr>
              <a:t>right job in top 5 ≥ 90%</a:t>
            </a:r>
            <a:endParaRPr lang="en-US" sz="750" dirty="0"/>
          </a:p>
        </p:txBody>
      </p:sp>
      <p:sp>
        <p:nvSpPr>
          <p:cNvPr id="125" name="Text 100"/>
          <p:cNvSpPr txBox="1"/>
          <p:nvPr/>
        </p:nvSpPr>
        <p:spPr>
          <a:xfrm>
            <a:off x="365760" y="4517136"/>
            <a:ext cx="2651760" cy="274320"/>
          </a:xfrm>
          <a:prstGeom prst="rect">
            <a:avLst/>
          </a:prstGeom>
          <a:noFill/>
          <a:ln/>
        </p:spPr>
        <p:txBody>
          <a:bodyPr wrap="square" lIns="0" tIns="0" rIns="0" bIns="0" rtlCol="0" anchor="t"/>
          <a:lstStyle/>
          <a:p>
            <a:pPr indent="0" marL="0">
              <a:buNone/>
            </a:pPr>
            <a:r>
              <a:rPr lang="en-US" sz="700" b="1" dirty="0">
                <a:solidFill>
                  <a:srgbClr val="0F766E"/>
                </a:solidFill>
                <a:latin typeface="Calibri" pitchFamily="34" charset="0"/>
                <a:ea typeface="Calibri" pitchFamily="34" charset="-122"/>
                <a:cs typeface="Calibri" pitchFamily="34" charset="-120"/>
              </a:rPr>
              <a:t>Works: </a:t>
            </a:r>
            <a:pPr indent="0" marL="0">
              <a:buNone/>
            </a:pPr>
            <a:r>
              <a:rPr lang="en-US" sz="700" dirty="0">
                <a:solidFill>
                  <a:srgbClr val="1F2937"/>
                </a:solidFill>
                <a:latin typeface="Calibri" pitchFamily="34" charset="0"/>
                <a:ea typeface="Calibri" pitchFamily="34" charset="-122"/>
                <a:cs typeface="Calibri" pitchFamily="34" charset="-120"/>
              </a:rPr>
              <a:t>keyword + meaning score → top 20 → reranker → top 3</a:t>
            </a:r>
            <a:endParaRPr lang="en-US" sz="700" dirty="0"/>
          </a:p>
          <a:p>
            <a:pPr indent="0" marL="0">
              <a:buNone/>
            </a:pPr>
            <a:r>
              <a:rPr lang="en-US" sz="700" b="1" dirty="0">
                <a:solidFill>
                  <a:srgbClr val="6D4AB8"/>
                </a:solidFill>
                <a:latin typeface="Calibri" pitchFamily="34" charset="0"/>
                <a:ea typeface="Calibri" pitchFamily="34" charset="-122"/>
                <a:cs typeface="Calibri" pitchFamily="34" charset="-120"/>
              </a:rPr>
              <a:t>Trains: </a:t>
            </a:r>
            <a:pPr indent="0" marL="0">
              <a:buNone/>
            </a:pPr>
            <a:r>
              <a:rPr lang="en-US" sz="700" dirty="0">
                <a:solidFill>
                  <a:srgbClr val="1F2937"/>
                </a:solidFill>
                <a:latin typeface="Calibri" pitchFamily="34" charset="0"/>
                <a:ea typeface="Calibri" pitchFamily="34" charset="-122"/>
                <a:cs typeface="Calibri" pitchFamily="34" charset="-120"/>
              </a:rPr>
              <a:t>every “1” at read-back = right pair, “none” = wrong pair</a:t>
            </a:r>
            <a:endParaRPr lang="en-US" sz="700" dirty="0"/>
          </a:p>
        </p:txBody>
      </p:sp>
      <p:sp>
        <p:nvSpPr>
          <p:cNvPr id="126" name="Shape 101"/>
          <p:cNvSpPr/>
          <p:nvPr/>
        </p:nvSpPr>
        <p:spPr>
          <a:xfrm>
            <a:off x="3172968" y="4315968"/>
            <a:ext cx="2807208" cy="493776"/>
          </a:xfrm>
          <a:prstGeom prst="roundRect">
            <a:avLst>
              <a:gd name="adj" fmla="val 14815"/>
            </a:avLst>
          </a:prstGeom>
          <a:solidFill>
            <a:srgbClr val="F5F6F8"/>
          </a:solidFill>
          <a:ln w="12700">
            <a:solidFill>
              <a:srgbClr val="F5F6F8"/>
            </a:solidFill>
            <a:prstDash val="solid"/>
          </a:ln>
        </p:spPr>
      </p:sp>
      <p:sp>
        <p:nvSpPr>
          <p:cNvPr id="127" name="Text 102"/>
          <p:cNvSpPr txBox="1"/>
          <p:nvPr/>
        </p:nvSpPr>
        <p:spPr>
          <a:xfrm>
            <a:off x="3264408" y="4352544"/>
            <a:ext cx="1600200" cy="164592"/>
          </a:xfrm>
          <a:prstGeom prst="rect">
            <a:avLst/>
          </a:prstGeom>
          <a:noFill/>
          <a:ln/>
        </p:spPr>
        <p:txBody>
          <a:bodyPr wrap="square" lIns="0" tIns="0" rIns="0" bIns="0" rtlCol="0" anchor="t"/>
          <a:lstStyle/>
          <a:p>
            <a:pPr indent="0" marL="0">
              <a:buNone/>
            </a:pPr>
            <a:r>
              <a:rPr lang="en-US" sz="900" b="1" dirty="0">
                <a:solidFill>
                  <a:srgbClr val="1B2A4A"/>
                </a:solidFill>
                <a:latin typeface="Calibri" pitchFamily="34" charset="0"/>
                <a:ea typeface="Calibri" pitchFamily="34" charset="-122"/>
                <a:cs typeface="Calibri" pitchFamily="34" charset="-120"/>
              </a:rPr>
              <a:t>LightGBM LambdaRank</a:t>
            </a:r>
            <a:endParaRPr lang="en-US" sz="900" dirty="0"/>
          </a:p>
        </p:txBody>
      </p:sp>
      <p:sp>
        <p:nvSpPr>
          <p:cNvPr id="128" name="Text 103"/>
          <p:cNvSpPr txBox="1"/>
          <p:nvPr/>
        </p:nvSpPr>
        <p:spPr>
          <a:xfrm>
            <a:off x="4727448" y="4352544"/>
            <a:ext cx="1188720" cy="164592"/>
          </a:xfrm>
          <a:prstGeom prst="rect">
            <a:avLst/>
          </a:prstGeom>
          <a:noFill/>
          <a:ln/>
        </p:spPr>
        <p:txBody>
          <a:bodyPr wrap="square" lIns="0" tIns="0" rIns="0" bIns="0" rtlCol="0" anchor="t"/>
          <a:lstStyle/>
          <a:p>
            <a:pPr algn="r" indent="0" marL="0">
              <a:buNone/>
            </a:pPr>
            <a:r>
              <a:rPr lang="en-US" sz="750" b="1" dirty="0">
                <a:solidFill>
                  <a:srgbClr val="E8772E"/>
                </a:solidFill>
                <a:latin typeface="Calibri" pitchFamily="34" charset="0"/>
                <a:ea typeface="Calibri" pitchFamily="34" charset="-122"/>
                <a:cs typeface="Calibri" pitchFamily="34" charset="-120"/>
              </a:rPr>
              <a:t>gender gap ≤ 5 pts</a:t>
            </a:r>
            <a:endParaRPr lang="en-US" sz="750" dirty="0"/>
          </a:p>
        </p:txBody>
      </p:sp>
      <p:sp>
        <p:nvSpPr>
          <p:cNvPr id="129" name="Text 104"/>
          <p:cNvSpPr txBox="1"/>
          <p:nvPr/>
        </p:nvSpPr>
        <p:spPr>
          <a:xfrm>
            <a:off x="3264408" y="4517136"/>
            <a:ext cx="2651760" cy="274320"/>
          </a:xfrm>
          <a:prstGeom prst="rect">
            <a:avLst/>
          </a:prstGeom>
          <a:noFill/>
          <a:ln/>
        </p:spPr>
        <p:txBody>
          <a:bodyPr wrap="square" lIns="0" tIns="0" rIns="0" bIns="0" rtlCol="0" anchor="t"/>
          <a:lstStyle/>
          <a:p>
            <a:pPr indent="0" marL="0">
              <a:buNone/>
            </a:pPr>
            <a:r>
              <a:rPr lang="en-US" sz="700" b="1" dirty="0">
                <a:solidFill>
                  <a:srgbClr val="0F766E"/>
                </a:solidFill>
                <a:latin typeface="Calibri" pitchFamily="34" charset="0"/>
                <a:ea typeface="Calibri" pitchFamily="34" charset="-122"/>
                <a:cs typeface="Calibri" pitchFamily="34" charset="-120"/>
              </a:rPr>
              <a:t>Works: </a:t>
            </a:r>
            <a:pPr indent="0" marL="0">
              <a:buNone/>
            </a:pPr>
            <a:r>
              <a:rPr lang="en-US" sz="700" dirty="0">
                <a:solidFill>
                  <a:srgbClr val="1F2937"/>
                </a:solidFill>
                <a:latin typeface="Calibri" pitchFamily="34" charset="0"/>
                <a:ea typeface="Calibri" pitchFamily="34" charset="-122"/>
                <a:cs typeface="Calibri" pitchFamily="34" charset="-120"/>
              </a:rPr>
              <a:t>filters, then 6 factors: wish, skills, demand, reach, finish, pay</a:t>
            </a:r>
            <a:endParaRPr lang="en-US" sz="700" dirty="0"/>
          </a:p>
          <a:p>
            <a:pPr indent="0" marL="0">
              <a:buNone/>
            </a:pPr>
            <a:r>
              <a:rPr lang="en-US" sz="700" b="1" dirty="0">
                <a:solidFill>
                  <a:srgbClr val="6D4AB8"/>
                </a:solidFill>
                <a:latin typeface="Calibri" pitchFamily="34" charset="0"/>
                <a:ea typeface="Calibri" pitchFamily="34" charset="-122"/>
                <a:cs typeface="Calibri" pitchFamily="34" charset="-120"/>
              </a:rPr>
              <a:t>Trains: </a:t>
            </a:r>
            <a:pPr indent="0" marL="0">
              <a:buNone/>
            </a:pPr>
            <a:r>
              <a:rPr lang="en-US" sz="700" dirty="0">
                <a:solidFill>
                  <a:srgbClr val="1F2937"/>
                </a:solidFill>
                <a:latin typeface="Calibri" pitchFamily="34" charset="0"/>
                <a:ea typeface="Calibri" pitchFamily="34" charset="-122"/>
                <a:cs typeface="Calibri" pitchFamily="34" charset="-120"/>
              </a:rPr>
              <a:t>officer-set weights (AHP) first; then verified jobs at 6 months only</a:t>
            </a:r>
            <a:endParaRPr lang="en-US" sz="700" dirty="0"/>
          </a:p>
        </p:txBody>
      </p:sp>
      <p:sp>
        <p:nvSpPr>
          <p:cNvPr id="130" name="Shape 105"/>
          <p:cNvSpPr/>
          <p:nvPr/>
        </p:nvSpPr>
        <p:spPr>
          <a:xfrm>
            <a:off x="6071616" y="4315968"/>
            <a:ext cx="2807208" cy="493776"/>
          </a:xfrm>
          <a:prstGeom prst="roundRect">
            <a:avLst>
              <a:gd name="adj" fmla="val 14815"/>
            </a:avLst>
          </a:prstGeom>
          <a:solidFill>
            <a:srgbClr val="F5F6F8"/>
          </a:solidFill>
          <a:ln w="12700">
            <a:solidFill>
              <a:srgbClr val="F5F6F8"/>
            </a:solidFill>
            <a:prstDash val="solid"/>
          </a:ln>
        </p:spPr>
      </p:sp>
      <p:sp>
        <p:nvSpPr>
          <p:cNvPr id="131" name="Text 106"/>
          <p:cNvSpPr txBox="1"/>
          <p:nvPr/>
        </p:nvSpPr>
        <p:spPr>
          <a:xfrm>
            <a:off x="6163056" y="4352544"/>
            <a:ext cx="1600200" cy="164592"/>
          </a:xfrm>
          <a:prstGeom prst="rect">
            <a:avLst/>
          </a:prstGeom>
          <a:noFill/>
          <a:ln/>
        </p:spPr>
        <p:txBody>
          <a:bodyPr wrap="square" lIns="0" tIns="0" rIns="0" bIns="0" rtlCol="0" anchor="t"/>
          <a:lstStyle/>
          <a:p>
            <a:pPr indent="0" marL="0">
              <a:buNone/>
            </a:pPr>
            <a:r>
              <a:rPr lang="en-US" sz="900" b="1" dirty="0">
                <a:solidFill>
                  <a:srgbClr val="1B2A4A"/>
                </a:solidFill>
                <a:latin typeface="Calibri" pitchFamily="34" charset="0"/>
                <a:ea typeface="Calibri" pitchFamily="34" charset="-122"/>
                <a:cs typeface="Calibri" pitchFamily="34" charset="-120"/>
              </a:rPr>
              <a:t>Satyavaani (team's own)</a:t>
            </a:r>
            <a:endParaRPr lang="en-US" sz="900" dirty="0"/>
          </a:p>
        </p:txBody>
      </p:sp>
      <p:sp>
        <p:nvSpPr>
          <p:cNvPr id="132" name="Text 107"/>
          <p:cNvSpPr txBox="1"/>
          <p:nvPr/>
        </p:nvSpPr>
        <p:spPr>
          <a:xfrm>
            <a:off x="7626096" y="4352544"/>
            <a:ext cx="1188720" cy="164592"/>
          </a:xfrm>
          <a:prstGeom prst="rect">
            <a:avLst/>
          </a:prstGeom>
          <a:noFill/>
          <a:ln/>
        </p:spPr>
        <p:txBody>
          <a:bodyPr wrap="square" lIns="0" tIns="0" rIns="0" bIns="0" rtlCol="0" anchor="t"/>
          <a:lstStyle/>
          <a:p>
            <a:pPr algn="r" indent="0" marL="0">
              <a:buNone/>
            </a:pPr>
            <a:r>
              <a:rPr lang="en-US" sz="750" b="1" dirty="0">
                <a:solidFill>
                  <a:srgbClr val="E8772E"/>
                </a:solidFill>
                <a:latin typeface="Calibri" pitchFamily="34" charset="0"/>
                <a:ea typeface="Calibri" pitchFamily="34" charset="-122"/>
                <a:cs typeface="Calibri" pitchFamily="34" charset="-120"/>
              </a:rPr>
              <a:t>flags, never rejects</a:t>
            </a:r>
            <a:endParaRPr lang="en-US" sz="750" dirty="0"/>
          </a:p>
        </p:txBody>
      </p:sp>
      <p:sp>
        <p:nvSpPr>
          <p:cNvPr id="133" name="Text 108"/>
          <p:cNvSpPr txBox="1"/>
          <p:nvPr/>
        </p:nvSpPr>
        <p:spPr>
          <a:xfrm>
            <a:off x="6163056" y="4517136"/>
            <a:ext cx="2651760" cy="274320"/>
          </a:xfrm>
          <a:prstGeom prst="rect">
            <a:avLst/>
          </a:prstGeom>
          <a:noFill/>
          <a:ln/>
        </p:spPr>
        <p:txBody>
          <a:bodyPr wrap="square" lIns="0" tIns="0" rIns="0" bIns="0" rtlCol="0" anchor="t"/>
          <a:lstStyle/>
          <a:p>
            <a:pPr indent="0" marL="0">
              <a:buNone/>
            </a:pPr>
            <a:r>
              <a:rPr lang="en-US" sz="700" b="1" dirty="0">
                <a:solidFill>
                  <a:srgbClr val="0F766E"/>
                </a:solidFill>
                <a:latin typeface="Calibri" pitchFamily="34" charset="0"/>
                <a:ea typeface="Calibri" pitchFamily="34" charset="-122"/>
                <a:cs typeface="Calibri" pitchFamily="34" charset="-120"/>
              </a:rPr>
              <a:t>Works: </a:t>
            </a:r>
            <a:pPr indent="0" marL="0">
              <a:buNone/>
            </a:pPr>
            <a:r>
              <a:rPr lang="en-US" sz="700" dirty="0">
                <a:solidFill>
                  <a:srgbClr val="1F2937"/>
                </a:solidFill>
                <a:latin typeface="Calibri" pitchFamily="34" charset="0"/>
                <a:ea typeface="Calibri" pitchFamily="34" charset="-122"/>
                <a:cs typeface="Calibri" pitchFamily="34" charset="-120"/>
              </a:rPr>
              <a:t>4 random digits + fake-voice score; no voiceprint stored</a:t>
            </a:r>
            <a:endParaRPr lang="en-US" sz="700" dirty="0"/>
          </a:p>
          <a:p>
            <a:pPr indent="0" marL="0">
              <a:buNone/>
            </a:pPr>
            <a:r>
              <a:rPr lang="en-US" sz="700" b="1" dirty="0">
                <a:solidFill>
                  <a:srgbClr val="6D4AB8"/>
                </a:solidFill>
                <a:latin typeface="Calibri" pitchFamily="34" charset="0"/>
                <a:ea typeface="Calibri" pitchFamily="34" charset="-122"/>
                <a:cs typeface="Calibri" pitchFamily="34" charset="-120"/>
              </a:rPr>
              <a:t>Trains: </a:t>
            </a:r>
            <a:pPr indent="0" marL="0">
              <a:buNone/>
            </a:pPr>
            <a:r>
              <a:rPr lang="en-US" sz="700" dirty="0">
                <a:solidFill>
                  <a:srgbClr val="1F2937"/>
                </a:solidFill>
                <a:latin typeface="Calibri" pitchFamily="34" charset="0"/>
                <a:ea typeface="Calibri" pitchFamily="34" charset="-122"/>
                <a:cs typeface="Calibri" pitchFamily="34" charset="-120"/>
              </a:rPr>
              <a:t>Indian phone speech + 3 voice-cloning tools</a:t>
            </a:r>
            <a:endParaRPr lang="en-US" sz="700" dirty="0"/>
          </a:p>
        </p:txBody>
      </p:sp>
      <p:sp>
        <p:nvSpPr>
          <p:cNvPr id="134" name="Text 109"/>
          <p:cNvSpPr txBox="1"/>
          <p:nvPr/>
        </p:nvSpPr>
        <p:spPr>
          <a:xfrm>
            <a:off x="2377440" y="4846320"/>
            <a:ext cx="6035040" cy="201168"/>
          </a:xfrm>
          <a:prstGeom prst="rect">
            <a:avLst/>
          </a:prstGeom>
          <a:noFill/>
          <a:ln/>
        </p:spPr>
        <p:txBody>
          <a:bodyPr wrap="square" lIns="0" tIns="0" rIns="0" bIns="0" rtlCol="0" anchor="ctr"/>
          <a:lstStyle/>
          <a:p>
            <a:pPr algn="ctr" indent="0" marL="0">
              <a:buNone/>
            </a:pPr>
            <a:r>
              <a:rPr lang="en-US" sz="700" i="1" dirty="0">
                <a:solidFill>
                  <a:srgbClr val="6B7280"/>
                </a:solidFill>
                <a:latin typeface="Calibri" pitchFamily="34" charset="0"/>
                <a:ea typeface="Calibri" pitchFamily="34" charset="-122"/>
                <a:cs typeface="Calibri" pitchFamily="34" charset="-120"/>
              </a:rPr>
              <a:t>No Aadhaar number stored · caste never asked · consent logged (DPDP Rules 2025) · raw audio deleted after confirmation · data stays in India · * needs a govt MoU</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28600" y="146304"/>
            <a:ext cx="1188720" cy="457200"/>
          </a:xfrm>
          <a:prstGeom prst="ellipse">
            <a:avLst/>
          </a:prstGeom>
          <a:solidFill>
            <a:srgbClr val="FFFFFF"/>
          </a:solidFill>
          <a:ln w="15875">
            <a:solidFill>
              <a:srgbClr val="1B2A4A"/>
            </a:solidFill>
            <a:prstDash val="solid"/>
          </a:ln>
        </p:spPr>
      </p:sp>
      <p:sp>
        <p:nvSpPr>
          <p:cNvPr id="3" name="Text 1"/>
          <p:cNvSpPr txBox="1"/>
          <p:nvPr/>
        </p:nvSpPr>
        <p:spPr>
          <a:xfrm>
            <a:off x="228600" y="146304"/>
            <a:ext cx="1188720" cy="457200"/>
          </a:xfrm>
          <a:prstGeom prst="rect">
            <a:avLst/>
          </a:prstGeom>
          <a:noFill/>
          <a:ln/>
        </p:spPr>
        <p:txBody>
          <a:bodyPr wrap="square" lIns="0" tIns="0" rIns="0" bIns="0" rtlCol="0" anchor="ctr"/>
          <a:lstStyle/>
          <a:p>
            <a:pPr algn="ctr" indent="0" marL="0">
              <a:buNone/>
            </a:pPr>
            <a:r>
              <a:rPr lang="en-US" sz="1200" b="1" dirty="0">
                <a:solidFill>
                  <a:srgbClr val="1B2A4A"/>
                </a:solidFill>
                <a:latin typeface="Calibri" pitchFamily="34" charset="0"/>
                <a:ea typeface="Calibri" pitchFamily="34" charset="-122"/>
                <a:cs typeface="Calibri" pitchFamily="34" charset="-120"/>
              </a:rPr>
              <a:t>Cognify</a:t>
            </a:r>
            <a:endParaRPr lang="en-US" sz="1200" dirty="0"/>
          </a:p>
        </p:txBody>
      </p:sp>
      <p:sp>
        <p:nvSpPr>
          <p:cNvPr id="4" name="Text 2"/>
          <p:cNvSpPr txBox="1"/>
          <p:nvPr/>
        </p:nvSpPr>
        <p:spPr>
          <a:xfrm>
            <a:off x="1554480" y="91440"/>
            <a:ext cx="5577840" cy="420624"/>
          </a:xfrm>
          <a:prstGeom prst="rect">
            <a:avLst/>
          </a:prstGeom>
          <a:noFill/>
          <a:ln/>
        </p:spPr>
        <p:txBody>
          <a:bodyPr wrap="square" lIns="0" tIns="0" rIns="0" bIns="0" rtlCol="0" anchor="ctr"/>
          <a:lstStyle/>
          <a:p>
            <a:pPr algn="ctr" indent="0" marL="0">
              <a:buNone/>
            </a:pPr>
            <a:r>
              <a:rPr lang="en-US" sz="2200" b="1" dirty="0">
                <a:solidFill>
                  <a:srgbClr val="1B2A4A"/>
                </a:solidFill>
                <a:latin typeface="Cambria" pitchFamily="34" charset="0"/>
                <a:ea typeface="Cambria" pitchFamily="34" charset="-122"/>
                <a:cs typeface="Cambria" pitchFamily="34" charset="-120"/>
              </a:rPr>
              <a:t>Feasibility and Viability</a:t>
            </a:r>
            <a:endParaRPr lang="en-US" sz="2200" dirty="0"/>
          </a:p>
        </p:txBody>
      </p:sp>
      <p:sp>
        <p:nvSpPr>
          <p:cNvPr id="5" name="Text 3"/>
          <p:cNvSpPr txBox="1"/>
          <p:nvPr/>
        </p:nvSpPr>
        <p:spPr>
          <a:xfrm>
            <a:off x="1554480" y="502920"/>
            <a:ext cx="5577840" cy="274320"/>
          </a:xfrm>
          <a:prstGeom prst="rect">
            <a:avLst/>
          </a:prstGeom>
          <a:noFill/>
          <a:ln/>
        </p:spPr>
        <p:txBody>
          <a:bodyPr wrap="square" lIns="0" tIns="0" rIns="0" bIns="0" rtlCol="0" anchor="ctr"/>
          <a:lstStyle/>
          <a:p>
            <a:pPr algn="ctr" indent="0" marL="0">
              <a:buNone/>
            </a:pPr>
            <a:r>
              <a:rPr lang="en-US" sz="1050" i="1" dirty="0">
                <a:solidFill>
                  <a:srgbClr val="6B7280"/>
                </a:solidFill>
                <a:latin typeface="Calibri" pitchFamily="34" charset="0"/>
                <a:ea typeface="Calibri" pitchFamily="34" charset="-122"/>
                <a:cs typeface="Calibri" pitchFamily="34" charset="-120"/>
              </a:rPr>
              <a:t>Can it be built and run? Yes: every part already runs in India, and it costs 0.24% of GIA per person.</a:t>
            </a:r>
            <a:endParaRPr lang="en-US" sz="1050" dirty="0"/>
          </a:p>
        </p:txBody>
      </p:sp>
      <p:pic>
        <p:nvPicPr>
          <p:cNvPr id="6" name="Image 0" descr="/tmp/claude-0/-home-user-hunarvaani/1a479c87-c527-500c-a3b9-10fb2a163850/scratchpad/ppt/sc/ppt/media/image-1-1.png">    </p:cNvPr>
          <p:cNvPicPr>
            <a:picLocks noChangeAspect="1"/>
          </p:cNvPicPr>
          <p:nvPr/>
        </p:nvPicPr>
        <p:blipFill>
          <a:blip r:embed="rId1"/>
          <a:stretch>
            <a:fillRect/>
          </a:stretch>
        </p:blipFill>
        <p:spPr>
          <a:xfrm>
            <a:off x="7296912" y="91440"/>
            <a:ext cx="1572768" cy="740664"/>
          </a:xfrm>
          <a:prstGeom prst="rect">
            <a:avLst/>
          </a:prstGeom>
        </p:spPr>
      </p:pic>
      <p:sp>
        <p:nvSpPr>
          <p:cNvPr id="7" name="Shape 4"/>
          <p:cNvSpPr/>
          <p:nvPr/>
        </p:nvSpPr>
        <p:spPr>
          <a:xfrm>
            <a:off x="292608" y="4901184"/>
            <a:ext cx="73152" cy="73152"/>
          </a:xfrm>
          <a:prstGeom prst="ellipse">
            <a:avLst/>
          </a:prstGeom>
          <a:solidFill>
            <a:srgbClr val="D1D5DB"/>
          </a:solidFill>
          <a:ln w="12700">
            <a:solidFill>
              <a:srgbClr val="D1D5DB"/>
            </a:solidFill>
            <a:prstDash val="solid"/>
          </a:ln>
        </p:spPr>
      </p:sp>
      <p:sp>
        <p:nvSpPr>
          <p:cNvPr id="8" name="Shape 5"/>
          <p:cNvSpPr/>
          <p:nvPr/>
        </p:nvSpPr>
        <p:spPr>
          <a:xfrm>
            <a:off x="402336" y="4956048"/>
            <a:ext cx="91440" cy="0"/>
          </a:xfrm>
          <a:prstGeom prst="line">
            <a:avLst/>
          </a:prstGeom>
          <a:noFill/>
          <a:ln w="9525">
            <a:solidFill>
              <a:srgbClr val="D1D5DB"/>
            </a:solidFill>
            <a:prstDash val="dash"/>
          </a:ln>
        </p:spPr>
      </p:sp>
      <p:sp>
        <p:nvSpPr>
          <p:cNvPr id="9" name="Shape 6"/>
          <p:cNvSpPr/>
          <p:nvPr/>
        </p:nvSpPr>
        <p:spPr>
          <a:xfrm>
            <a:off x="493776" y="4901184"/>
            <a:ext cx="73152" cy="73152"/>
          </a:xfrm>
          <a:prstGeom prst="ellipse">
            <a:avLst/>
          </a:prstGeom>
          <a:solidFill>
            <a:srgbClr val="D1D5DB"/>
          </a:solidFill>
          <a:ln w="12700">
            <a:solidFill>
              <a:srgbClr val="D1D5DB"/>
            </a:solidFill>
            <a:prstDash val="solid"/>
          </a:ln>
        </p:spPr>
      </p:sp>
      <p:sp>
        <p:nvSpPr>
          <p:cNvPr id="10" name="Shape 7"/>
          <p:cNvSpPr/>
          <p:nvPr/>
        </p:nvSpPr>
        <p:spPr>
          <a:xfrm>
            <a:off x="603504" y="4956048"/>
            <a:ext cx="91440" cy="0"/>
          </a:xfrm>
          <a:prstGeom prst="line">
            <a:avLst/>
          </a:prstGeom>
          <a:noFill/>
          <a:ln w="9525">
            <a:solidFill>
              <a:srgbClr val="D1D5DB"/>
            </a:solidFill>
            <a:prstDash val="dash"/>
          </a:ln>
        </p:spPr>
      </p:sp>
      <p:sp>
        <p:nvSpPr>
          <p:cNvPr id="11" name="Shape 8"/>
          <p:cNvSpPr/>
          <p:nvPr/>
        </p:nvSpPr>
        <p:spPr>
          <a:xfrm>
            <a:off x="694944" y="4901184"/>
            <a:ext cx="109728" cy="109728"/>
          </a:xfrm>
          <a:prstGeom prst="ellipse">
            <a:avLst/>
          </a:prstGeom>
          <a:solidFill>
            <a:srgbClr val="E8772E"/>
          </a:solidFill>
          <a:ln w="12700">
            <a:solidFill>
              <a:srgbClr val="E8772E"/>
            </a:solidFill>
            <a:prstDash val="solid"/>
          </a:ln>
        </p:spPr>
      </p:sp>
      <p:sp>
        <p:nvSpPr>
          <p:cNvPr id="12" name="Shape 9"/>
          <p:cNvSpPr/>
          <p:nvPr/>
        </p:nvSpPr>
        <p:spPr>
          <a:xfrm>
            <a:off x="804672" y="4956048"/>
            <a:ext cx="91440" cy="0"/>
          </a:xfrm>
          <a:prstGeom prst="line">
            <a:avLst/>
          </a:prstGeom>
          <a:noFill/>
          <a:ln w="9525">
            <a:solidFill>
              <a:srgbClr val="D1D5DB"/>
            </a:solidFill>
            <a:prstDash val="dash"/>
          </a:ln>
        </p:spPr>
      </p:sp>
      <p:sp>
        <p:nvSpPr>
          <p:cNvPr id="13" name="Shape 10"/>
          <p:cNvSpPr/>
          <p:nvPr/>
        </p:nvSpPr>
        <p:spPr>
          <a:xfrm>
            <a:off x="896112" y="4901184"/>
            <a:ext cx="73152" cy="73152"/>
          </a:xfrm>
          <a:prstGeom prst="ellipse">
            <a:avLst/>
          </a:prstGeom>
          <a:solidFill>
            <a:srgbClr val="D1D5DB"/>
          </a:solidFill>
          <a:ln w="12700">
            <a:solidFill>
              <a:srgbClr val="D1D5DB"/>
            </a:solidFill>
            <a:prstDash val="solid"/>
          </a:ln>
        </p:spPr>
      </p:sp>
      <p:sp>
        <p:nvSpPr>
          <p:cNvPr id="14" name="Shape 11"/>
          <p:cNvSpPr/>
          <p:nvPr/>
        </p:nvSpPr>
        <p:spPr>
          <a:xfrm>
            <a:off x="1005840" y="4956048"/>
            <a:ext cx="91440" cy="0"/>
          </a:xfrm>
          <a:prstGeom prst="line">
            <a:avLst/>
          </a:prstGeom>
          <a:noFill/>
          <a:ln w="9525">
            <a:solidFill>
              <a:srgbClr val="D1D5DB"/>
            </a:solidFill>
            <a:prstDash val="dash"/>
          </a:ln>
        </p:spPr>
      </p:sp>
      <p:sp>
        <p:nvSpPr>
          <p:cNvPr id="15" name="Shape 12"/>
          <p:cNvSpPr/>
          <p:nvPr/>
        </p:nvSpPr>
        <p:spPr>
          <a:xfrm>
            <a:off x="1097280" y="4901184"/>
            <a:ext cx="73152" cy="73152"/>
          </a:xfrm>
          <a:prstGeom prst="ellipse">
            <a:avLst/>
          </a:prstGeom>
          <a:solidFill>
            <a:srgbClr val="D1D5DB"/>
          </a:solidFill>
          <a:ln w="12700">
            <a:solidFill>
              <a:srgbClr val="D1D5DB"/>
            </a:solidFill>
            <a:prstDash val="solid"/>
          </a:ln>
        </p:spPr>
      </p:sp>
      <p:sp>
        <p:nvSpPr>
          <p:cNvPr id="16" name="Text 13"/>
          <p:cNvSpPr txBox="1"/>
          <p:nvPr/>
        </p:nvSpPr>
        <p:spPr>
          <a:xfrm>
            <a:off x="1325880" y="4846320"/>
            <a:ext cx="1097280" cy="201168"/>
          </a:xfrm>
          <a:prstGeom prst="rect">
            <a:avLst/>
          </a:prstGeom>
          <a:noFill/>
          <a:ln/>
        </p:spPr>
        <p:txBody>
          <a:bodyPr wrap="square" lIns="0" tIns="0" rIns="0" bIns="0" rtlCol="0" anchor="ctr"/>
          <a:lstStyle/>
          <a:p>
            <a:pPr indent="0" marL="0">
              <a:buNone/>
            </a:pPr>
            <a:r>
              <a:rPr lang="en-US" sz="900" b="1" dirty="0">
                <a:solidFill>
                  <a:srgbClr val="6B7280"/>
                </a:solidFill>
                <a:latin typeface="Calibri" pitchFamily="34" charset="0"/>
                <a:ea typeface="Calibri" pitchFamily="34" charset="-122"/>
                <a:cs typeface="Calibri" pitchFamily="34" charset="-120"/>
              </a:rPr>
              <a:t>HunarMarg</a:t>
            </a:r>
            <a:endParaRPr lang="en-US" sz="900" dirty="0"/>
          </a:p>
        </p:txBody>
      </p:sp>
      <p:sp>
        <p:nvSpPr>
          <p:cNvPr id="17" name="Text 14"/>
          <p:cNvSpPr txBox="1"/>
          <p:nvPr/>
        </p:nvSpPr>
        <p:spPr>
          <a:xfrm>
            <a:off x="8503920" y="4828032"/>
            <a:ext cx="365760" cy="219456"/>
          </a:xfrm>
          <a:prstGeom prst="rect">
            <a:avLst/>
          </a:prstGeom>
          <a:noFill/>
          <a:ln/>
        </p:spPr>
        <p:txBody>
          <a:bodyPr wrap="square" lIns="0" tIns="0" rIns="0" bIns="0" rtlCol="0" anchor="ctr"/>
          <a:lstStyle/>
          <a:p>
            <a:pPr algn="r" indent="0" marL="0">
              <a:buNone/>
            </a:pPr>
            <a:r>
              <a:rPr lang="en-US" sz="1100" b="1" dirty="0">
                <a:solidFill>
                  <a:srgbClr val="1B2A4A"/>
                </a:solidFill>
                <a:latin typeface="Calibri" pitchFamily="34" charset="0"/>
                <a:ea typeface="Calibri" pitchFamily="34" charset="-122"/>
                <a:cs typeface="Calibri" pitchFamily="34" charset="-120"/>
              </a:rPr>
              <a:t>4</a:t>
            </a:r>
            <a:endParaRPr lang="en-US" sz="1100" dirty="0"/>
          </a:p>
        </p:txBody>
      </p:sp>
      <p:sp>
        <p:nvSpPr>
          <p:cNvPr id="18" name="Text 15"/>
          <p:cNvSpPr txBox="1"/>
          <p:nvPr/>
        </p:nvSpPr>
        <p:spPr>
          <a:xfrm>
            <a:off x="274320" y="896112"/>
            <a:ext cx="8595360" cy="219456"/>
          </a:xfrm>
          <a:prstGeom prst="rect">
            <a:avLst/>
          </a:prstGeom>
          <a:noFill/>
          <a:ln/>
        </p:spPr>
        <p:txBody>
          <a:bodyPr wrap="square" lIns="0" tIns="0" rIns="0" bIns="0" rtlCol="0" anchor="ctr"/>
          <a:lstStyle/>
          <a:p>
            <a:pPr indent="0" marL="0">
              <a:buNone/>
            </a:pPr>
            <a:r>
              <a:rPr lang="en-US" sz="1050" b="1" spc="150" kern="0" dirty="0">
                <a:solidFill>
                  <a:srgbClr val="0F766E"/>
                </a:solidFill>
                <a:latin typeface="Calibri" pitchFamily="34" charset="0"/>
                <a:ea typeface="Calibri" pitchFamily="34" charset="-122"/>
                <a:cs typeface="Calibri" pitchFamily="34" charset="-120"/>
              </a:rPr>
              <a:t>ALREADY WORKING IN INDIA</a:t>
            </a:r>
            <a:pPr indent="0" marL="0">
              <a:buNone/>
            </a:pPr>
            <a:r>
              <a:rPr lang="en-US" sz="1050" i="1" dirty="0">
                <a:solidFill>
                  <a:srgbClr val="6B7280"/>
                </a:solidFill>
                <a:latin typeface="Calibri" pitchFamily="34" charset="0"/>
                <a:ea typeface="Calibri" pitchFamily="34" charset="-122"/>
                <a:cs typeface="Calibri" pitchFamily="34" charset="-120"/>
              </a:rPr>
              <a:t>   nothing here is untested</a:t>
            </a:r>
            <a:endParaRPr lang="en-US" sz="1050" dirty="0"/>
          </a:p>
        </p:txBody>
      </p:sp>
      <p:sp>
        <p:nvSpPr>
          <p:cNvPr id="19" name="Shape 16"/>
          <p:cNvSpPr/>
          <p:nvPr/>
        </p:nvSpPr>
        <p:spPr>
          <a:xfrm>
            <a:off x="274320" y="1152144"/>
            <a:ext cx="1645920" cy="914400"/>
          </a:xfrm>
          <a:prstGeom prst="roundRect">
            <a:avLst>
              <a:gd name="adj" fmla="val 8000"/>
            </a:avLst>
          </a:prstGeom>
          <a:solidFill>
            <a:srgbClr val="EAF0FB"/>
          </a:solidFill>
          <a:ln w="12700">
            <a:solidFill>
              <a:srgbClr val="EAF0FB"/>
            </a:solidFill>
            <a:prstDash val="solid"/>
          </a:ln>
          <a:effectLst>
            <a:outerShdw sx="100000" sy="100000" kx="0" ky="0" algn="bl" rotWithShape="0" blurRad="50800" dist="19050" dir="5400000">
              <a:srgbClr val="000000">
                <a:alpha val="12000"/>
              </a:srgbClr>
            </a:outerShdw>
          </a:effectLst>
        </p:spPr>
      </p:sp>
      <p:sp>
        <p:nvSpPr>
          <p:cNvPr id="20" name="Text 17"/>
          <p:cNvSpPr txBox="1"/>
          <p:nvPr/>
        </p:nvSpPr>
        <p:spPr>
          <a:xfrm>
            <a:off x="365760" y="1188720"/>
            <a:ext cx="1463040" cy="292608"/>
          </a:xfrm>
          <a:prstGeom prst="rect">
            <a:avLst/>
          </a:prstGeom>
          <a:noFill/>
          <a:ln/>
        </p:spPr>
        <p:txBody>
          <a:bodyPr wrap="square" lIns="0" tIns="0" rIns="0" bIns="0" rtlCol="0" anchor="ctr"/>
          <a:lstStyle/>
          <a:p>
            <a:pPr indent="0" marL="0">
              <a:buNone/>
            </a:pPr>
            <a:r>
              <a:rPr lang="en-US" sz="1700" b="1" dirty="0">
                <a:solidFill>
                  <a:srgbClr val="2F5DA8"/>
                </a:solidFill>
                <a:latin typeface="Calibri" pitchFamily="34" charset="0"/>
                <a:ea typeface="Calibri" pitchFamily="34" charset="-122"/>
                <a:cs typeface="Calibri" pitchFamily="34" charset="-120"/>
              </a:rPr>
              <a:t>22 crore</a:t>
            </a:r>
            <a:endParaRPr lang="en-US" sz="1700" dirty="0"/>
          </a:p>
        </p:txBody>
      </p:sp>
      <p:sp>
        <p:nvSpPr>
          <p:cNvPr id="21" name="Text 18"/>
          <p:cNvSpPr txBox="1"/>
          <p:nvPr/>
        </p:nvSpPr>
        <p:spPr>
          <a:xfrm>
            <a:off x="365760" y="1481328"/>
            <a:ext cx="1463040" cy="146304"/>
          </a:xfrm>
          <a:prstGeom prst="rect">
            <a:avLst/>
          </a:prstGeom>
          <a:noFill/>
          <a:ln/>
        </p:spPr>
        <p:txBody>
          <a:bodyPr wrap="square" lIns="0" tIns="0" rIns="0" bIns="0" rtlCol="0" anchor="t"/>
          <a:lstStyle/>
          <a:p>
            <a:pPr indent="0" marL="0">
              <a:buNone/>
            </a:pPr>
            <a:r>
              <a:rPr lang="en-US" sz="850" b="1" dirty="0">
                <a:solidFill>
                  <a:srgbClr val="1B2A4A"/>
                </a:solidFill>
                <a:latin typeface="Calibri" pitchFamily="34" charset="0"/>
                <a:ea typeface="Calibri" pitchFamily="34" charset="-122"/>
                <a:cs typeface="Calibri" pitchFamily="34" charset="-120"/>
              </a:rPr>
              <a:t>feature-phone users</a:t>
            </a:r>
            <a:endParaRPr lang="en-US" sz="850" dirty="0"/>
          </a:p>
        </p:txBody>
      </p:sp>
      <p:sp>
        <p:nvSpPr>
          <p:cNvPr id="22" name="Text 19"/>
          <p:cNvSpPr txBox="1"/>
          <p:nvPr/>
        </p:nvSpPr>
        <p:spPr>
          <a:xfrm>
            <a:off x="365760" y="1636776"/>
            <a:ext cx="1481328" cy="274320"/>
          </a:xfrm>
          <a:prstGeom prst="rect">
            <a:avLst/>
          </a:prstGeom>
          <a:noFill/>
          <a:ln/>
        </p:spPr>
        <p:txBody>
          <a:bodyPr wrap="square" lIns="0" tIns="0" rIns="0" bIns="0" rtlCol="0" anchor="t"/>
          <a:lstStyle/>
          <a:p>
            <a:pPr indent="0" marL="0">
              <a:buNone/>
            </a:pPr>
            <a:r>
              <a:rPr lang="en-US" sz="750" dirty="0">
                <a:solidFill>
                  <a:srgbClr val="1F2937"/>
                </a:solidFill>
                <a:latin typeface="Calibri" pitchFamily="34" charset="0"/>
                <a:ea typeface="Calibri" pitchFamily="34" charset="-122"/>
                <a:cs typeface="Calibri" pitchFamily="34" charset="-120"/>
              </a:rPr>
              <a:t>The channel already exists.</a:t>
            </a:r>
            <a:endParaRPr lang="en-US" sz="750" dirty="0"/>
          </a:p>
        </p:txBody>
      </p:sp>
      <p:sp>
        <p:nvSpPr>
          <p:cNvPr id="23" name="Text 20"/>
          <p:cNvSpPr txBox="1"/>
          <p:nvPr/>
        </p:nvSpPr>
        <p:spPr>
          <a:xfrm>
            <a:off x="365760" y="1901952"/>
            <a:ext cx="1463040" cy="128016"/>
          </a:xfrm>
          <a:prstGeom prst="rect">
            <a:avLst/>
          </a:prstGeom>
          <a:noFill/>
          <a:ln/>
        </p:spPr>
        <p:txBody>
          <a:bodyPr wrap="square" lIns="0" tIns="0" rIns="0" bIns="0" rtlCol="0" anchor="t"/>
          <a:lstStyle/>
          <a:p>
            <a:pPr indent="0" marL="0">
              <a:buNone/>
            </a:pPr>
            <a:r>
              <a:rPr lang="en-US" sz="650" dirty="0">
                <a:solidFill>
                  <a:srgbClr val="6B7280"/>
                </a:solidFill>
                <a:latin typeface="Calibri" pitchFamily="34" charset="0"/>
                <a:ea typeface="Calibri" pitchFamily="34" charset="-122"/>
                <a:cs typeface="Calibri" pitchFamily="34" charset="-120"/>
              </a:rPr>
              <a:t>Business Standard 2026 [S11]</a:t>
            </a:r>
            <a:endParaRPr lang="en-US" sz="650" dirty="0"/>
          </a:p>
        </p:txBody>
      </p:sp>
      <p:sp>
        <p:nvSpPr>
          <p:cNvPr id="24" name="Shape 21"/>
          <p:cNvSpPr/>
          <p:nvPr/>
        </p:nvSpPr>
        <p:spPr>
          <a:xfrm>
            <a:off x="2011680" y="1152144"/>
            <a:ext cx="1645920" cy="914400"/>
          </a:xfrm>
          <a:prstGeom prst="roundRect">
            <a:avLst>
              <a:gd name="adj" fmla="val 8000"/>
            </a:avLst>
          </a:prstGeom>
          <a:solidFill>
            <a:srgbClr val="F1ECFB"/>
          </a:solidFill>
          <a:ln w="12700">
            <a:solidFill>
              <a:srgbClr val="F1ECFB"/>
            </a:solidFill>
            <a:prstDash val="solid"/>
          </a:ln>
          <a:effectLst>
            <a:outerShdw sx="100000" sy="100000" kx="0" ky="0" algn="bl" rotWithShape="0" blurRad="50800" dist="19050" dir="5400000">
              <a:srgbClr val="000000">
                <a:alpha val="12000"/>
              </a:srgbClr>
            </a:outerShdw>
          </a:effectLst>
        </p:spPr>
      </p:sp>
      <p:sp>
        <p:nvSpPr>
          <p:cNvPr id="25" name="Text 22"/>
          <p:cNvSpPr txBox="1"/>
          <p:nvPr/>
        </p:nvSpPr>
        <p:spPr>
          <a:xfrm>
            <a:off x="2103120" y="1188720"/>
            <a:ext cx="1463040" cy="292608"/>
          </a:xfrm>
          <a:prstGeom prst="rect">
            <a:avLst/>
          </a:prstGeom>
          <a:noFill/>
          <a:ln/>
        </p:spPr>
        <p:txBody>
          <a:bodyPr wrap="square" lIns="0" tIns="0" rIns="0" bIns="0" rtlCol="0" anchor="ctr"/>
          <a:lstStyle/>
          <a:p>
            <a:pPr indent="0" marL="0">
              <a:buNone/>
            </a:pPr>
            <a:r>
              <a:rPr lang="en-US" sz="1700" b="1" dirty="0">
                <a:solidFill>
                  <a:srgbClr val="6D4AB8"/>
                </a:solidFill>
                <a:latin typeface="Calibri" pitchFamily="34" charset="0"/>
                <a:ea typeface="Calibri" pitchFamily="34" charset="-122"/>
                <a:cs typeface="Calibri" pitchFamily="34" charset="-120"/>
              </a:rPr>
              <a:t>3 crore+</a:t>
            </a:r>
            <a:endParaRPr lang="en-US" sz="1700" dirty="0"/>
          </a:p>
        </p:txBody>
      </p:sp>
      <p:sp>
        <p:nvSpPr>
          <p:cNvPr id="26" name="Text 23"/>
          <p:cNvSpPr txBox="1"/>
          <p:nvPr/>
        </p:nvSpPr>
        <p:spPr>
          <a:xfrm>
            <a:off x="2103120" y="1481328"/>
            <a:ext cx="1463040" cy="146304"/>
          </a:xfrm>
          <a:prstGeom prst="rect">
            <a:avLst/>
          </a:prstGeom>
          <a:noFill/>
          <a:ln/>
        </p:spPr>
        <p:txBody>
          <a:bodyPr wrap="square" lIns="0" tIns="0" rIns="0" bIns="0" rtlCol="0" anchor="t"/>
          <a:lstStyle/>
          <a:p>
            <a:pPr indent="0" marL="0">
              <a:buNone/>
            </a:pPr>
            <a:r>
              <a:rPr lang="en-US" sz="850" b="1" dirty="0">
                <a:solidFill>
                  <a:srgbClr val="1B2A4A"/>
                </a:solidFill>
                <a:latin typeface="Calibri" pitchFamily="34" charset="0"/>
                <a:ea typeface="Calibri" pitchFamily="34" charset="-122"/>
                <a:cs typeface="Calibri" pitchFamily="34" charset="-120"/>
              </a:rPr>
              <a:t>reached by Kilkari</a:t>
            </a:r>
            <a:endParaRPr lang="en-US" sz="850" dirty="0"/>
          </a:p>
        </p:txBody>
      </p:sp>
      <p:sp>
        <p:nvSpPr>
          <p:cNvPr id="27" name="Text 24"/>
          <p:cNvSpPr txBox="1"/>
          <p:nvPr/>
        </p:nvSpPr>
        <p:spPr>
          <a:xfrm>
            <a:off x="2103120" y="1636776"/>
            <a:ext cx="1481328" cy="274320"/>
          </a:xfrm>
          <a:prstGeom prst="rect">
            <a:avLst/>
          </a:prstGeom>
          <a:noFill/>
          <a:ln/>
        </p:spPr>
        <p:txBody>
          <a:bodyPr wrap="square" lIns="0" tIns="0" rIns="0" bIns="0" rtlCol="0" anchor="t"/>
          <a:lstStyle/>
          <a:p>
            <a:pPr indent="0" marL="0">
              <a:buNone/>
            </a:pPr>
            <a:r>
              <a:rPr lang="en-US" sz="750" dirty="0">
                <a:solidFill>
                  <a:srgbClr val="1F2937"/>
                </a:solidFill>
                <a:latin typeface="Calibri" pitchFamily="34" charset="0"/>
                <a:ea typeface="Calibri" pitchFamily="34" charset="-122"/>
                <a:cs typeface="Calibri" pitchFamily="34" charset="-120"/>
              </a:rPr>
              <a:t>A govt voice-call line; answers rise 50% → 76% by the 3rd try.</a:t>
            </a:r>
            <a:endParaRPr lang="en-US" sz="750" dirty="0"/>
          </a:p>
        </p:txBody>
      </p:sp>
      <p:sp>
        <p:nvSpPr>
          <p:cNvPr id="28" name="Text 25"/>
          <p:cNvSpPr txBox="1"/>
          <p:nvPr/>
        </p:nvSpPr>
        <p:spPr>
          <a:xfrm>
            <a:off x="2103120" y="1901952"/>
            <a:ext cx="1463040" cy="128016"/>
          </a:xfrm>
          <a:prstGeom prst="rect">
            <a:avLst/>
          </a:prstGeom>
          <a:noFill/>
          <a:ln/>
        </p:spPr>
        <p:txBody>
          <a:bodyPr wrap="square" lIns="0" tIns="0" rIns="0" bIns="0" rtlCol="0" anchor="t"/>
          <a:lstStyle/>
          <a:p>
            <a:pPr indent="0" marL="0">
              <a:buNone/>
            </a:pPr>
            <a:r>
              <a:rPr lang="en-US" sz="650" dirty="0">
                <a:solidFill>
                  <a:srgbClr val="6B7280"/>
                </a:solidFill>
                <a:latin typeface="Calibri" pitchFamily="34" charset="0"/>
                <a:ea typeface="Calibri" pitchFamily="34" charset="-122"/>
                <a:cs typeface="Calibri" pitchFamily="34" charset="-120"/>
              </a:rPr>
              <a:t>BMJ Global Health [S12]</a:t>
            </a:r>
            <a:endParaRPr lang="en-US" sz="650" dirty="0"/>
          </a:p>
        </p:txBody>
      </p:sp>
      <p:sp>
        <p:nvSpPr>
          <p:cNvPr id="29" name="Shape 26"/>
          <p:cNvSpPr/>
          <p:nvPr/>
        </p:nvSpPr>
        <p:spPr>
          <a:xfrm>
            <a:off x="3749040" y="1152144"/>
            <a:ext cx="1645920" cy="914400"/>
          </a:xfrm>
          <a:prstGeom prst="roundRect">
            <a:avLst>
              <a:gd name="adj" fmla="val 8000"/>
            </a:avLst>
          </a:prstGeom>
          <a:solidFill>
            <a:srgbClr val="E6F4F1"/>
          </a:solidFill>
          <a:ln w="12700">
            <a:solidFill>
              <a:srgbClr val="E6F4F1"/>
            </a:solidFill>
            <a:prstDash val="solid"/>
          </a:ln>
          <a:effectLst>
            <a:outerShdw sx="100000" sy="100000" kx="0" ky="0" algn="bl" rotWithShape="0" blurRad="50800" dist="19050" dir="5400000">
              <a:srgbClr val="000000">
                <a:alpha val="12000"/>
              </a:srgbClr>
            </a:outerShdw>
          </a:effectLst>
        </p:spPr>
      </p:sp>
      <p:sp>
        <p:nvSpPr>
          <p:cNvPr id="30" name="Text 27"/>
          <p:cNvSpPr txBox="1"/>
          <p:nvPr/>
        </p:nvSpPr>
        <p:spPr>
          <a:xfrm>
            <a:off x="3840480" y="1188720"/>
            <a:ext cx="1463040" cy="292608"/>
          </a:xfrm>
          <a:prstGeom prst="rect">
            <a:avLst/>
          </a:prstGeom>
          <a:noFill/>
          <a:ln/>
        </p:spPr>
        <p:txBody>
          <a:bodyPr wrap="square" lIns="0" tIns="0" rIns="0" bIns="0" rtlCol="0" anchor="ctr"/>
          <a:lstStyle/>
          <a:p>
            <a:pPr indent="0" marL="0">
              <a:buNone/>
            </a:pPr>
            <a:r>
              <a:rPr lang="en-US" sz="1700" b="1" dirty="0">
                <a:solidFill>
                  <a:srgbClr val="0F766E"/>
                </a:solidFill>
                <a:latin typeface="Calibri" pitchFamily="34" charset="0"/>
                <a:ea typeface="Calibri" pitchFamily="34" charset="-122"/>
                <a:cs typeface="Calibri" pitchFamily="34" charset="-120"/>
              </a:rPr>
              <a:t>22 · 21</a:t>
            </a:r>
            <a:endParaRPr lang="en-US" sz="1700" dirty="0"/>
          </a:p>
        </p:txBody>
      </p:sp>
      <p:sp>
        <p:nvSpPr>
          <p:cNvPr id="31" name="Text 28"/>
          <p:cNvSpPr txBox="1"/>
          <p:nvPr/>
        </p:nvSpPr>
        <p:spPr>
          <a:xfrm>
            <a:off x="3840480" y="1481328"/>
            <a:ext cx="1463040" cy="146304"/>
          </a:xfrm>
          <a:prstGeom prst="rect">
            <a:avLst/>
          </a:prstGeom>
          <a:noFill/>
          <a:ln/>
        </p:spPr>
        <p:txBody>
          <a:bodyPr wrap="square" lIns="0" tIns="0" rIns="0" bIns="0" rtlCol="0" anchor="t"/>
          <a:lstStyle/>
          <a:p>
            <a:pPr indent="0" marL="0">
              <a:buNone/>
            </a:pPr>
            <a:r>
              <a:rPr lang="en-US" sz="850" b="1" dirty="0">
                <a:solidFill>
                  <a:srgbClr val="1B2A4A"/>
                </a:solidFill>
                <a:latin typeface="Calibri" pitchFamily="34" charset="0"/>
                <a:ea typeface="Calibri" pitchFamily="34" charset="-122"/>
                <a:cs typeface="Calibri" pitchFamily="34" charset="-120"/>
              </a:rPr>
              <a:t>languages, open models</a:t>
            </a:r>
            <a:endParaRPr lang="en-US" sz="850" dirty="0"/>
          </a:p>
        </p:txBody>
      </p:sp>
      <p:sp>
        <p:nvSpPr>
          <p:cNvPr id="32" name="Text 29"/>
          <p:cNvSpPr txBox="1"/>
          <p:nvPr/>
        </p:nvSpPr>
        <p:spPr>
          <a:xfrm>
            <a:off x="3840480" y="1636776"/>
            <a:ext cx="1481328" cy="274320"/>
          </a:xfrm>
          <a:prstGeom prst="rect">
            <a:avLst/>
          </a:prstGeom>
          <a:noFill/>
          <a:ln/>
        </p:spPr>
        <p:txBody>
          <a:bodyPr wrap="square" lIns="0" tIns="0" rIns="0" bIns="0" rtlCol="0" anchor="t"/>
          <a:lstStyle/>
          <a:p>
            <a:pPr indent="0" marL="0">
              <a:buNone/>
            </a:pPr>
            <a:r>
              <a:rPr lang="en-US" sz="750" dirty="0">
                <a:solidFill>
                  <a:srgbClr val="1F2937"/>
                </a:solidFill>
                <a:latin typeface="Calibri" pitchFamily="34" charset="0"/>
                <a:ea typeface="Calibri" pitchFamily="34" charset="-122"/>
                <a:cs typeface="Calibri" pitchFamily="34" charset="-120"/>
              </a:rPr>
              <a:t>Indian speech (IndicConformer) and voice (Parler-TTS) models exist.</a:t>
            </a:r>
            <a:endParaRPr lang="en-US" sz="750" dirty="0"/>
          </a:p>
        </p:txBody>
      </p:sp>
      <p:sp>
        <p:nvSpPr>
          <p:cNvPr id="33" name="Text 30"/>
          <p:cNvSpPr txBox="1"/>
          <p:nvPr/>
        </p:nvSpPr>
        <p:spPr>
          <a:xfrm>
            <a:off x="3840480" y="1901952"/>
            <a:ext cx="1463040" cy="128016"/>
          </a:xfrm>
          <a:prstGeom prst="rect">
            <a:avLst/>
          </a:prstGeom>
          <a:noFill/>
          <a:ln/>
        </p:spPr>
        <p:txBody>
          <a:bodyPr wrap="square" lIns="0" tIns="0" rIns="0" bIns="0" rtlCol="0" anchor="t"/>
          <a:lstStyle/>
          <a:p>
            <a:pPr indent="0" marL="0">
              <a:buNone/>
            </a:pPr>
            <a:r>
              <a:rPr lang="en-US" sz="650" dirty="0">
                <a:solidFill>
                  <a:srgbClr val="6B7280"/>
                </a:solidFill>
                <a:latin typeface="Calibri" pitchFamily="34" charset="0"/>
                <a:ea typeface="Calibri" pitchFamily="34" charset="-122"/>
                <a:cs typeface="Calibri" pitchFamily="34" charset="-120"/>
              </a:rPr>
              <a:t>AI4Bharat [S15]</a:t>
            </a:r>
            <a:endParaRPr lang="en-US" sz="650" dirty="0"/>
          </a:p>
        </p:txBody>
      </p:sp>
      <p:sp>
        <p:nvSpPr>
          <p:cNvPr id="34" name="Shape 31"/>
          <p:cNvSpPr/>
          <p:nvPr/>
        </p:nvSpPr>
        <p:spPr>
          <a:xfrm>
            <a:off x="5486400" y="1152144"/>
            <a:ext cx="1645920" cy="914400"/>
          </a:xfrm>
          <a:prstGeom prst="roundRect">
            <a:avLst>
              <a:gd name="adj" fmla="val 8000"/>
            </a:avLst>
          </a:prstGeom>
          <a:solidFill>
            <a:srgbClr val="FFF1E6"/>
          </a:solidFill>
          <a:ln w="12700">
            <a:solidFill>
              <a:srgbClr val="FFF1E6"/>
            </a:solidFill>
            <a:prstDash val="solid"/>
          </a:ln>
          <a:effectLst>
            <a:outerShdw sx="100000" sy="100000" kx="0" ky="0" algn="bl" rotWithShape="0" blurRad="50800" dist="19050" dir="5400000">
              <a:srgbClr val="000000">
                <a:alpha val="12000"/>
              </a:srgbClr>
            </a:outerShdw>
          </a:effectLst>
        </p:spPr>
      </p:sp>
      <p:sp>
        <p:nvSpPr>
          <p:cNvPr id="35" name="Text 32"/>
          <p:cNvSpPr txBox="1"/>
          <p:nvPr/>
        </p:nvSpPr>
        <p:spPr>
          <a:xfrm>
            <a:off x="5577840" y="1188720"/>
            <a:ext cx="1463040" cy="292608"/>
          </a:xfrm>
          <a:prstGeom prst="rect">
            <a:avLst/>
          </a:prstGeom>
          <a:noFill/>
          <a:ln/>
        </p:spPr>
        <p:txBody>
          <a:bodyPr wrap="square" lIns="0" tIns="0" rIns="0" bIns="0" rtlCol="0" anchor="ctr"/>
          <a:lstStyle/>
          <a:p>
            <a:pPr indent="0" marL="0">
              <a:buNone/>
            </a:pPr>
            <a:r>
              <a:rPr lang="en-US" sz="1700" b="1" dirty="0">
                <a:solidFill>
                  <a:srgbClr val="E8772E"/>
                </a:solidFill>
                <a:latin typeface="Calibri" pitchFamily="34" charset="0"/>
                <a:ea typeface="Calibri" pitchFamily="34" charset="-122"/>
                <a:cs typeface="Calibri" pitchFamily="34" charset="-120"/>
              </a:rPr>
              <a:t>19.3%</a:t>
            </a:r>
            <a:endParaRPr lang="en-US" sz="1700" dirty="0"/>
          </a:p>
        </p:txBody>
      </p:sp>
      <p:sp>
        <p:nvSpPr>
          <p:cNvPr id="36" name="Text 33"/>
          <p:cNvSpPr txBox="1"/>
          <p:nvPr/>
        </p:nvSpPr>
        <p:spPr>
          <a:xfrm>
            <a:off x="5577840" y="1481328"/>
            <a:ext cx="1463040" cy="146304"/>
          </a:xfrm>
          <a:prstGeom prst="rect">
            <a:avLst/>
          </a:prstGeom>
          <a:noFill/>
          <a:ln/>
        </p:spPr>
        <p:txBody>
          <a:bodyPr wrap="square" lIns="0" tIns="0" rIns="0" bIns="0" rtlCol="0" anchor="t"/>
          <a:lstStyle/>
          <a:p>
            <a:pPr indent="0" marL="0">
              <a:buNone/>
            </a:pPr>
            <a:r>
              <a:rPr lang="en-US" sz="850" b="1" dirty="0">
                <a:solidFill>
                  <a:srgbClr val="1B2A4A"/>
                </a:solidFill>
                <a:latin typeface="Calibri" pitchFamily="34" charset="0"/>
                <a:ea typeface="Calibri" pitchFamily="34" charset="-122"/>
                <a:cs typeface="Calibri" pitchFamily="34" charset="-120"/>
              </a:rPr>
              <a:t>speech error to beat</a:t>
            </a:r>
            <a:endParaRPr lang="en-US" sz="850" dirty="0"/>
          </a:p>
        </p:txBody>
      </p:sp>
      <p:sp>
        <p:nvSpPr>
          <p:cNvPr id="37" name="Text 34"/>
          <p:cNvSpPr txBox="1"/>
          <p:nvPr/>
        </p:nvSpPr>
        <p:spPr>
          <a:xfrm>
            <a:off x="5577840" y="1636776"/>
            <a:ext cx="1481328" cy="274320"/>
          </a:xfrm>
          <a:prstGeom prst="rect">
            <a:avLst/>
          </a:prstGeom>
          <a:noFill/>
          <a:ln/>
        </p:spPr>
        <p:txBody>
          <a:bodyPr wrap="square" lIns="0" tIns="0" rIns="0" bIns="0" rtlCol="0" anchor="t"/>
          <a:lstStyle/>
          <a:p>
            <a:pPr indent="0" marL="0">
              <a:buNone/>
            </a:pPr>
            <a:r>
              <a:rPr lang="en-US" sz="750" dirty="0">
                <a:solidFill>
                  <a:srgbClr val="1F2937"/>
                </a:solidFill>
                <a:latin typeface="Calibri" pitchFamily="34" charset="0"/>
                <a:ea typeface="Calibri" pitchFamily="34" charset="-122"/>
                <a:cs typeface="Calibri" pitchFamily="34" charset="-120"/>
              </a:rPr>
              <a:t>Best Indian speech AI on IndicVoices; we switch only after beating it.</a:t>
            </a:r>
            <a:endParaRPr lang="en-US" sz="750" dirty="0"/>
          </a:p>
        </p:txBody>
      </p:sp>
      <p:sp>
        <p:nvSpPr>
          <p:cNvPr id="38" name="Text 35"/>
          <p:cNvSpPr txBox="1"/>
          <p:nvPr/>
        </p:nvSpPr>
        <p:spPr>
          <a:xfrm>
            <a:off x="5577840" y="1901952"/>
            <a:ext cx="1463040" cy="128016"/>
          </a:xfrm>
          <a:prstGeom prst="rect">
            <a:avLst/>
          </a:prstGeom>
          <a:noFill/>
          <a:ln/>
        </p:spPr>
        <p:txBody>
          <a:bodyPr wrap="square" lIns="0" tIns="0" rIns="0" bIns="0" rtlCol="0" anchor="t"/>
          <a:lstStyle/>
          <a:p>
            <a:pPr indent="0" marL="0">
              <a:buNone/>
            </a:pPr>
            <a:r>
              <a:rPr lang="en-US" sz="650" dirty="0">
                <a:solidFill>
                  <a:srgbClr val="6B7280"/>
                </a:solidFill>
                <a:latin typeface="Calibri" pitchFamily="34" charset="0"/>
                <a:ea typeface="Calibri" pitchFamily="34" charset="-122"/>
                <a:cs typeface="Calibri" pitchFamily="34" charset="-120"/>
              </a:rPr>
              <a:t>Sarvam 2026 [S14]</a:t>
            </a:r>
            <a:endParaRPr lang="en-US" sz="650" dirty="0"/>
          </a:p>
        </p:txBody>
      </p:sp>
      <p:sp>
        <p:nvSpPr>
          <p:cNvPr id="39" name="Shape 36"/>
          <p:cNvSpPr/>
          <p:nvPr/>
        </p:nvSpPr>
        <p:spPr>
          <a:xfrm>
            <a:off x="7223760" y="1152144"/>
            <a:ext cx="1645920" cy="914400"/>
          </a:xfrm>
          <a:prstGeom prst="roundRect">
            <a:avLst>
              <a:gd name="adj" fmla="val 8000"/>
            </a:avLst>
          </a:prstGeom>
          <a:solidFill>
            <a:srgbClr val="EAF6EE"/>
          </a:solidFill>
          <a:ln w="12700">
            <a:solidFill>
              <a:srgbClr val="EAF6EE"/>
            </a:solidFill>
            <a:prstDash val="solid"/>
          </a:ln>
          <a:effectLst>
            <a:outerShdw sx="100000" sy="100000" kx="0" ky="0" algn="bl" rotWithShape="0" blurRad="50800" dist="19050" dir="5400000">
              <a:srgbClr val="000000">
                <a:alpha val="12000"/>
              </a:srgbClr>
            </a:outerShdw>
          </a:effectLst>
        </p:spPr>
      </p:sp>
      <p:sp>
        <p:nvSpPr>
          <p:cNvPr id="40" name="Text 37"/>
          <p:cNvSpPr txBox="1"/>
          <p:nvPr/>
        </p:nvSpPr>
        <p:spPr>
          <a:xfrm>
            <a:off x="7315200" y="1188720"/>
            <a:ext cx="1463040" cy="292608"/>
          </a:xfrm>
          <a:prstGeom prst="rect">
            <a:avLst/>
          </a:prstGeom>
          <a:noFill/>
          <a:ln/>
        </p:spPr>
        <p:txBody>
          <a:bodyPr wrap="square" lIns="0" tIns="0" rIns="0" bIns="0" rtlCol="0" anchor="ctr"/>
          <a:lstStyle/>
          <a:p>
            <a:pPr indent="0" marL="0">
              <a:buNone/>
            </a:pPr>
            <a:r>
              <a:rPr lang="en-US" sz="1700" b="1" dirty="0">
                <a:solidFill>
                  <a:srgbClr val="15803D"/>
                </a:solidFill>
                <a:latin typeface="Calibri" pitchFamily="34" charset="0"/>
                <a:ea typeface="Calibri" pitchFamily="34" charset="-122"/>
                <a:cs typeface="Calibri" pitchFamily="34" charset="-120"/>
              </a:rPr>
              <a:t>Prototype</a:t>
            </a:r>
            <a:endParaRPr lang="en-US" sz="1700" dirty="0"/>
          </a:p>
        </p:txBody>
      </p:sp>
      <p:sp>
        <p:nvSpPr>
          <p:cNvPr id="41" name="Text 38"/>
          <p:cNvSpPr txBox="1"/>
          <p:nvPr/>
        </p:nvSpPr>
        <p:spPr>
          <a:xfrm>
            <a:off x="7315200" y="1481328"/>
            <a:ext cx="1463040" cy="146304"/>
          </a:xfrm>
          <a:prstGeom prst="rect">
            <a:avLst/>
          </a:prstGeom>
          <a:noFill/>
          <a:ln/>
        </p:spPr>
        <p:txBody>
          <a:bodyPr wrap="square" lIns="0" tIns="0" rIns="0" bIns="0" rtlCol="0" anchor="t"/>
          <a:lstStyle/>
          <a:p>
            <a:pPr indent="0" marL="0">
              <a:buNone/>
            </a:pPr>
            <a:r>
              <a:rPr lang="en-US" sz="850" b="1" dirty="0">
                <a:solidFill>
                  <a:srgbClr val="1B2A4A"/>
                </a:solidFill>
                <a:latin typeface="Calibri" pitchFamily="34" charset="0"/>
                <a:ea typeface="Calibri" pitchFamily="34" charset="-122"/>
                <a:cs typeface="Calibri" pitchFamily="34" charset="-120"/>
              </a:rPr>
              <a:t>works on real calls</a:t>
            </a:r>
            <a:endParaRPr lang="en-US" sz="850" dirty="0"/>
          </a:p>
        </p:txBody>
      </p:sp>
      <p:sp>
        <p:nvSpPr>
          <p:cNvPr id="42" name="Text 39"/>
          <p:cNvSpPr txBox="1"/>
          <p:nvPr/>
        </p:nvSpPr>
        <p:spPr>
          <a:xfrm>
            <a:off x="7315200" y="1636776"/>
            <a:ext cx="1481328" cy="274320"/>
          </a:xfrm>
          <a:prstGeom prst="rect">
            <a:avLst/>
          </a:prstGeom>
          <a:noFill/>
          <a:ln/>
        </p:spPr>
        <p:txBody>
          <a:bodyPr wrap="square" lIns="0" tIns="0" rIns="0" bIns="0" rtlCol="0" anchor="t"/>
          <a:lstStyle/>
          <a:p>
            <a:pPr indent="0" marL="0">
              <a:buNone/>
            </a:pPr>
            <a:r>
              <a:rPr lang="en-US" sz="750" dirty="0">
                <a:solidFill>
                  <a:srgbClr val="1F2937"/>
                </a:solidFill>
                <a:latin typeface="Calibri" pitchFamily="34" charset="0"/>
                <a:ea typeface="Calibri" pitchFamily="34" charset="-122"/>
                <a:cs typeface="Calibri" pitchFamily="34" charset="-120"/>
              </a:rPr>
              <a:t>3 languages, profile + read-back, top 3 from 115 courses, 124 centres.</a:t>
            </a:r>
            <a:endParaRPr lang="en-US" sz="750" dirty="0"/>
          </a:p>
        </p:txBody>
      </p:sp>
      <p:sp>
        <p:nvSpPr>
          <p:cNvPr id="43" name="Text 40"/>
          <p:cNvSpPr txBox="1"/>
          <p:nvPr/>
        </p:nvSpPr>
        <p:spPr>
          <a:xfrm>
            <a:off x="7315200" y="1901952"/>
            <a:ext cx="1463040" cy="128016"/>
          </a:xfrm>
          <a:prstGeom prst="rect">
            <a:avLst/>
          </a:prstGeom>
          <a:noFill/>
          <a:ln/>
        </p:spPr>
        <p:txBody>
          <a:bodyPr wrap="square" lIns="0" tIns="0" rIns="0" bIns="0" rtlCol="0" anchor="t"/>
          <a:lstStyle/>
          <a:p>
            <a:pPr indent="0" marL="0">
              <a:buNone/>
            </a:pPr>
            <a:r>
              <a:rPr lang="en-US" sz="650" dirty="0">
                <a:solidFill>
                  <a:srgbClr val="6B7280"/>
                </a:solidFill>
                <a:latin typeface="Calibri" pitchFamily="34" charset="0"/>
                <a:ea typeface="Calibri" pitchFamily="34" charset="-122"/>
                <a:cs typeface="Calibri" pitchFamily="34" charset="-120"/>
              </a:rPr>
              <a:t>GitHub [S21]</a:t>
            </a:r>
            <a:endParaRPr lang="en-US" sz="650" dirty="0"/>
          </a:p>
        </p:txBody>
      </p:sp>
      <p:sp>
        <p:nvSpPr>
          <p:cNvPr id="44" name="Text 41"/>
          <p:cNvSpPr txBox="1"/>
          <p:nvPr/>
        </p:nvSpPr>
        <p:spPr>
          <a:xfrm>
            <a:off x="274320" y="2157984"/>
            <a:ext cx="8595360" cy="219456"/>
          </a:xfrm>
          <a:prstGeom prst="rect">
            <a:avLst/>
          </a:prstGeom>
          <a:noFill/>
          <a:ln/>
        </p:spPr>
        <p:txBody>
          <a:bodyPr wrap="square" lIns="0" tIns="0" rIns="0" bIns="0" rtlCol="0" anchor="ctr"/>
          <a:lstStyle/>
          <a:p>
            <a:pPr indent="0" marL="0">
              <a:buNone/>
            </a:pPr>
            <a:r>
              <a:rPr lang="en-US" sz="1050" b="1" spc="150" kern="0" dirty="0">
                <a:solidFill>
                  <a:srgbClr val="0F766E"/>
                </a:solidFill>
                <a:latin typeface="Calibri" pitchFamily="34" charset="0"/>
                <a:ea typeface="Calibri" pitchFamily="34" charset="-122"/>
                <a:cs typeface="Calibri" pitchFamily="34" charset="-120"/>
              </a:rPr>
              <a:t>WHAT IT COSTS</a:t>
            </a:r>
            <a:pPr indent="0" marL="0">
              <a:buNone/>
            </a:pPr>
            <a:r>
              <a:rPr lang="en-US" sz="1050" i="1" dirty="0">
                <a:solidFill>
                  <a:srgbClr val="6B7280"/>
                </a:solidFill>
                <a:latin typeface="Calibri" pitchFamily="34" charset="0"/>
                <a:ea typeface="Calibri" pitchFamily="34" charset="-122"/>
                <a:cs typeface="Calibri" pitchFamily="34" charset="-120"/>
              </a:rPr>
              <a:t>   four final numbers; every rate is in the calculations</a:t>
            </a:r>
            <a:endParaRPr lang="en-US" sz="1050" dirty="0"/>
          </a:p>
        </p:txBody>
      </p:sp>
      <p:sp>
        <p:nvSpPr>
          <p:cNvPr id="45" name="Shape 42"/>
          <p:cNvSpPr/>
          <p:nvPr/>
        </p:nvSpPr>
        <p:spPr>
          <a:xfrm>
            <a:off x="274320" y="2414016"/>
            <a:ext cx="2011680" cy="530352"/>
          </a:xfrm>
          <a:prstGeom prst="roundRect">
            <a:avLst>
              <a:gd name="adj" fmla="val 13793"/>
            </a:avLst>
          </a:prstGeom>
          <a:solidFill>
            <a:srgbClr val="FFF1E6"/>
          </a:solidFill>
          <a:ln w="12700">
            <a:solidFill>
              <a:srgbClr val="FFF1E6"/>
            </a:solidFill>
            <a:prstDash val="solid"/>
          </a:ln>
          <a:effectLst>
            <a:outerShdw sx="100000" sy="100000" kx="0" ky="0" algn="bl" rotWithShape="0" blurRad="50800" dist="19050" dir="5400000">
              <a:srgbClr val="000000">
                <a:alpha val="12000"/>
              </a:srgbClr>
            </a:outerShdw>
          </a:effectLst>
        </p:spPr>
      </p:sp>
      <p:sp>
        <p:nvSpPr>
          <p:cNvPr id="46" name="Text 43"/>
          <p:cNvSpPr txBox="1"/>
          <p:nvPr/>
        </p:nvSpPr>
        <p:spPr>
          <a:xfrm>
            <a:off x="365760" y="2459736"/>
            <a:ext cx="868680" cy="438912"/>
          </a:xfrm>
          <a:prstGeom prst="rect">
            <a:avLst/>
          </a:prstGeom>
          <a:noFill/>
          <a:ln/>
        </p:spPr>
        <p:txBody>
          <a:bodyPr wrap="square" lIns="0" tIns="0" rIns="0" bIns="0" rtlCol="0" anchor="ctr"/>
          <a:lstStyle/>
          <a:p>
            <a:pPr indent="0" marL="0">
              <a:buNone/>
            </a:pPr>
            <a:r>
              <a:rPr lang="en-US" sz="1800" b="1" dirty="0">
                <a:solidFill>
                  <a:srgbClr val="E8772E"/>
                </a:solidFill>
                <a:latin typeface="Calibri" pitchFamily="34" charset="0"/>
                <a:ea typeface="Calibri" pitchFamily="34" charset="-122"/>
                <a:cs typeface="Calibri" pitchFamily="34" charset="-120"/>
              </a:rPr>
              <a:t>₹163</a:t>
            </a:r>
            <a:endParaRPr lang="en-US" sz="1800" dirty="0"/>
          </a:p>
        </p:txBody>
      </p:sp>
      <p:sp>
        <p:nvSpPr>
          <p:cNvPr id="47" name="Text 44"/>
          <p:cNvSpPr txBox="1"/>
          <p:nvPr/>
        </p:nvSpPr>
        <p:spPr>
          <a:xfrm>
            <a:off x="1234440" y="2459736"/>
            <a:ext cx="1024128" cy="438912"/>
          </a:xfrm>
          <a:prstGeom prst="rect">
            <a:avLst/>
          </a:prstGeom>
          <a:noFill/>
          <a:ln/>
        </p:spPr>
        <p:txBody>
          <a:bodyPr wrap="square" lIns="0" tIns="0" rIns="0" bIns="0" rtlCol="0" anchor="ctr"/>
          <a:lstStyle/>
          <a:p>
            <a:pPr indent="0" marL="0">
              <a:buNone/>
            </a:pPr>
            <a:r>
              <a:rPr lang="en-US" sz="850" b="1" dirty="0">
                <a:solidFill>
                  <a:srgbClr val="1B2A4A"/>
                </a:solidFill>
                <a:latin typeface="Calibri" pitchFamily="34" charset="0"/>
                <a:ea typeface="Calibri" pitchFamily="34" charset="-122"/>
                <a:cs typeface="Calibri" pitchFamily="34" charset="-120"/>
              </a:rPr>
              <a:t>per person, all-in</a:t>
            </a:r>
            <a:endParaRPr lang="en-US" sz="850" dirty="0"/>
          </a:p>
          <a:p>
            <a:pPr indent="0" marL="0">
              <a:buNone/>
            </a:pPr>
            <a:r>
              <a:rPr lang="en-US" sz="750" dirty="0">
                <a:solidFill>
                  <a:srgbClr val="6B7280"/>
                </a:solidFill>
                <a:latin typeface="Calibri" pitchFamily="34" charset="0"/>
                <a:ea typeface="Calibri" pitchFamily="34" charset="-122"/>
                <a:cs typeface="Calibri" pitchFamily="34" charset="-120"/>
              </a:rPr>
              <a:t>at 50,000 people a year</a:t>
            </a:r>
            <a:endParaRPr lang="en-US" sz="850" dirty="0"/>
          </a:p>
        </p:txBody>
      </p:sp>
      <p:sp>
        <p:nvSpPr>
          <p:cNvPr id="48" name="Shape 45"/>
          <p:cNvSpPr/>
          <p:nvPr/>
        </p:nvSpPr>
        <p:spPr>
          <a:xfrm>
            <a:off x="2377440" y="2414016"/>
            <a:ext cx="2011680" cy="530352"/>
          </a:xfrm>
          <a:prstGeom prst="roundRect">
            <a:avLst>
              <a:gd name="adj" fmla="val 13793"/>
            </a:avLst>
          </a:prstGeom>
          <a:solidFill>
            <a:srgbClr val="E6F4F1"/>
          </a:solidFill>
          <a:ln w="12700">
            <a:solidFill>
              <a:srgbClr val="E6F4F1"/>
            </a:solidFill>
            <a:prstDash val="solid"/>
          </a:ln>
          <a:effectLst>
            <a:outerShdw sx="100000" sy="100000" kx="0" ky="0" algn="bl" rotWithShape="0" blurRad="50800" dist="19050" dir="5400000">
              <a:srgbClr val="000000">
                <a:alpha val="12000"/>
              </a:srgbClr>
            </a:outerShdw>
          </a:effectLst>
        </p:spPr>
      </p:sp>
      <p:sp>
        <p:nvSpPr>
          <p:cNvPr id="49" name="Text 46"/>
          <p:cNvSpPr txBox="1"/>
          <p:nvPr/>
        </p:nvSpPr>
        <p:spPr>
          <a:xfrm>
            <a:off x="2468880" y="2459736"/>
            <a:ext cx="868680" cy="43891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0.24%</a:t>
            </a:r>
            <a:endParaRPr lang="en-US" sz="1800" dirty="0"/>
          </a:p>
        </p:txBody>
      </p:sp>
      <p:sp>
        <p:nvSpPr>
          <p:cNvPr id="50" name="Text 47"/>
          <p:cNvSpPr txBox="1"/>
          <p:nvPr/>
        </p:nvSpPr>
        <p:spPr>
          <a:xfrm>
            <a:off x="3337560" y="2459736"/>
            <a:ext cx="1024128" cy="438912"/>
          </a:xfrm>
          <a:prstGeom prst="rect">
            <a:avLst/>
          </a:prstGeom>
          <a:noFill/>
          <a:ln/>
        </p:spPr>
        <p:txBody>
          <a:bodyPr wrap="square" lIns="0" tIns="0" rIns="0" bIns="0" rtlCol="0" anchor="ctr"/>
          <a:lstStyle/>
          <a:p>
            <a:pPr indent="0" marL="0">
              <a:buNone/>
            </a:pPr>
            <a:r>
              <a:rPr lang="en-US" sz="850" b="1" dirty="0">
                <a:solidFill>
                  <a:srgbClr val="1B2A4A"/>
                </a:solidFill>
                <a:latin typeface="Calibri" pitchFamily="34" charset="0"/>
                <a:ea typeface="Calibri" pitchFamily="34" charset="-122"/>
                <a:cs typeface="Calibri" pitchFamily="34" charset="-120"/>
              </a:rPr>
              <a:t>of GIA support per person</a:t>
            </a:r>
            <a:endParaRPr lang="en-US" sz="850" dirty="0"/>
          </a:p>
          <a:p>
            <a:pPr indent="0" marL="0">
              <a:buNone/>
            </a:pPr>
            <a:r>
              <a:rPr lang="en-US" sz="750" dirty="0">
                <a:solidFill>
                  <a:srgbClr val="6B7280"/>
                </a:solidFill>
                <a:latin typeface="Calibri" pitchFamily="34" charset="0"/>
                <a:ea typeface="Calibri" pitchFamily="34" charset="-122"/>
                <a:cs typeface="Calibri" pitchFamily="34" charset="-120"/>
              </a:rPr>
              <a:t>₹163 of ₹69,200 [S3]</a:t>
            </a:r>
            <a:endParaRPr lang="en-US" sz="850" dirty="0"/>
          </a:p>
        </p:txBody>
      </p:sp>
      <p:sp>
        <p:nvSpPr>
          <p:cNvPr id="51" name="Shape 48"/>
          <p:cNvSpPr/>
          <p:nvPr/>
        </p:nvSpPr>
        <p:spPr>
          <a:xfrm>
            <a:off x="274320" y="3017520"/>
            <a:ext cx="2011680" cy="530352"/>
          </a:xfrm>
          <a:prstGeom prst="roundRect">
            <a:avLst>
              <a:gd name="adj" fmla="val 13793"/>
            </a:avLst>
          </a:prstGeom>
          <a:solidFill>
            <a:srgbClr val="EAF0FB"/>
          </a:solidFill>
          <a:ln w="12700">
            <a:solidFill>
              <a:srgbClr val="EAF0FB"/>
            </a:solidFill>
            <a:prstDash val="solid"/>
          </a:ln>
          <a:effectLst>
            <a:outerShdw sx="100000" sy="100000" kx="0" ky="0" algn="bl" rotWithShape="0" blurRad="50800" dist="19050" dir="5400000">
              <a:srgbClr val="000000">
                <a:alpha val="12000"/>
              </a:srgbClr>
            </a:outerShdw>
          </a:effectLst>
        </p:spPr>
      </p:sp>
      <p:sp>
        <p:nvSpPr>
          <p:cNvPr id="52" name="Text 49"/>
          <p:cNvSpPr txBox="1"/>
          <p:nvPr/>
        </p:nvSpPr>
        <p:spPr>
          <a:xfrm>
            <a:off x="365760" y="3063240"/>
            <a:ext cx="868680" cy="438912"/>
          </a:xfrm>
          <a:prstGeom prst="rect">
            <a:avLst/>
          </a:prstGeom>
          <a:noFill/>
          <a:ln/>
        </p:spPr>
        <p:txBody>
          <a:bodyPr wrap="square" lIns="0" tIns="0" rIns="0" bIns="0" rtlCol="0" anchor="ctr"/>
          <a:lstStyle/>
          <a:p>
            <a:pPr indent="0" marL="0">
              <a:buNone/>
            </a:pPr>
            <a:r>
              <a:rPr lang="en-US" sz="1800" b="1" dirty="0">
                <a:solidFill>
                  <a:srgbClr val="2F5DA8"/>
                </a:solidFill>
                <a:latin typeface="Calibri" pitchFamily="34" charset="0"/>
                <a:ea typeface="Calibri" pitchFamily="34" charset="-122"/>
                <a:cs typeface="Calibri" pitchFamily="34" charset="-120"/>
              </a:rPr>
              <a:t>₹8.8 L</a:t>
            </a:r>
            <a:endParaRPr lang="en-US" sz="1800" dirty="0"/>
          </a:p>
        </p:txBody>
      </p:sp>
      <p:sp>
        <p:nvSpPr>
          <p:cNvPr id="53" name="Text 50"/>
          <p:cNvSpPr txBox="1"/>
          <p:nvPr/>
        </p:nvSpPr>
        <p:spPr>
          <a:xfrm>
            <a:off x="1234440" y="3063240"/>
            <a:ext cx="1024128" cy="438912"/>
          </a:xfrm>
          <a:prstGeom prst="rect">
            <a:avLst/>
          </a:prstGeom>
          <a:noFill/>
          <a:ln/>
        </p:spPr>
        <p:txBody>
          <a:bodyPr wrap="square" lIns="0" tIns="0" rIns="0" bIns="0" rtlCol="0" anchor="ctr"/>
          <a:lstStyle/>
          <a:p>
            <a:pPr indent="0" marL="0">
              <a:buNone/>
            </a:pPr>
            <a:r>
              <a:rPr lang="en-US" sz="850" b="1" dirty="0">
                <a:solidFill>
                  <a:srgbClr val="1B2A4A"/>
                </a:solidFill>
                <a:latin typeface="Calibri" pitchFamily="34" charset="0"/>
                <a:ea typeface="Calibri" pitchFamily="34" charset="-122"/>
                <a:cs typeface="Calibri" pitchFamily="34" charset="-120"/>
              </a:rPr>
              <a:t>a year of GPUs in India</a:t>
            </a:r>
            <a:endParaRPr lang="en-US" sz="850" dirty="0"/>
          </a:p>
          <a:p>
            <a:pPr indent="0" marL="0">
              <a:buNone/>
            </a:pPr>
            <a:r>
              <a:rPr lang="en-US" sz="750" dirty="0">
                <a:solidFill>
                  <a:srgbClr val="6B7280"/>
                </a:solidFill>
                <a:latin typeface="Calibri" pitchFamily="34" charset="0"/>
                <a:ea typeface="Calibri" pitchFamily="34" charset="-122"/>
                <a:cs typeface="Calibri" pitchFamily="34" charset="-120"/>
              </a:rPr>
              <a:t>2× L4 + 1× L40S [S17]</a:t>
            </a:r>
            <a:endParaRPr lang="en-US" sz="850" dirty="0"/>
          </a:p>
        </p:txBody>
      </p:sp>
      <p:sp>
        <p:nvSpPr>
          <p:cNvPr id="54" name="Shape 51"/>
          <p:cNvSpPr/>
          <p:nvPr/>
        </p:nvSpPr>
        <p:spPr>
          <a:xfrm>
            <a:off x="2377440" y="3017520"/>
            <a:ext cx="2011680" cy="530352"/>
          </a:xfrm>
          <a:prstGeom prst="roundRect">
            <a:avLst>
              <a:gd name="adj" fmla="val 13793"/>
            </a:avLst>
          </a:prstGeom>
          <a:solidFill>
            <a:srgbClr val="F1ECFB"/>
          </a:solidFill>
          <a:ln w="12700">
            <a:solidFill>
              <a:srgbClr val="F1ECFB"/>
            </a:solidFill>
            <a:prstDash val="solid"/>
          </a:ln>
          <a:effectLst>
            <a:outerShdw sx="100000" sy="100000" kx="0" ky="0" algn="bl" rotWithShape="0" blurRad="50800" dist="19050" dir="5400000">
              <a:srgbClr val="000000">
                <a:alpha val="12000"/>
              </a:srgbClr>
            </a:outerShdw>
          </a:effectLst>
        </p:spPr>
      </p:sp>
      <p:sp>
        <p:nvSpPr>
          <p:cNvPr id="55" name="Text 52"/>
          <p:cNvSpPr txBox="1"/>
          <p:nvPr/>
        </p:nvSpPr>
        <p:spPr>
          <a:xfrm>
            <a:off x="2468880" y="3063240"/>
            <a:ext cx="868680" cy="438912"/>
          </a:xfrm>
          <a:prstGeom prst="rect">
            <a:avLst/>
          </a:prstGeom>
          <a:noFill/>
          <a:ln/>
        </p:spPr>
        <p:txBody>
          <a:bodyPr wrap="square" lIns="0" tIns="0" rIns="0" bIns="0" rtlCol="0" anchor="ctr"/>
          <a:lstStyle/>
          <a:p>
            <a:pPr indent="0" marL="0">
              <a:buNone/>
            </a:pPr>
            <a:r>
              <a:rPr lang="en-US" sz="1800" b="1" dirty="0">
                <a:solidFill>
                  <a:srgbClr val="6D4AB8"/>
                </a:solidFill>
                <a:latin typeface="Calibri" pitchFamily="34" charset="0"/>
                <a:ea typeface="Calibri" pitchFamily="34" charset="-122"/>
                <a:cs typeface="Calibri" pitchFamily="34" charset="-120"/>
              </a:rPr>
              <a:t>₹2 L</a:t>
            </a:r>
            <a:endParaRPr lang="en-US" sz="1800" dirty="0"/>
          </a:p>
        </p:txBody>
      </p:sp>
      <p:sp>
        <p:nvSpPr>
          <p:cNvPr id="56" name="Text 53"/>
          <p:cNvSpPr txBox="1"/>
          <p:nvPr/>
        </p:nvSpPr>
        <p:spPr>
          <a:xfrm>
            <a:off x="3337560" y="3063240"/>
            <a:ext cx="1024128" cy="438912"/>
          </a:xfrm>
          <a:prstGeom prst="rect">
            <a:avLst/>
          </a:prstGeom>
          <a:noFill/>
          <a:ln/>
        </p:spPr>
        <p:txBody>
          <a:bodyPr wrap="square" lIns="0" tIns="0" rIns="0" bIns="0" rtlCol="0" anchor="ctr"/>
          <a:lstStyle/>
          <a:p>
            <a:pPr indent="0" marL="0">
              <a:buNone/>
            </a:pPr>
            <a:r>
              <a:rPr lang="en-US" sz="850" b="1" dirty="0">
                <a:solidFill>
                  <a:srgbClr val="1B2A4A"/>
                </a:solidFill>
                <a:latin typeface="Calibri" pitchFamily="34" charset="0"/>
                <a:ea typeface="Calibri" pitchFamily="34" charset="-122"/>
                <a:cs typeface="Calibri" pitchFamily="34" charset="-120"/>
              </a:rPr>
              <a:t>one time per language</a:t>
            </a:r>
            <a:endParaRPr lang="en-US" sz="850" dirty="0"/>
          </a:p>
          <a:p>
            <a:pPr indent="0" marL="0">
              <a:buNone/>
            </a:pPr>
            <a:r>
              <a:rPr lang="en-US" sz="750" dirty="0">
                <a:solidFill>
                  <a:srgbClr val="6B7280"/>
                </a:solidFill>
                <a:latin typeface="Calibri" pitchFamily="34" charset="0"/>
                <a:ea typeface="Calibri" pitchFamily="34" charset="-122"/>
                <a:cs typeface="Calibri" pitchFamily="34" charset="-120"/>
              </a:rPr>
              <a:t>100 h data + voice + GPU</a:t>
            </a:r>
            <a:endParaRPr lang="en-US" sz="850" dirty="0"/>
          </a:p>
        </p:txBody>
      </p:sp>
      <p:sp>
        <p:nvSpPr>
          <p:cNvPr id="57" name="Shape 54"/>
          <p:cNvSpPr/>
          <p:nvPr/>
        </p:nvSpPr>
        <p:spPr>
          <a:xfrm>
            <a:off x="274320" y="3639312"/>
            <a:ext cx="932688" cy="237744"/>
          </a:xfrm>
          <a:prstGeom prst="roundRect">
            <a:avLst>
              <a:gd name="adj" fmla="val 23077"/>
            </a:avLst>
          </a:prstGeom>
          <a:solidFill>
            <a:srgbClr val="FFFFFF"/>
          </a:solidFill>
          <a:ln w="9525">
            <a:solidFill>
              <a:srgbClr val="0F766E"/>
            </a:solidFill>
            <a:prstDash val="solid"/>
          </a:ln>
        </p:spPr>
      </p:sp>
      <p:sp>
        <p:nvSpPr>
          <p:cNvPr id="58" name="Text 55"/>
          <p:cNvSpPr txBox="1"/>
          <p:nvPr/>
        </p:nvSpPr>
        <p:spPr>
          <a:xfrm>
            <a:off x="274320" y="3639312"/>
            <a:ext cx="932688" cy="237744"/>
          </a:xfrm>
          <a:prstGeom prst="rect">
            <a:avLst/>
          </a:prstGeom>
          <a:noFill/>
          <a:ln/>
        </p:spPr>
        <p:txBody>
          <a:bodyPr wrap="square" lIns="0" tIns="0" rIns="0" bIns="0" rtlCol="0" anchor="ctr"/>
          <a:lstStyle/>
          <a:p>
            <a:pPr algn="ctr" indent="0" marL="0">
              <a:buNone/>
            </a:pPr>
            <a:r>
              <a:rPr lang="en-US" sz="750" b="1" dirty="0">
                <a:solidFill>
                  <a:srgbClr val="0F766E"/>
                </a:solidFill>
                <a:latin typeface="Calibri" pitchFamily="34" charset="0"/>
                <a:ea typeface="Calibri" pitchFamily="34" charset="-122"/>
                <a:cs typeface="Calibri" pitchFamily="34" charset="-120"/>
              </a:rPr>
              <a:t>Collect 100 h</a:t>
            </a:r>
            <a:endParaRPr lang="en-US" sz="750" dirty="0"/>
          </a:p>
        </p:txBody>
      </p:sp>
      <p:sp>
        <p:nvSpPr>
          <p:cNvPr id="59" name="Shape 56"/>
          <p:cNvSpPr/>
          <p:nvPr/>
        </p:nvSpPr>
        <p:spPr>
          <a:xfrm>
            <a:off x="1216152" y="3712464"/>
            <a:ext cx="91440" cy="91440"/>
          </a:xfrm>
          <a:prstGeom prst="rightArrow">
            <a:avLst/>
          </a:prstGeom>
          <a:solidFill>
            <a:srgbClr val="0F766E"/>
          </a:solidFill>
          <a:ln w="12700">
            <a:solidFill>
              <a:srgbClr val="0F766E"/>
            </a:solidFill>
            <a:prstDash val="solid"/>
          </a:ln>
        </p:spPr>
      </p:sp>
      <p:sp>
        <p:nvSpPr>
          <p:cNvPr id="60" name="Shape 57"/>
          <p:cNvSpPr/>
          <p:nvPr/>
        </p:nvSpPr>
        <p:spPr>
          <a:xfrm>
            <a:off x="1325880" y="3639312"/>
            <a:ext cx="932688" cy="237744"/>
          </a:xfrm>
          <a:prstGeom prst="roundRect">
            <a:avLst>
              <a:gd name="adj" fmla="val 23077"/>
            </a:avLst>
          </a:prstGeom>
          <a:solidFill>
            <a:srgbClr val="FFFFFF"/>
          </a:solidFill>
          <a:ln w="9525">
            <a:solidFill>
              <a:srgbClr val="0F766E"/>
            </a:solidFill>
            <a:prstDash val="solid"/>
          </a:ln>
        </p:spPr>
      </p:sp>
      <p:sp>
        <p:nvSpPr>
          <p:cNvPr id="61" name="Text 58"/>
          <p:cNvSpPr txBox="1"/>
          <p:nvPr/>
        </p:nvSpPr>
        <p:spPr>
          <a:xfrm>
            <a:off x="1325880" y="3639312"/>
            <a:ext cx="932688" cy="237744"/>
          </a:xfrm>
          <a:prstGeom prst="rect">
            <a:avLst/>
          </a:prstGeom>
          <a:noFill/>
          <a:ln/>
        </p:spPr>
        <p:txBody>
          <a:bodyPr wrap="square" lIns="0" tIns="0" rIns="0" bIns="0" rtlCol="0" anchor="ctr"/>
          <a:lstStyle/>
          <a:p>
            <a:pPr algn="ctr" indent="0" marL="0">
              <a:buNone/>
            </a:pPr>
            <a:r>
              <a:rPr lang="en-US" sz="750" b="1" dirty="0">
                <a:solidFill>
                  <a:srgbClr val="0F766E"/>
                </a:solidFill>
                <a:latin typeface="Calibri" pitchFamily="34" charset="0"/>
                <a:ea typeface="Calibri" pitchFamily="34" charset="-122"/>
                <a:cs typeface="Calibri" pitchFamily="34" charset="-120"/>
              </a:rPr>
              <a:t>Fine-tune ~112 GPU-h</a:t>
            </a:r>
            <a:endParaRPr lang="en-US" sz="750" dirty="0"/>
          </a:p>
        </p:txBody>
      </p:sp>
      <p:sp>
        <p:nvSpPr>
          <p:cNvPr id="62" name="Shape 59"/>
          <p:cNvSpPr/>
          <p:nvPr/>
        </p:nvSpPr>
        <p:spPr>
          <a:xfrm>
            <a:off x="2267712" y="3712464"/>
            <a:ext cx="91440" cy="91440"/>
          </a:xfrm>
          <a:prstGeom prst="rightArrow">
            <a:avLst/>
          </a:prstGeom>
          <a:solidFill>
            <a:srgbClr val="0F766E"/>
          </a:solidFill>
          <a:ln w="12700">
            <a:solidFill>
              <a:srgbClr val="0F766E"/>
            </a:solidFill>
            <a:prstDash val="solid"/>
          </a:ln>
        </p:spPr>
      </p:sp>
      <p:sp>
        <p:nvSpPr>
          <p:cNvPr id="63" name="Shape 60"/>
          <p:cNvSpPr/>
          <p:nvPr/>
        </p:nvSpPr>
        <p:spPr>
          <a:xfrm>
            <a:off x="2377440" y="3639312"/>
            <a:ext cx="932688" cy="237744"/>
          </a:xfrm>
          <a:prstGeom prst="roundRect">
            <a:avLst>
              <a:gd name="adj" fmla="val 23077"/>
            </a:avLst>
          </a:prstGeom>
          <a:solidFill>
            <a:srgbClr val="FFFFFF"/>
          </a:solidFill>
          <a:ln w="9525">
            <a:solidFill>
              <a:srgbClr val="0F766E"/>
            </a:solidFill>
            <a:prstDash val="solid"/>
          </a:ln>
        </p:spPr>
      </p:sp>
      <p:sp>
        <p:nvSpPr>
          <p:cNvPr id="64" name="Text 61"/>
          <p:cNvSpPr txBox="1"/>
          <p:nvPr/>
        </p:nvSpPr>
        <p:spPr>
          <a:xfrm>
            <a:off x="2377440" y="3639312"/>
            <a:ext cx="932688" cy="237744"/>
          </a:xfrm>
          <a:prstGeom prst="rect">
            <a:avLst/>
          </a:prstGeom>
          <a:noFill/>
          <a:ln/>
        </p:spPr>
        <p:txBody>
          <a:bodyPr wrap="square" lIns="0" tIns="0" rIns="0" bIns="0" rtlCol="0" anchor="ctr"/>
          <a:lstStyle/>
          <a:p>
            <a:pPr algn="ctr" indent="0" marL="0">
              <a:buNone/>
            </a:pPr>
            <a:r>
              <a:rPr lang="en-US" sz="750" b="1" dirty="0">
                <a:solidFill>
                  <a:srgbClr val="0F766E"/>
                </a:solidFill>
                <a:latin typeface="Calibri" pitchFamily="34" charset="0"/>
                <a:ea typeface="Calibri" pitchFamily="34" charset="-122"/>
                <a:cs typeface="Calibri" pitchFamily="34" charset="-120"/>
              </a:rPr>
              <a:t>Beat 19.3%</a:t>
            </a:r>
            <a:endParaRPr lang="en-US" sz="750" dirty="0"/>
          </a:p>
        </p:txBody>
      </p:sp>
      <p:sp>
        <p:nvSpPr>
          <p:cNvPr id="65" name="Shape 62"/>
          <p:cNvSpPr/>
          <p:nvPr/>
        </p:nvSpPr>
        <p:spPr>
          <a:xfrm>
            <a:off x="3319272" y="3712464"/>
            <a:ext cx="91440" cy="91440"/>
          </a:xfrm>
          <a:prstGeom prst="rightArrow">
            <a:avLst/>
          </a:prstGeom>
          <a:solidFill>
            <a:srgbClr val="0F766E"/>
          </a:solidFill>
          <a:ln w="12700">
            <a:solidFill>
              <a:srgbClr val="0F766E"/>
            </a:solidFill>
            <a:prstDash val="solid"/>
          </a:ln>
        </p:spPr>
      </p:sp>
      <p:sp>
        <p:nvSpPr>
          <p:cNvPr id="66" name="Shape 63"/>
          <p:cNvSpPr/>
          <p:nvPr/>
        </p:nvSpPr>
        <p:spPr>
          <a:xfrm>
            <a:off x="3429000" y="3639312"/>
            <a:ext cx="932688" cy="237744"/>
          </a:xfrm>
          <a:prstGeom prst="roundRect">
            <a:avLst>
              <a:gd name="adj" fmla="val 23077"/>
            </a:avLst>
          </a:prstGeom>
          <a:solidFill>
            <a:srgbClr val="FFFFFF"/>
          </a:solidFill>
          <a:ln w="9525">
            <a:solidFill>
              <a:srgbClr val="0F766E"/>
            </a:solidFill>
            <a:prstDash val="solid"/>
          </a:ln>
        </p:spPr>
      </p:sp>
      <p:sp>
        <p:nvSpPr>
          <p:cNvPr id="67" name="Text 64"/>
          <p:cNvSpPr txBox="1"/>
          <p:nvPr/>
        </p:nvSpPr>
        <p:spPr>
          <a:xfrm>
            <a:off x="3429000" y="3639312"/>
            <a:ext cx="932688" cy="237744"/>
          </a:xfrm>
          <a:prstGeom prst="rect">
            <a:avLst/>
          </a:prstGeom>
          <a:noFill/>
          <a:ln/>
        </p:spPr>
        <p:txBody>
          <a:bodyPr wrap="square" lIns="0" tIns="0" rIns="0" bIns="0" rtlCol="0" anchor="ctr"/>
          <a:lstStyle/>
          <a:p>
            <a:pPr algn="ctr" indent="0" marL="0">
              <a:buNone/>
            </a:pPr>
            <a:r>
              <a:rPr lang="en-US" sz="750" b="1" dirty="0">
                <a:solidFill>
                  <a:srgbClr val="0F766E"/>
                </a:solidFill>
                <a:latin typeface="Calibri" pitchFamily="34" charset="0"/>
                <a:ea typeface="Calibri" pitchFamily="34" charset="-122"/>
                <a:cs typeface="Calibri" pitchFamily="34" charset="-120"/>
              </a:rPr>
              <a:t>Improve monthly</a:t>
            </a:r>
            <a:endParaRPr lang="en-US" sz="750" dirty="0"/>
          </a:p>
        </p:txBody>
      </p:sp>
      <p:sp>
        <p:nvSpPr>
          <p:cNvPr id="68" name="Shape 65"/>
          <p:cNvSpPr/>
          <p:nvPr/>
        </p:nvSpPr>
        <p:spPr>
          <a:xfrm>
            <a:off x="4572000" y="2414016"/>
            <a:ext cx="4297680" cy="1463040"/>
          </a:xfrm>
          <a:prstGeom prst="roundRect">
            <a:avLst>
              <a:gd name="adj" fmla="val 5000"/>
            </a:avLst>
          </a:prstGeom>
          <a:solidFill>
            <a:srgbClr val="FFFFFF"/>
          </a:solidFill>
          <a:ln w="9525">
            <a:solidFill>
              <a:srgbClr val="E5E7EB"/>
            </a:solidFill>
            <a:prstDash val="solid"/>
          </a:ln>
        </p:spPr>
      </p:sp>
      <p:graphicFrame>
        <p:nvGraphicFramePr>
          <p:cNvPr id="69" name="Chart 0" descr=""/>
          <p:cNvGraphicFramePr/>
          <p:nvPr/>
        </p:nvGraphicFramePr>
        <p:xfrm>
          <a:off x="4617720" y="2432304"/>
          <a:ext cx="4206240" cy="1426464"/>
        </p:xfrm>
        <a:graphic xmlns:a="http://schemas.openxmlformats.org/drawingml/2006/main">
          <a:graphicData uri="http://schemas.openxmlformats.org/drawingml/2006/chart">
            <c:chart xmlns:c="http://schemas.openxmlformats.org/drawingml/2006/chart" r:id="rId2"/>
          </a:graphicData>
        </a:graphic>
      </p:graphicFrame>
      <p:sp>
        <p:nvSpPr>
          <p:cNvPr id="70" name="Text 66"/>
          <p:cNvSpPr txBox="1"/>
          <p:nvPr/>
        </p:nvSpPr>
        <p:spPr>
          <a:xfrm>
            <a:off x="274320" y="3959352"/>
            <a:ext cx="8595360" cy="219456"/>
          </a:xfrm>
          <a:prstGeom prst="rect">
            <a:avLst/>
          </a:prstGeom>
          <a:noFill/>
          <a:ln/>
        </p:spPr>
        <p:txBody>
          <a:bodyPr wrap="square" lIns="0" tIns="0" rIns="0" bIns="0" rtlCol="0" anchor="ctr"/>
          <a:lstStyle/>
          <a:p>
            <a:pPr indent="0" marL="0">
              <a:buNone/>
            </a:pPr>
            <a:r>
              <a:rPr lang="en-US" sz="1050" b="1" spc="150" kern="0" dirty="0">
                <a:solidFill>
                  <a:srgbClr val="E8772E"/>
                </a:solidFill>
                <a:latin typeface="Calibri" pitchFamily="34" charset="0"/>
                <a:ea typeface="Calibri" pitchFamily="34" charset="-122"/>
                <a:cs typeface="Calibri" pitchFamily="34" charset="-120"/>
              </a:rPr>
              <a:t>WHAT COULD GO WRONG, AND WHAT ALREADY HANDLES IT</a:t>
            </a:r>
            <a:pPr indent="0" marL="0">
              <a:buNone/>
            </a:pPr>
            <a:r>
              <a:rPr lang="en-US" sz="1050" i="1" dirty="0">
                <a:solidFill>
                  <a:srgbClr val="6B7280"/>
                </a:solidFill>
                <a:latin typeface="Calibri" pitchFamily="34" charset="0"/>
                <a:ea typeface="Calibri" pitchFamily="34" charset="-122"/>
                <a:cs typeface="Calibri" pitchFamily="34" charset="-120"/>
              </a:rPr>
              <a:t>   </a:t>
            </a:r>
            <a:endParaRPr lang="en-US" sz="1050" dirty="0"/>
          </a:p>
        </p:txBody>
      </p:sp>
      <p:pic>
        <p:nvPicPr>
          <p:cNvPr id="71" name="Image 1" descr="preencoded.png">    </p:cNvPr>
          <p:cNvPicPr>
            <a:picLocks noChangeAspect="1"/>
          </p:cNvPicPr>
          <p:nvPr/>
        </p:nvPicPr>
        <p:blipFill>
          <a:blip r:embed="rId3"/>
          <a:stretch>
            <a:fillRect/>
          </a:stretch>
        </p:blipFill>
        <p:spPr>
          <a:xfrm>
            <a:off x="274320" y="4242816"/>
            <a:ext cx="146304" cy="146304"/>
          </a:xfrm>
          <a:prstGeom prst="rect">
            <a:avLst/>
          </a:prstGeom>
        </p:spPr>
      </p:pic>
      <p:sp>
        <p:nvSpPr>
          <p:cNvPr id="72" name="Text 67"/>
          <p:cNvSpPr txBox="1"/>
          <p:nvPr/>
        </p:nvSpPr>
        <p:spPr>
          <a:xfrm>
            <a:off x="457200" y="4206240"/>
            <a:ext cx="1325880" cy="219456"/>
          </a:xfrm>
          <a:prstGeom prst="rect">
            <a:avLst/>
          </a:prstGeom>
          <a:noFill/>
          <a:ln/>
        </p:spPr>
        <p:txBody>
          <a:bodyPr wrap="square" lIns="0" tIns="0" rIns="0" bIns="0" rtlCol="0" anchor="ctr"/>
          <a:lstStyle/>
          <a:p>
            <a:pPr indent="0" marL="0">
              <a:buNone/>
            </a:pPr>
            <a:r>
              <a:rPr lang="en-US" sz="850" b="1" dirty="0">
                <a:solidFill>
                  <a:srgbClr val="C2410C"/>
                </a:solidFill>
                <a:latin typeface="Calibri" pitchFamily="34" charset="0"/>
                <a:ea typeface="Calibri" pitchFamily="34" charset="-122"/>
                <a:cs typeface="Calibri" pitchFamily="34" charset="-120"/>
              </a:rPr>
              <a:t>Village dialects</a:t>
            </a:r>
            <a:endParaRPr lang="en-US" sz="850" dirty="0"/>
          </a:p>
        </p:txBody>
      </p:sp>
      <p:pic>
        <p:nvPicPr>
          <p:cNvPr id="73" name="Image 2" descr="preencoded.png">    </p:cNvPr>
          <p:cNvPicPr>
            <a:picLocks noChangeAspect="1"/>
          </p:cNvPicPr>
          <p:nvPr/>
        </p:nvPicPr>
        <p:blipFill>
          <a:blip r:embed="rId4"/>
          <a:stretch>
            <a:fillRect/>
          </a:stretch>
        </p:blipFill>
        <p:spPr>
          <a:xfrm>
            <a:off x="1783080" y="4242816"/>
            <a:ext cx="146304" cy="146304"/>
          </a:xfrm>
          <a:prstGeom prst="rect">
            <a:avLst/>
          </a:prstGeom>
        </p:spPr>
      </p:pic>
      <p:sp>
        <p:nvSpPr>
          <p:cNvPr id="74" name="Text 68"/>
          <p:cNvSpPr txBox="1"/>
          <p:nvPr/>
        </p:nvSpPr>
        <p:spPr>
          <a:xfrm>
            <a:off x="1965960" y="4206240"/>
            <a:ext cx="2560320" cy="219456"/>
          </a:xfrm>
          <a:prstGeom prst="rect">
            <a:avLst/>
          </a:prstGeom>
          <a:noFill/>
          <a:ln/>
        </p:spPr>
        <p:txBody>
          <a:bodyPr wrap="square" lIns="0" tIns="0" rIns="0" bIns="0" rtlCol="0" anchor="ctr"/>
          <a:lstStyle/>
          <a:p>
            <a:pPr indent="0" marL="0">
              <a:buNone/>
            </a:pPr>
            <a:r>
              <a:rPr lang="en-US" sz="850" dirty="0">
                <a:solidFill>
                  <a:srgbClr val="1F2937"/>
                </a:solidFill>
                <a:latin typeface="Calibri" pitchFamily="34" charset="0"/>
                <a:ea typeface="Calibri" pitchFamily="34" charset="-122"/>
                <a:cs typeface="Calibri" pitchFamily="34" charset="-120"/>
              </a:rPr>
              <a:t>keys for facts, every answer read back, human fallback</a:t>
            </a:r>
            <a:endParaRPr lang="en-US" sz="850" dirty="0"/>
          </a:p>
        </p:txBody>
      </p:sp>
      <p:pic>
        <p:nvPicPr>
          <p:cNvPr id="75" name="Image 3" descr="preencoded.png">    </p:cNvPr>
          <p:cNvPicPr>
            <a:picLocks noChangeAspect="1"/>
          </p:cNvPicPr>
          <p:nvPr/>
        </p:nvPicPr>
        <p:blipFill>
          <a:blip r:embed="rId5"/>
          <a:stretch>
            <a:fillRect/>
          </a:stretch>
        </p:blipFill>
        <p:spPr>
          <a:xfrm>
            <a:off x="4617720" y="4242816"/>
            <a:ext cx="146304" cy="146304"/>
          </a:xfrm>
          <a:prstGeom prst="rect">
            <a:avLst/>
          </a:prstGeom>
        </p:spPr>
      </p:pic>
      <p:sp>
        <p:nvSpPr>
          <p:cNvPr id="76" name="Text 69"/>
          <p:cNvSpPr txBox="1"/>
          <p:nvPr/>
        </p:nvSpPr>
        <p:spPr>
          <a:xfrm>
            <a:off x="4800600" y="4206240"/>
            <a:ext cx="1325880" cy="219456"/>
          </a:xfrm>
          <a:prstGeom prst="rect">
            <a:avLst/>
          </a:prstGeom>
          <a:noFill/>
          <a:ln/>
        </p:spPr>
        <p:txBody>
          <a:bodyPr wrap="square" lIns="0" tIns="0" rIns="0" bIns="0" rtlCol="0" anchor="ctr"/>
          <a:lstStyle/>
          <a:p>
            <a:pPr indent="0" marL="0">
              <a:buNone/>
            </a:pPr>
            <a:r>
              <a:rPr lang="en-US" sz="850" b="1" dirty="0">
                <a:solidFill>
                  <a:srgbClr val="C2410C"/>
                </a:solidFill>
                <a:latin typeface="Calibri" pitchFamily="34" charset="0"/>
                <a:ea typeface="Calibri" pitchFamily="34" charset="-122"/>
                <a:cs typeface="Calibri" pitchFamily="34" charset="-120"/>
              </a:rPr>
              <a:t>AI says something wrong</a:t>
            </a:r>
            <a:endParaRPr lang="en-US" sz="850" dirty="0"/>
          </a:p>
        </p:txBody>
      </p:sp>
      <p:pic>
        <p:nvPicPr>
          <p:cNvPr id="77" name="Image 4" descr="preencoded.png">    </p:cNvPr>
          <p:cNvPicPr>
            <a:picLocks noChangeAspect="1"/>
          </p:cNvPicPr>
          <p:nvPr/>
        </p:nvPicPr>
        <p:blipFill>
          <a:blip r:embed="rId6"/>
          <a:stretch>
            <a:fillRect/>
          </a:stretch>
        </p:blipFill>
        <p:spPr>
          <a:xfrm>
            <a:off x="6126480" y="4242816"/>
            <a:ext cx="146304" cy="146304"/>
          </a:xfrm>
          <a:prstGeom prst="rect">
            <a:avLst/>
          </a:prstGeom>
        </p:spPr>
      </p:pic>
      <p:sp>
        <p:nvSpPr>
          <p:cNvPr id="78" name="Text 70"/>
          <p:cNvSpPr txBox="1"/>
          <p:nvPr/>
        </p:nvSpPr>
        <p:spPr>
          <a:xfrm>
            <a:off x="6309360" y="4206240"/>
            <a:ext cx="2560320" cy="219456"/>
          </a:xfrm>
          <a:prstGeom prst="rect">
            <a:avLst/>
          </a:prstGeom>
          <a:noFill/>
          <a:ln/>
        </p:spPr>
        <p:txBody>
          <a:bodyPr wrap="square" lIns="0" tIns="0" rIns="0" bIns="0" rtlCol="0" anchor="ctr"/>
          <a:lstStyle/>
          <a:p>
            <a:pPr indent="0" marL="0">
              <a:buNone/>
            </a:pPr>
            <a:r>
              <a:rPr lang="en-US" sz="850" dirty="0">
                <a:solidFill>
                  <a:srgbClr val="1F2937"/>
                </a:solidFill>
                <a:latin typeface="Calibri" pitchFamily="34" charset="0"/>
                <a:ea typeface="Calibri" pitchFamily="34" charset="-122"/>
                <a:cs typeface="Calibri" pitchFamily="34" charset="-120"/>
              </a:rPr>
              <a:t>only facts that match a govt data row are spoken</a:t>
            </a:r>
            <a:endParaRPr lang="en-US" sz="850" dirty="0"/>
          </a:p>
        </p:txBody>
      </p:sp>
      <p:pic>
        <p:nvPicPr>
          <p:cNvPr id="79" name="Image 5" descr="preencoded.png">    </p:cNvPr>
          <p:cNvPicPr>
            <a:picLocks noChangeAspect="1"/>
          </p:cNvPicPr>
          <p:nvPr/>
        </p:nvPicPr>
        <p:blipFill>
          <a:blip r:embed="rId7"/>
          <a:stretch>
            <a:fillRect/>
          </a:stretch>
        </p:blipFill>
        <p:spPr>
          <a:xfrm>
            <a:off x="274320" y="4535424"/>
            <a:ext cx="146304" cy="146304"/>
          </a:xfrm>
          <a:prstGeom prst="rect">
            <a:avLst/>
          </a:prstGeom>
        </p:spPr>
      </p:pic>
      <p:sp>
        <p:nvSpPr>
          <p:cNvPr id="80" name="Text 71"/>
          <p:cNvSpPr txBox="1"/>
          <p:nvPr/>
        </p:nvSpPr>
        <p:spPr>
          <a:xfrm>
            <a:off x="457200" y="4498848"/>
            <a:ext cx="1325880" cy="219456"/>
          </a:xfrm>
          <a:prstGeom prst="rect">
            <a:avLst/>
          </a:prstGeom>
          <a:noFill/>
          <a:ln/>
        </p:spPr>
        <p:txBody>
          <a:bodyPr wrap="square" lIns="0" tIns="0" rIns="0" bIns="0" rtlCol="0" anchor="ctr"/>
          <a:lstStyle/>
          <a:p>
            <a:pPr indent="0" marL="0">
              <a:buNone/>
            </a:pPr>
            <a:r>
              <a:rPr lang="en-US" sz="850" b="1" dirty="0">
                <a:solidFill>
                  <a:srgbClr val="C2410C"/>
                </a:solidFill>
                <a:latin typeface="Calibri" pitchFamily="34" charset="0"/>
                <a:ea typeface="Calibri" pitchFamily="34" charset="-122"/>
                <a:cs typeface="Calibri" pitchFamily="34" charset="-120"/>
              </a:rPr>
              <a:t>Unknown numbers ignored</a:t>
            </a:r>
            <a:endParaRPr lang="en-US" sz="850" dirty="0"/>
          </a:p>
        </p:txBody>
      </p:sp>
      <p:pic>
        <p:nvPicPr>
          <p:cNvPr id="81" name="Image 6" descr="preencoded.png">    </p:cNvPr>
          <p:cNvPicPr>
            <a:picLocks noChangeAspect="1"/>
          </p:cNvPicPr>
          <p:nvPr/>
        </p:nvPicPr>
        <p:blipFill>
          <a:blip r:embed="rId8"/>
          <a:stretch>
            <a:fillRect/>
          </a:stretch>
        </p:blipFill>
        <p:spPr>
          <a:xfrm>
            <a:off x="1783080" y="4535424"/>
            <a:ext cx="146304" cy="146304"/>
          </a:xfrm>
          <a:prstGeom prst="rect">
            <a:avLst/>
          </a:prstGeom>
        </p:spPr>
      </p:pic>
      <p:sp>
        <p:nvSpPr>
          <p:cNvPr id="82" name="Text 72"/>
          <p:cNvSpPr txBox="1"/>
          <p:nvPr/>
        </p:nvSpPr>
        <p:spPr>
          <a:xfrm>
            <a:off x="1965960" y="4498848"/>
            <a:ext cx="2560320" cy="219456"/>
          </a:xfrm>
          <a:prstGeom prst="rect">
            <a:avLst/>
          </a:prstGeom>
          <a:noFill/>
          <a:ln/>
        </p:spPr>
        <p:txBody>
          <a:bodyPr wrap="square" lIns="0" tIns="0" rIns="0" bIns="0" rtlCol="0" anchor="ctr"/>
          <a:lstStyle/>
          <a:p>
            <a:pPr indent="0" marL="0">
              <a:buNone/>
            </a:pPr>
            <a:r>
              <a:rPr lang="en-US" sz="850" dirty="0">
                <a:solidFill>
                  <a:srgbClr val="1F2937"/>
                </a:solidFill>
                <a:latin typeface="Calibri" pitchFamily="34" charset="0"/>
                <a:ea typeface="Calibri" pitchFamily="34" charset="-122"/>
                <a:cs typeface="Calibri" pitchFamily="34" charset="-120"/>
              </a:rPr>
              <a:t>they call first; callback from an official 1600 number*</a:t>
            </a:r>
            <a:endParaRPr lang="en-US" sz="850" dirty="0"/>
          </a:p>
        </p:txBody>
      </p:sp>
      <p:pic>
        <p:nvPicPr>
          <p:cNvPr id="83" name="Image 7" descr="preencoded.png">    </p:cNvPr>
          <p:cNvPicPr>
            <a:picLocks noChangeAspect="1"/>
          </p:cNvPicPr>
          <p:nvPr/>
        </p:nvPicPr>
        <p:blipFill>
          <a:blip r:embed="rId9"/>
          <a:stretch>
            <a:fillRect/>
          </a:stretch>
        </p:blipFill>
        <p:spPr>
          <a:xfrm>
            <a:off x="4617720" y="4535424"/>
            <a:ext cx="146304" cy="146304"/>
          </a:xfrm>
          <a:prstGeom prst="rect">
            <a:avLst/>
          </a:prstGeom>
        </p:spPr>
      </p:pic>
      <p:sp>
        <p:nvSpPr>
          <p:cNvPr id="84" name="Text 73"/>
          <p:cNvSpPr txBox="1"/>
          <p:nvPr/>
        </p:nvSpPr>
        <p:spPr>
          <a:xfrm>
            <a:off x="4800600" y="4498848"/>
            <a:ext cx="1325880" cy="219456"/>
          </a:xfrm>
          <a:prstGeom prst="rect">
            <a:avLst/>
          </a:prstGeom>
          <a:noFill/>
          <a:ln/>
        </p:spPr>
        <p:txBody>
          <a:bodyPr wrap="square" lIns="0" tIns="0" rIns="0" bIns="0" rtlCol="0" anchor="ctr"/>
          <a:lstStyle/>
          <a:p>
            <a:pPr indent="0" marL="0">
              <a:buNone/>
            </a:pPr>
            <a:r>
              <a:rPr lang="en-US" sz="850" b="1" dirty="0">
                <a:solidFill>
                  <a:srgbClr val="C2410C"/>
                </a:solidFill>
                <a:latin typeface="Calibri" pitchFamily="34" charset="0"/>
                <a:ea typeface="Calibri" pitchFamily="34" charset="-122"/>
                <a:cs typeface="Calibri" pitchFamily="34" charset="-120"/>
              </a:rPr>
              <a:t>Our model worse than APIs</a:t>
            </a:r>
            <a:endParaRPr lang="en-US" sz="850" dirty="0"/>
          </a:p>
        </p:txBody>
      </p:sp>
      <p:pic>
        <p:nvPicPr>
          <p:cNvPr id="85" name="Image 8" descr="preencoded.png">    </p:cNvPr>
          <p:cNvPicPr>
            <a:picLocks noChangeAspect="1"/>
          </p:cNvPicPr>
          <p:nvPr/>
        </p:nvPicPr>
        <p:blipFill>
          <a:blip r:embed="rId10"/>
          <a:stretch>
            <a:fillRect/>
          </a:stretch>
        </p:blipFill>
        <p:spPr>
          <a:xfrm>
            <a:off x="6126480" y="4535424"/>
            <a:ext cx="146304" cy="146304"/>
          </a:xfrm>
          <a:prstGeom prst="rect">
            <a:avLst/>
          </a:prstGeom>
        </p:spPr>
      </p:pic>
      <p:sp>
        <p:nvSpPr>
          <p:cNvPr id="86" name="Text 74"/>
          <p:cNvSpPr txBox="1"/>
          <p:nvPr/>
        </p:nvSpPr>
        <p:spPr>
          <a:xfrm>
            <a:off x="6309360" y="4498848"/>
            <a:ext cx="2560320" cy="219456"/>
          </a:xfrm>
          <a:prstGeom prst="rect">
            <a:avLst/>
          </a:prstGeom>
          <a:noFill/>
          <a:ln/>
        </p:spPr>
        <p:txBody>
          <a:bodyPr wrap="square" lIns="0" tIns="0" rIns="0" bIns="0" rtlCol="0" anchor="ctr"/>
          <a:lstStyle/>
          <a:p>
            <a:pPr indent="0" marL="0">
              <a:buNone/>
            </a:pPr>
            <a:r>
              <a:rPr lang="en-US" sz="850" dirty="0">
                <a:solidFill>
                  <a:srgbClr val="1F2937"/>
                </a:solidFill>
                <a:latin typeface="Calibri" pitchFamily="34" charset="0"/>
                <a:ea typeface="Calibri" pitchFamily="34" charset="-122"/>
                <a:cs typeface="Calibri" pitchFamily="34" charset="-120"/>
              </a:rPr>
              <a:t>switch a language only after it beats 19.3%; API backup</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28600" y="146304"/>
            <a:ext cx="1188720" cy="457200"/>
          </a:xfrm>
          <a:prstGeom prst="ellipse">
            <a:avLst/>
          </a:prstGeom>
          <a:solidFill>
            <a:srgbClr val="FFFFFF"/>
          </a:solidFill>
          <a:ln w="15875">
            <a:solidFill>
              <a:srgbClr val="1B2A4A"/>
            </a:solidFill>
            <a:prstDash val="solid"/>
          </a:ln>
        </p:spPr>
      </p:sp>
      <p:sp>
        <p:nvSpPr>
          <p:cNvPr id="3" name="Text 1"/>
          <p:cNvSpPr txBox="1"/>
          <p:nvPr/>
        </p:nvSpPr>
        <p:spPr>
          <a:xfrm>
            <a:off x="228600" y="146304"/>
            <a:ext cx="1188720" cy="457200"/>
          </a:xfrm>
          <a:prstGeom prst="rect">
            <a:avLst/>
          </a:prstGeom>
          <a:noFill/>
          <a:ln/>
        </p:spPr>
        <p:txBody>
          <a:bodyPr wrap="square" lIns="0" tIns="0" rIns="0" bIns="0" rtlCol="0" anchor="ctr"/>
          <a:lstStyle/>
          <a:p>
            <a:pPr algn="ctr" indent="0" marL="0">
              <a:buNone/>
            </a:pPr>
            <a:r>
              <a:rPr lang="en-US" sz="1200" b="1" dirty="0">
                <a:solidFill>
                  <a:srgbClr val="1B2A4A"/>
                </a:solidFill>
                <a:latin typeface="Calibri" pitchFamily="34" charset="0"/>
                <a:ea typeface="Calibri" pitchFamily="34" charset="-122"/>
                <a:cs typeface="Calibri" pitchFamily="34" charset="-120"/>
              </a:rPr>
              <a:t>Cognify</a:t>
            </a:r>
            <a:endParaRPr lang="en-US" sz="1200" dirty="0"/>
          </a:p>
        </p:txBody>
      </p:sp>
      <p:sp>
        <p:nvSpPr>
          <p:cNvPr id="4" name="Text 2"/>
          <p:cNvSpPr txBox="1"/>
          <p:nvPr/>
        </p:nvSpPr>
        <p:spPr>
          <a:xfrm>
            <a:off x="1554480" y="91440"/>
            <a:ext cx="5577840" cy="420624"/>
          </a:xfrm>
          <a:prstGeom prst="rect">
            <a:avLst/>
          </a:prstGeom>
          <a:noFill/>
          <a:ln/>
        </p:spPr>
        <p:txBody>
          <a:bodyPr wrap="square" lIns="0" tIns="0" rIns="0" bIns="0" rtlCol="0" anchor="ctr"/>
          <a:lstStyle/>
          <a:p>
            <a:pPr algn="ctr" indent="0" marL="0">
              <a:buNone/>
            </a:pPr>
            <a:r>
              <a:rPr lang="en-US" sz="2200" b="1" dirty="0">
                <a:solidFill>
                  <a:srgbClr val="1B2A4A"/>
                </a:solidFill>
                <a:latin typeface="Cambria" pitchFamily="34" charset="0"/>
                <a:ea typeface="Cambria" pitchFamily="34" charset="-122"/>
                <a:cs typeface="Cambria" pitchFamily="34" charset="-120"/>
              </a:rPr>
              <a:t>Impact and Benefits</a:t>
            </a:r>
            <a:endParaRPr lang="en-US" sz="2200" dirty="0"/>
          </a:p>
        </p:txBody>
      </p:sp>
      <p:sp>
        <p:nvSpPr>
          <p:cNvPr id="5" name="Text 3"/>
          <p:cNvSpPr txBox="1"/>
          <p:nvPr/>
        </p:nvSpPr>
        <p:spPr>
          <a:xfrm>
            <a:off x="1554480" y="502920"/>
            <a:ext cx="5577840" cy="274320"/>
          </a:xfrm>
          <a:prstGeom prst="rect">
            <a:avLst/>
          </a:prstGeom>
          <a:noFill/>
          <a:ln/>
        </p:spPr>
        <p:txBody>
          <a:bodyPr wrap="square" lIns="0" tIns="0" rIns="0" bIns="0" rtlCol="0" anchor="ctr"/>
          <a:lstStyle/>
          <a:p>
            <a:pPr algn="ctr" indent="0" marL="0">
              <a:buNone/>
            </a:pPr>
            <a:r>
              <a:rPr lang="en-US" sz="1050" i="1" dirty="0">
                <a:solidFill>
                  <a:srgbClr val="6B7280"/>
                </a:solidFill>
                <a:latin typeface="Calibri" pitchFamily="34" charset="0"/>
                <a:ea typeface="Calibri" pitchFamily="34" charset="-122"/>
                <a:cs typeface="Calibri" pitchFamily="34" charset="-120"/>
              </a:rPr>
              <a:t>Who gains? SC families, officers, training centres and the Ministry.</a:t>
            </a:r>
            <a:endParaRPr lang="en-US" sz="1050" dirty="0"/>
          </a:p>
        </p:txBody>
      </p:sp>
      <p:pic>
        <p:nvPicPr>
          <p:cNvPr id="6" name="Image 0" descr="/tmp/claude-0/-home-user-hunarvaani/1a479c87-c527-500c-a3b9-10fb2a163850/scratchpad/ppt/sc/ppt/media/image-1-1.png">    </p:cNvPr>
          <p:cNvPicPr>
            <a:picLocks noChangeAspect="1"/>
          </p:cNvPicPr>
          <p:nvPr/>
        </p:nvPicPr>
        <p:blipFill>
          <a:blip r:embed="rId1"/>
          <a:stretch>
            <a:fillRect/>
          </a:stretch>
        </p:blipFill>
        <p:spPr>
          <a:xfrm>
            <a:off x="7296912" y="91440"/>
            <a:ext cx="1572768" cy="740664"/>
          </a:xfrm>
          <a:prstGeom prst="rect">
            <a:avLst/>
          </a:prstGeom>
        </p:spPr>
      </p:pic>
      <p:sp>
        <p:nvSpPr>
          <p:cNvPr id="7" name="Shape 4"/>
          <p:cNvSpPr/>
          <p:nvPr/>
        </p:nvSpPr>
        <p:spPr>
          <a:xfrm>
            <a:off x="292608" y="4901184"/>
            <a:ext cx="73152" cy="73152"/>
          </a:xfrm>
          <a:prstGeom prst="ellipse">
            <a:avLst/>
          </a:prstGeom>
          <a:solidFill>
            <a:srgbClr val="D1D5DB"/>
          </a:solidFill>
          <a:ln w="12700">
            <a:solidFill>
              <a:srgbClr val="D1D5DB"/>
            </a:solidFill>
            <a:prstDash val="solid"/>
          </a:ln>
        </p:spPr>
      </p:sp>
      <p:sp>
        <p:nvSpPr>
          <p:cNvPr id="8" name="Shape 5"/>
          <p:cNvSpPr/>
          <p:nvPr/>
        </p:nvSpPr>
        <p:spPr>
          <a:xfrm>
            <a:off x="402336" y="4956048"/>
            <a:ext cx="91440" cy="0"/>
          </a:xfrm>
          <a:prstGeom prst="line">
            <a:avLst/>
          </a:prstGeom>
          <a:noFill/>
          <a:ln w="9525">
            <a:solidFill>
              <a:srgbClr val="D1D5DB"/>
            </a:solidFill>
            <a:prstDash val="dash"/>
          </a:ln>
        </p:spPr>
      </p:sp>
      <p:sp>
        <p:nvSpPr>
          <p:cNvPr id="9" name="Shape 6"/>
          <p:cNvSpPr/>
          <p:nvPr/>
        </p:nvSpPr>
        <p:spPr>
          <a:xfrm>
            <a:off x="493776" y="4901184"/>
            <a:ext cx="73152" cy="73152"/>
          </a:xfrm>
          <a:prstGeom prst="ellipse">
            <a:avLst/>
          </a:prstGeom>
          <a:solidFill>
            <a:srgbClr val="D1D5DB"/>
          </a:solidFill>
          <a:ln w="12700">
            <a:solidFill>
              <a:srgbClr val="D1D5DB"/>
            </a:solidFill>
            <a:prstDash val="solid"/>
          </a:ln>
        </p:spPr>
      </p:sp>
      <p:sp>
        <p:nvSpPr>
          <p:cNvPr id="10" name="Shape 7"/>
          <p:cNvSpPr/>
          <p:nvPr/>
        </p:nvSpPr>
        <p:spPr>
          <a:xfrm>
            <a:off x="603504" y="4956048"/>
            <a:ext cx="91440" cy="0"/>
          </a:xfrm>
          <a:prstGeom prst="line">
            <a:avLst/>
          </a:prstGeom>
          <a:noFill/>
          <a:ln w="9525">
            <a:solidFill>
              <a:srgbClr val="D1D5DB"/>
            </a:solidFill>
            <a:prstDash val="dash"/>
          </a:ln>
        </p:spPr>
      </p:sp>
      <p:sp>
        <p:nvSpPr>
          <p:cNvPr id="11" name="Shape 8"/>
          <p:cNvSpPr/>
          <p:nvPr/>
        </p:nvSpPr>
        <p:spPr>
          <a:xfrm>
            <a:off x="694944" y="4901184"/>
            <a:ext cx="73152" cy="73152"/>
          </a:xfrm>
          <a:prstGeom prst="ellipse">
            <a:avLst/>
          </a:prstGeom>
          <a:solidFill>
            <a:srgbClr val="D1D5DB"/>
          </a:solidFill>
          <a:ln w="12700">
            <a:solidFill>
              <a:srgbClr val="D1D5DB"/>
            </a:solidFill>
            <a:prstDash val="solid"/>
          </a:ln>
        </p:spPr>
      </p:sp>
      <p:sp>
        <p:nvSpPr>
          <p:cNvPr id="12" name="Shape 9"/>
          <p:cNvSpPr/>
          <p:nvPr/>
        </p:nvSpPr>
        <p:spPr>
          <a:xfrm>
            <a:off x="804672" y="4956048"/>
            <a:ext cx="91440" cy="0"/>
          </a:xfrm>
          <a:prstGeom prst="line">
            <a:avLst/>
          </a:prstGeom>
          <a:noFill/>
          <a:ln w="9525">
            <a:solidFill>
              <a:srgbClr val="D1D5DB"/>
            </a:solidFill>
            <a:prstDash val="dash"/>
          </a:ln>
        </p:spPr>
      </p:sp>
      <p:sp>
        <p:nvSpPr>
          <p:cNvPr id="13" name="Shape 10"/>
          <p:cNvSpPr/>
          <p:nvPr/>
        </p:nvSpPr>
        <p:spPr>
          <a:xfrm>
            <a:off x="896112" y="4901184"/>
            <a:ext cx="109728" cy="109728"/>
          </a:xfrm>
          <a:prstGeom prst="ellipse">
            <a:avLst/>
          </a:prstGeom>
          <a:solidFill>
            <a:srgbClr val="E8772E"/>
          </a:solidFill>
          <a:ln w="12700">
            <a:solidFill>
              <a:srgbClr val="E8772E"/>
            </a:solidFill>
            <a:prstDash val="solid"/>
          </a:ln>
        </p:spPr>
      </p:sp>
      <p:sp>
        <p:nvSpPr>
          <p:cNvPr id="14" name="Shape 11"/>
          <p:cNvSpPr/>
          <p:nvPr/>
        </p:nvSpPr>
        <p:spPr>
          <a:xfrm>
            <a:off x="1005840" y="4956048"/>
            <a:ext cx="91440" cy="0"/>
          </a:xfrm>
          <a:prstGeom prst="line">
            <a:avLst/>
          </a:prstGeom>
          <a:noFill/>
          <a:ln w="9525">
            <a:solidFill>
              <a:srgbClr val="D1D5DB"/>
            </a:solidFill>
            <a:prstDash val="dash"/>
          </a:ln>
        </p:spPr>
      </p:sp>
      <p:sp>
        <p:nvSpPr>
          <p:cNvPr id="15" name="Shape 12"/>
          <p:cNvSpPr/>
          <p:nvPr/>
        </p:nvSpPr>
        <p:spPr>
          <a:xfrm>
            <a:off x="1097280" y="4901184"/>
            <a:ext cx="73152" cy="73152"/>
          </a:xfrm>
          <a:prstGeom prst="ellipse">
            <a:avLst/>
          </a:prstGeom>
          <a:solidFill>
            <a:srgbClr val="D1D5DB"/>
          </a:solidFill>
          <a:ln w="12700">
            <a:solidFill>
              <a:srgbClr val="D1D5DB"/>
            </a:solidFill>
            <a:prstDash val="solid"/>
          </a:ln>
        </p:spPr>
      </p:sp>
      <p:sp>
        <p:nvSpPr>
          <p:cNvPr id="16" name="Text 13"/>
          <p:cNvSpPr txBox="1"/>
          <p:nvPr/>
        </p:nvSpPr>
        <p:spPr>
          <a:xfrm>
            <a:off x="1325880" y="4846320"/>
            <a:ext cx="1097280" cy="201168"/>
          </a:xfrm>
          <a:prstGeom prst="rect">
            <a:avLst/>
          </a:prstGeom>
          <a:noFill/>
          <a:ln/>
        </p:spPr>
        <p:txBody>
          <a:bodyPr wrap="square" lIns="0" tIns="0" rIns="0" bIns="0" rtlCol="0" anchor="ctr"/>
          <a:lstStyle/>
          <a:p>
            <a:pPr indent="0" marL="0">
              <a:buNone/>
            </a:pPr>
            <a:r>
              <a:rPr lang="en-US" sz="900" b="1" dirty="0">
                <a:solidFill>
                  <a:srgbClr val="6B7280"/>
                </a:solidFill>
                <a:latin typeface="Calibri" pitchFamily="34" charset="0"/>
                <a:ea typeface="Calibri" pitchFamily="34" charset="-122"/>
                <a:cs typeface="Calibri" pitchFamily="34" charset="-120"/>
              </a:rPr>
              <a:t>HunarMarg</a:t>
            </a:r>
            <a:endParaRPr lang="en-US" sz="900" dirty="0"/>
          </a:p>
        </p:txBody>
      </p:sp>
      <p:sp>
        <p:nvSpPr>
          <p:cNvPr id="17" name="Text 14"/>
          <p:cNvSpPr txBox="1"/>
          <p:nvPr/>
        </p:nvSpPr>
        <p:spPr>
          <a:xfrm>
            <a:off x="8503920" y="4828032"/>
            <a:ext cx="365760" cy="219456"/>
          </a:xfrm>
          <a:prstGeom prst="rect">
            <a:avLst/>
          </a:prstGeom>
          <a:noFill/>
          <a:ln/>
        </p:spPr>
        <p:txBody>
          <a:bodyPr wrap="square" lIns="0" tIns="0" rIns="0" bIns="0" rtlCol="0" anchor="ctr"/>
          <a:lstStyle/>
          <a:p>
            <a:pPr algn="r" indent="0" marL="0">
              <a:buNone/>
            </a:pPr>
            <a:r>
              <a:rPr lang="en-US" sz="1100" b="1" dirty="0">
                <a:solidFill>
                  <a:srgbClr val="1B2A4A"/>
                </a:solidFill>
                <a:latin typeface="Calibri" pitchFamily="34" charset="0"/>
                <a:ea typeface="Calibri" pitchFamily="34" charset="-122"/>
                <a:cs typeface="Calibri" pitchFamily="34" charset="-120"/>
              </a:rPr>
              <a:t>5</a:t>
            </a:r>
            <a:endParaRPr lang="en-US" sz="1100" dirty="0"/>
          </a:p>
        </p:txBody>
      </p:sp>
      <p:sp>
        <p:nvSpPr>
          <p:cNvPr id="18" name="Text 15"/>
          <p:cNvSpPr txBox="1"/>
          <p:nvPr/>
        </p:nvSpPr>
        <p:spPr>
          <a:xfrm>
            <a:off x="274320" y="896112"/>
            <a:ext cx="8595360" cy="219456"/>
          </a:xfrm>
          <a:prstGeom prst="rect">
            <a:avLst/>
          </a:prstGeom>
          <a:noFill/>
          <a:ln/>
        </p:spPr>
        <p:txBody>
          <a:bodyPr wrap="square" lIns="0" tIns="0" rIns="0" bIns="0" rtlCol="0" anchor="ctr"/>
          <a:lstStyle/>
          <a:p>
            <a:pPr indent="0" marL="0">
              <a:buNone/>
            </a:pPr>
            <a:r>
              <a:rPr lang="en-US" sz="1050" b="1" spc="150" kern="0" dirty="0">
                <a:solidFill>
                  <a:srgbClr val="0F766E"/>
                </a:solidFill>
                <a:latin typeface="Calibri" pitchFamily="34" charset="0"/>
                <a:ea typeface="Calibri" pitchFamily="34" charset="-122"/>
                <a:cs typeface="Calibri" pitchFamily="34" charset="-120"/>
              </a:rPr>
              <a:t>WHAT CHANGES</a:t>
            </a:r>
            <a:pPr indent="0" marL="0">
              <a:buNone/>
            </a:pPr>
            <a:r>
              <a:rPr lang="en-US" sz="1050" i="1" dirty="0">
                <a:solidFill>
                  <a:srgbClr val="6B7280"/>
                </a:solidFill>
                <a:latin typeface="Calibri" pitchFamily="34" charset="0"/>
                <a:ea typeface="Calibri" pitchFamily="34" charset="-122"/>
                <a:cs typeface="Calibri" pitchFamily="34" charset="-120"/>
              </a:rPr>
              <a:t>   four numbers, each with its source</a:t>
            </a:r>
            <a:endParaRPr lang="en-US" sz="1050" dirty="0"/>
          </a:p>
        </p:txBody>
      </p:sp>
      <p:sp>
        <p:nvSpPr>
          <p:cNvPr id="19" name="Shape 16"/>
          <p:cNvSpPr/>
          <p:nvPr/>
        </p:nvSpPr>
        <p:spPr>
          <a:xfrm>
            <a:off x="274320" y="1152144"/>
            <a:ext cx="2075688" cy="1371600"/>
          </a:xfrm>
          <a:prstGeom prst="roundRect">
            <a:avLst>
              <a:gd name="adj" fmla="val 5333"/>
            </a:avLst>
          </a:prstGeom>
          <a:solidFill>
            <a:srgbClr val="FFF1E6"/>
          </a:solidFill>
          <a:ln w="12700">
            <a:solidFill>
              <a:srgbClr val="FFF1E6"/>
            </a:solidFill>
            <a:prstDash val="solid"/>
          </a:ln>
          <a:effectLst>
            <a:outerShdw sx="100000" sy="100000" kx="0" ky="0" algn="bl" rotWithShape="0" blurRad="50800" dist="19050" dir="5400000">
              <a:srgbClr val="000000">
                <a:alpha val="12000"/>
              </a:srgbClr>
            </a:outerShdw>
          </a:effectLst>
        </p:spPr>
      </p:sp>
      <p:sp>
        <p:nvSpPr>
          <p:cNvPr id="20" name="Text 17"/>
          <p:cNvSpPr txBox="1"/>
          <p:nvPr/>
        </p:nvSpPr>
        <p:spPr>
          <a:xfrm>
            <a:off x="384048" y="1207008"/>
            <a:ext cx="1874520" cy="365760"/>
          </a:xfrm>
          <a:prstGeom prst="rect">
            <a:avLst/>
          </a:prstGeom>
          <a:noFill/>
          <a:ln/>
        </p:spPr>
        <p:txBody>
          <a:bodyPr wrap="square" lIns="0" tIns="0" rIns="0" bIns="0" rtlCol="0" anchor="ctr"/>
          <a:lstStyle/>
          <a:p>
            <a:pPr indent="0" marL="0">
              <a:buNone/>
            </a:pPr>
            <a:r>
              <a:rPr lang="en-US" sz="2100" b="1" dirty="0">
                <a:solidFill>
                  <a:srgbClr val="E8772E"/>
                </a:solidFill>
                <a:latin typeface="Calibri" pitchFamily="34" charset="0"/>
                <a:ea typeface="Calibri" pitchFamily="34" charset="-122"/>
                <a:cs typeface="Calibri" pitchFamily="34" charset="-120"/>
              </a:rPr>
              <a:t>41% → 70%</a:t>
            </a:r>
            <a:endParaRPr lang="en-US" sz="2100" dirty="0"/>
          </a:p>
        </p:txBody>
      </p:sp>
      <p:sp>
        <p:nvSpPr>
          <p:cNvPr id="21" name="Text 18"/>
          <p:cNvSpPr txBox="1"/>
          <p:nvPr/>
        </p:nvSpPr>
        <p:spPr>
          <a:xfrm>
            <a:off x="384048" y="1572768"/>
            <a:ext cx="1874520" cy="164592"/>
          </a:xfrm>
          <a:prstGeom prst="rect">
            <a:avLst/>
          </a:prstGeom>
          <a:noFill/>
          <a:ln/>
        </p:spPr>
        <p:txBody>
          <a:bodyPr wrap="square" lIns="0" tIns="0" rIns="0" bIns="0" rtlCol="0" anchor="t"/>
          <a:lstStyle/>
          <a:p>
            <a:pPr indent="0" marL="0">
              <a:buNone/>
            </a:pPr>
            <a:r>
              <a:rPr lang="en-US" sz="900" b="1" dirty="0">
                <a:solidFill>
                  <a:srgbClr val="1B2A4A"/>
                </a:solidFill>
                <a:latin typeface="Calibri" pitchFamily="34" charset="0"/>
                <a:ea typeface="Calibri" pitchFamily="34" charset="-122"/>
                <a:cs typeface="Calibri" pitchFamily="34" charset="-120"/>
              </a:rPr>
              <a:t>placed after training</a:t>
            </a:r>
            <a:endParaRPr lang="en-US" sz="900" dirty="0"/>
          </a:p>
        </p:txBody>
      </p:sp>
      <p:sp>
        <p:nvSpPr>
          <p:cNvPr id="22" name="Shape 19"/>
          <p:cNvSpPr/>
          <p:nvPr/>
        </p:nvSpPr>
        <p:spPr>
          <a:xfrm>
            <a:off x="384048" y="1783080"/>
            <a:ext cx="1847088" cy="82296"/>
          </a:xfrm>
          <a:prstGeom prst="roundRect">
            <a:avLst>
              <a:gd name="adj" fmla="val 44444"/>
            </a:avLst>
          </a:prstGeom>
          <a:solidFill>
            <a:srgbClr val="FFFFFF"/>
          </a:solidFill>
          <a:ln w="12700">
            <a:solidFill>
              <a:srgbClr val="FFFFFF"/>
            </a:solidFill>
            <a:prstDash val="solid"/>
          </a:ln>
        </p:spPr>
      </p:sp>
      <p:sp>
        <p:nvSpPr>
          <p:cNvPr id="23" name="Shape 20"/>
          <p:cNvSpPr/>
          <p:nvPr/>
        </p:nvSpPr>
        <p:spPr>
          <a:xfrm>
            <a:off x="384048" y="1783080"/>
            <a:ext cx="757306" cy="82296"/>
          </a:xfrm>
          <a:prstGeom prst="roundRect">
            <a:avLst>
              <a:gd name="adj" fmla="val 44444"/>
            </a:avLst>
          </a:prstGeom>
          <a:solidFill>
            <a:srgbClr val="9CA3AF"/>
          </a:solidFill>
          <a:ln w="12700">
            <a:solidFill>
              <a:srgbClr val="9CA3AF"/>
            </a:solidFill>
            <a:prstDash val="solid"/>
          </a:ln>
        </p:spPr>
      </p:sp>
      <p:sp>
        <p:nvSpPr>
          <p:cNvPr id="24" name="Shape 21"/>
          <p:cNvSpPr/>
          <p:nvPr/>
        </p:nvSpPr>
        <p:spPr>
          <a:xfrm>
            <a:off x="1677010" y="1746504"/>
            <a:ext cx="0" cy="155448"/>
          </a:xfrm>
          <a:prstGeom prst="line">
            <a:avLst/>
          </a:prstGeom>
          <a:noFill/>
          <a:ln w="25400">
            <a:solidFill>
              <a:srgbClr val="E8772E"/>
            </a:solidFill>
            <a:prstDash val="solid"/>
          </a:ln>
        </p:spPr>
      </p:sp>
      <p:sp>
        <p:nvSpPr>
          <p:cNvPr id="25" name="Text 22"/>
          <p:cNvSpPr txBox="1"/>
          <p:nvPr/>
        </p:nvSpPr>
        <p:spPr>
          <a:xfrm>
            <a:off x="384048" y="1920240"/>
            <a:ext cx="1874520" cy="411480"/>
          </a:xfrm>
          <a:prstGeom prst="rect">
            <a:avLst/>
          </a:prstGeom>
          <a:noFill/>
          <a:ln/>
        </p:spPr>
        <p:txBody>
          <a:bodyPr wrap="square" lIns="0" tIns="0" rIns="0" bIns="0" rtlCol="0" anchor="t"/>
          <a:lstStyle/>
          <a:p>
            <a:pPr indent="0" marL="0">
              <a:buNone/>
            </a:pPr>
            <a:r>
              <a:rPr lang="en-US" sz="800" dirty="0">
                <a:solidFill>
                  <a:srgbClr val="1F2937"/>
                </a:solidFill>
                <a:latin typeface="Calibri" pitchFamily="34" charset="0"/>
                <a:ea typeface="Calibri" pitchFamily="34" charset="-122"/>
                <a:cs typeface="Calibri" pitchFamily="34" charset="-120"/>
              </a:rPr>
              <a:t>CAG found 41% placed; 70% is the GIA target. Courses that fit close the gap.</a:t>
            </a:r>
            <a:endParaRPr lang="en-US" sz="800" dirty="0"/>
          </a:p>
        </p:txBody>
      </p:sp>
      <p:sp>
        <p:nvSpPr>
          <p:cNvPr id="26" name="Text 23"/>
          <p:cNvSpPr txBox="1"/>
          <p:nvPr/>
        </p:nvSpPr>
        <p:spPr>
          <a:xfrm>
            <a:off x="384048" y="2340864"/>
            <a:ext cx="1874520" cy="146304"/>
          </a:xfrm>
          <a:prstGeom prst="rect">
            <a:avLst/>
          </a:prstGeom>
          <a:noFill/>
          <a:ln/>
        </p:spPr>
        <p:txBody>
          <a:bodyPr wrap="square" lIns="0" tIns="0" rIns="0" bIns="0" rtlCol="0" anchor="t"/>
          <a:lstStyle/>
          <a:p>
            <a:pPr indent="0" marL="0">
              <a:buNone/>
            </a:pPr>
            <a:r>
              <a:rPr lang="en-US" sz="700" dirty="0">
                <a:solidFill>
                  <a:srgbClr val="6B7280"/>
                </a:solidFill>
                <a:latin typeface="Calibri" pitchFamily="34" charset="0"/>
                <a:ea typeface="Calibri" pitchFamily="34" charset="-122"/>
                <a:cs typeface="Calibri" pitchFamily="34" charset="-120"/>
              </a:rPr>
              <a:t>CAG 2025 [S5] · PM-AJAY [S4]</a:t>
            </a:r>
            <a:endParaRPr lang="en-US" sz="700" dirty="0"/>
          </a:p>
        </p:txBody>
      </p:sp>
      <p:sp>
        <p:nvSpPr>
          <p:cNvPr id="27" name="Shape 24"/>
          <p:cNvSpPr/>
          <p:nvPr/>
        </p:nvSpPr>
        <p:spPr>
          <a:xfrm>
            <a:off x="2441448" y="1152144"/>
            <a:ext cx="2075688" cy="1371600"/>
          </a:xfrm>
          <a:prstGeom prst="roundRect">
            <a:avLst>
              <a:gd name="adj" fmla="val 5333"/>
            </a:avLst>
          </a:prstGeom>
          <a:solidFill>
            <a:srgbClr val="E6F4F1"/>
          </a:solidFill>
          <a:ln w="12700">
            <a:solidFill>
              <a:srgbClr val="E6F4F1"/>
            </a:solidFill>
            <a:prstDash val="solid"/>
          </a:ln>
          <a:effectLst>
            <a:outerShdw sx="100000" sy="100000" kx="0" ky="0" algn="bl" rotWithShape="0" blurRad="50800" dist="19050" dir="5400000">
              <a:srgbClr val="000000">
                <a:alpha val="12000"/>
              </a:srgbClr>
            </a:outerShdw>
          </a:effectLst>
        </p:spPr>
      </p:sp>
      <p:sp>
        <p:nvSpPr>
          <p:cNvPr id="28" name="Text 25"/>
          <p:cNvSpPr txBox="1"/>
          <p:nvPr/>
        </p:nvSpPr>
        <p:spPr>
          <a:xfrm>
            <a:off x="2551176" y="1207008"/>
            <a:ext cx="1874520" cy="365760"/>
          </a:xfrm>
          <a:prstGeom prst="rect">
            <a:avLst/>
          </a:prstGeom>
          <a:noFill/>
          <a:ln/>
        </p:spPr>
        <p:txBody>
          <a:bodyPr wrap="square" lIns="0" tIns="0" rIns="0" bIns="0" rtlCol="0" anchor="ctr"/>
          <a:lstStyle/>
          <a:p>
            <a:pPr indent="0" marL="0">
              <a:buNone/>
            </a:pPr>
            <a:r>
              <a:rPr lang="en-US" sz="2100" b="1" dirty="0">
                <a:solidFill>
                  <a:srgbClr val="0F766E"/>
                </a:solidFill>
                <a:latin typeface="Calibri" pitchFamily="34" charset="0"/>
                <a:ea typeface="Calibri" pitchFamily="34" charset="-122"/>
                <a:cs typeface="Calibri" pitchFamily="34" charset="-120"/>
              </a:rPr>
              <a:t>62% → 73%</a:t>
            </a:r>
            <a:endParaRPr lang="en-US" sz="2100" dirty="0"/>
          </a:p>
        </p:txBody>
      </p:sp>
      <p:sp>
        <p:nvSpPr>
          <p:cNvPr id="29" name="Text 26"/>
          <p:cNvSpPr txBox="1"/>
          <p:nvPr/>
        </p:nvSpPr>
        <p:spPr>
          <a:xfrm>
            <a:off x="2551176" y="1572768"/>
            <a:ext cx="1874520" cy="164592"/>
          </a:xfrm>
          <a:prstGeom prst="rect">
            <a:avLst/>
          </a:prstGeom>
          <a:noFill/>
          <a:ln/>
        </p:spPr>
        <p:txBody>
          <a:bodyPr wrap="square" lIns="0" tIns="0" rIns="0" bIns="0" rtlCol="0" anchor="t"/>
          <a:lstStyle/>
          <a:p>
            <a:pPr indent="0" marL="0">
              <a:buNone/>
            </a:pPr>
            <a:r>
              <a:rPr lang="en-US" sz="900" b="1" dirty="0">
                <a:solidFill>
                  <a:srgbClr val="1B2A4A"/>
                </a:solidFill>
                <a:latin typeface="Calibri" pitchFamily="34" charset="0"/>
                <a:ea typeface="Calibri" pitchFamily="34" charset="-122"/>
                <a:cs typeface="Calibri" pitchFamily="34" charset="-120"/>
              </a:rPr>
              <a:t>stay in the job</a:t>
            </a:r>
            <a:endParaRPr lang="en-US" sz="900" dirty="0"/>
          </a:p>
        </p:txBody>
      </p:sp>
      <p:sp>
        <p:nvSpPr>
          <p:cNvPr id="30" name="Shape 27"/>
          <p:cNvSpPr/>
          <p:nvPr/>
        </p:nvSpPr>
        <p:spPr>
          <a:xfrm>
            <a:off x="2551176" y="1783080"/>
            <a:ext cx="1847088" cy="82296"/>
          </a:xfrm>
          <a:prstGeom prst="roundRect">
            <a:avLst>
              <a:gd name="adj" fmla="val 44444"/>
            </a:avLst>
          </a:prstGeom>
          <a:solidFill>
            <a:srgbClr val="FFFFFF"/>
          </a:solidFill>
          <a:ln w="12700">
            <a:solidFill>
              <a:srgbClr val="FFFFFF"/>
            </a:solidFill>
            <a:prstDash val="solid"/>
          </a:ln>
        </p:spPr>
      </p:sp>
      <p:sp>
        <p:nvSpPr>
          <p:cNvPr id="31" name="Shape 28"/>
          <p:cNvSpPr/>
          <p:nvPr/>
        </p:nvSpPr>
        <p:spPr>
          <a:xfrm>
            <a:off x="2551176" y="1783080"/>
            <a:ext cx="1145195" cy="82296"/>
          </a:xfrm>
          <a:prstGeom prst="roundRect">
            <a:avLst>
              <a:gd name="adj" fmla="val 44444"/>
            </a:avLst>
          </a:prstGeom>
          <a:solidFill>
            <a:srgbClr val="9CA3AF"/>
          </a:solidFill>
          <a:ln w="12700">
            <a:solidFill>
              <a:srgbClr val="9CA3AF"/>
            </a:solidFill>
            <a:prstDash val="solid"/>
          </a:ln>
        </p:spPr>
      </p:sp>
      <p:sp>
        <p:nvSpPr>
          <p:cNvPr id="32" name="Shape 29"/>
          <p:cNvSpPr/>
          <p:nvPr/>
        </p:nvSpPr>
        <p:spPr>
          <a:xfrm>
            <a:off x="3899550" y="1746504"/>
            <a:ext cx="0" cy="155448"/>
          </a:xfrm>
          <a:prstGeom prst="line">
            <a:avLst/>
          </a:prstGeom>
          <a:noFill/>
          <a:ln w="25400">
            <a:solidFill>
              <a:srgbClr val="0F766E"/>
            </a:solidFill>
            <a:prstDash val="solid"/>
          </a:ln>
        </p:spPr>
      </p:sp>
      <p:sp>
        <p:nvSpPr>
          <p:cNvPr id="33" name="Text 30"/>
          <p:cNvSpPr txBox="1"/>
          <p:nvPr/>
        </p:nvSpPr>
        <p:spPr>
          <a:xfrm>
            <a:off x="2551176" y="1920240"/>
            <a:ext cx="1874520" cy="411480"/>
          </a:xfrm>
          <a:prstGeom prst="rect">
            <a:avLst/>
          </a:prstGeom>
          <a:noFill/>
          <a:ln/>
        </p:spPr>
        <p:txBody>
          <a:bodyPr wrap="square" lIns="0" tIns="0" rIns="0" bIns="0" rtlCol="0" anchor="t"/>
          <a:lstStyle/>
          <a:p>
            <a:pPr indent="0" marL="0">
              <a:buNone/>
            </a:pPr>
            <a:r>
              <a:rPr lang="en-US" sz="800" dirty="0">
                <a:solidFill>
                  <a:srgbClr val="1F2937"/>
                </a:solidFill>
                <a:latin typeface="Calibri" pitchFamily="34" charset="0"/>
                <a:ea typeface="Calibri" pitchFamily="34" charset="-122"/>
                <a:cs typeface="Calibri" pitchFamily="34" charset="-120"/>
              </a:rPr>
              <a:t>when trainees hear real pay and place before joining; HunarMarg says it on the call.</a:t>
            </a:r>
            <a:endParaRPr lang="en-US" sz="800" dirty="0"/>
          </a:p>
        </p:txBody>
      </p:sp>
      <p:sp>
        <p:nvSpPr>
          <p:cNvPr id="34" name="Text 31"/>
          <p:cNvSpPr txBox="1"/>
          <p:nvPr/>
        </p:nvSpPr>
        <p:spPr>
          <a:xfrm>
            <a:off x="2551176" y="2340864"/>
            <a:ext cx="1874520" cy="146304"/>
          </a:xfrm>
          <a:prstGeom prst="rect">
            <a:avLst/>
          </a:prstGeom>
          <a:noFill/>
          <a:ln/>
        </p:spPr>
        <p:txBody>
          <a:bodyPr wrap="square" lIns="0" tIns="0" rIns="0" bIns="0" rtlCol="0" anchor="t"/>
          <a:lstStyle/>
          <a:p>
            <a:pPr indent="0" marL="0">
              <a:buNone/>
            </a:pPr>
            <a:r>
              <a:rPr lang="en-US" sz="700" dirty="0">
                <a:solidFill>
                  <a:srgbClr val="6B7280"/>
                </a:solidFill>
                <a:latin typeface="Calibri" pitchFamily="34" charset="0"/>
                <a:ea typeface="Calibri" pitchFamily="34" charset="-122"/>
                <a:cs typeface="Calibri" pitchFamily="34" charset="-120"/>
              </a:rPr>
              <a:t>J-PAL field trial [S13]</a:t>
            </a:r>
            <a:endParaRPr lang="en-US" sz="700" dirty="0"/>
          </a:p>
        </p:txBody>
      </p:sp>
      <p:sp>
        <p:nvSpPr>
          <p:cNvPr id="35" name="Shape 32"/>
          <p:cNvSpPr/>
          <p:nvPr/>
        </p:nvSpPr>
        <p:spPr>
          <a:xfrm>
            <a:off x="4608576" y="1152144"/>
            <a:ext cx="2075688" cy="1371600"/>
          </a:xfrm>
          <a:prstGeom prst="roundRect">
            <a:avLst>
              <a:gd name="adj" fmla="val 5333"/>
            </a:avLst>
          </a:prstGeom>
          <a:solidFill>
            <a:srgbClr val="EAF0FB"/>
          </a:solidFill>
          <a:ln w="12700">
            <a:solidFill>
              <a:srgbClr val="EAF0FB"/>
            </a:solidFill>
            <a:prstDash val="solid"/>
          </a:ln>
          <a:effectLst>
            <a:outerShdw sx="100000" sy="100000" kx="0" ky="0" algn="bl" rotWithShape="0" blurRad="50800" dist="19050" dir="5400000">
              <a:srgbClr val="000000">
                <a:alpha val="12000"/>
              </a:srgbClr>
            </a:outerShdw>
          </a:effectLst>
        </p:spPr>
      </p:sp>
      <p:sp>
        <p:nvSpPr>
          <p:cNvPr id="36" name="Text 33"/>
          <p:cNvSpPr txBox="1"/>
          <p:nvPr/>
        </p:nvSpPr>
        <p:spPr>
          <a:xfrm>
            <a:off x="4718304" y="1207008"/>
            <a:ext cx="1874520" cy="365760"/>
          </a:xfrm>
          <a:prstGeom prst="rect">
            <a:avLst/>
          </a:prstGeom>
          <a:noFill/>
          <a:ln/>
        </p:spPr>
        <p:txBody>
          <a:bodyPr wrap="square" lIns="0" tIns="0" rIns="0" bIns="0" rtlCol="0" anchor="ctr"/>
          <a:lstStyle/>
          <a:p>
            <a:pPr indent="0" marL="0">
              <a:buNone/>
            </a:pPr>
            <a:r>
              <a:rPr lang="en-US" sz="2100" b="1" dirty="0">
                <a:solidFill>
                  <a:srgbClr val="2F5DA8"/>
                </a:solidFill>
                <a:latin typeface="Calibri" pitchFamily="34" charset="0"/>
                <a:ea typeface="Calibri" pitchFamily="34" charset="-122"/>
                <a:cs typeface="Calibri" pitchFamily="34" charset="-120"/>
              </a:rPr>
              <a:t>109 min</a:t>
            </a:r>
            <a:endParaRPr lang="en-US" sz="2100" dirty="0"/>
          </a:p>
        </p:txBody>
      </p:sp>
      <p:sp>
        <p:nvSpPr>
          <p:cNvPr id="37" name="Text 34"/>
          <p:cNvSpPr txBox="1"/>
          <p:nvPr/>
        </p:nvSpPr>
        <p:spPr>
          <a:xfrm>
            <a:off x="4718304" y="1572768"/>
            <a:ext cx="1874520" cy="164592"/>
          </a:xfrm>
          <a:prstGeom prst="rect">
            <a:avLst/>
          </a:prstGeom>
          <a:noFill/>
          <a:ln/>
        </p:spPr>
        <p:txBody>
          <a:bodyPr wrap="square" lIns="0" tIns="0" rIns="0" bIns="0" rtlCol="0" anchor="t"/>
          <a:lstStyle/>
          <a:p>
            <a:pPr indent="0" marL="0">
              <a:buNone/>
            </a:pPr>
            <a:r>
              <a:rPr lang="en-US" sz="900" b="1" dirty="0">
                <a:solidFill>
                  <a:srgbClr val="1B2A4A"/>
                </a:solidFill>
                <a:latin typeface="Calibri" pitchFamily="34" charset="0"/>
                <a:ea typeface="Calibri" pitchFamily="34" charset="-122"/>
                <a:cs typeface="Calibri" pitchFamily="34" charset="-120"/>
              </a:rPr>
              <a:t>officer time saved per person</a:t>
            </a:r>
            <a:endParaRPr lang="en-US" sz="900" dirty="0"/>
          </a:p>
        </p:txBody>
      </p:sp>
      <p:sp>
        <p:nvSpPr>
          <p:cNvPr id="38" name="Text 35"/>
          <p:cNvSpPr txBox="1"/>
          <p:nvPr/>
        </p:nvSpPr>
        <p:spPr>
          <a:xfrm>
            <a:off x="4718304" y="1783080"/>
            <a:ext cx="1874520" cy="411480"/>
          </a:xfrm>
          <a:prstGeom prst="rect">
            <a:avLst/>
          </a:prstGeom>
          <a:noFill/>
          <a:ln/>
        </p:spPr>
        <p:txBody>
          <a:bodyPr wrap="square" lIns="0" tIns="0" rIns="0" bIns="0" rtlCol="0" anchor="t"/>
          <a:lstStyle/>
          <a:p>
            <a:pPr indent="0" marL="0">
              <a:buNone/>
            </a:pPr>
            <a:r>
              <a:rPr lang="en-US" sz="800" dirty="0">
                <a:solidFill>
                  <a:srgbClr val="1F2937"/>
                </a:solidFill>
                <a:latin typeface="Calibri" pitchFamily="34" charset="0"/>
                <a:ea typeface="Calibri" pitchFamily="34" charset="-122"/>
                <a:cs typeface="Calibri" pitchFamily="34" charset="-120"/>
              </a:rPr>
              <a:t>≈ 52 staff-years a year: the AI writes the profile, officers approve.</a:t>
            </a:r>
            <a:endParaRPr lang="en-US" sz="800" dirty="0"/>
          </a:p>
        </p:txBody>
      </p:sp>
      <p:sp>
        <p:nvSpPr>
          <p:cNvPr id="39" name="Text 36"/>
          <p:cNvSpPr txBox="1"/>
          <p:nvPr/>
        </p:nvSpPr>
        <p:spPr>
          <a:xfrm>
            <a:off x="4718304" y="2340864"/>
            <a:ext cx="1874520" cy="146304"/>
          </a:xfrm>
          <a:prstGeom prst="rect">
            <a:avLst/>
          </a:prstGeom>
          <a:noFill/>
          <a:ln/>
        </p:spPr>
        <p:txBody>
          <a:bodyPr wrap="square" lIns="0" tIns="0" rIns="0" bIns="0" rtlCol="0" anchor="t"/>
          <a:lstStyle/>
          <a:p>
            <a:pPr indent="0" marL="0">
              <a:buNone/>
            </a:pPr>
            <a:r>
              <a:rPr lang="en-US" sz="700" dirty="0">
                <a:solidFill>
                  <a:srgbClr val="6B7280"/>
                </a:solidFill>
                <a:latin typeface="Calibri" pitchFamily="34" charset="0"/>
                <a:ea typeface="Calibri" pitchFamily="34" charset="-122"/>
                <a:cs typeface="Calibri" pitchFamily="34" charset="-120"/>
              </a:rPr>
              <a:t>our estimate</a:t>
            </a:r>
            <a:endParaRPr lang="en-US" sz="700" dirty="0"/>
          </a:p>
        </p:txBody>
      </p:sp>
      <p:sp>
        <p:nvSpPr>
          <p:cNvPr id="40" name="Shape 37"/>
          <p:cNvSpPr/>
          <p:nvPr/>
        </p:nvSpPr>
        <p:spPr>
          <a:xfrm>
            <a:off x="6775704" y="1152144"/>
            <a:ext cx="2075688" cy="1371600"/>
          </a:xfrm>
          <a:prstGeom prst="roundRect">
            <a:avLst>
              <a:gd name="adj" fmla="val 5333"/>
            </a:avLst>
          </a:prstGeom>
          <a:solidFill>
            <a:srgbClr val="F1ECFB"/>
          </a:solidFill>
          <a:ln w="12700">
            <a:solidFill>
              <a:srgbClr val="F1ECFB"/>
            </a:solidFill>
            <a:prstDash val="solid"/>
          </a:ln>
          <a:effectLst>
            <a:outerShdw sx="100000" sy="100000" kx="0" ky="0" algn="bl" rotWithShape="0" blurRad="50800" dist="19050" dir="5400000">
              <a:srgbClr val="000000">
                <a:alpha val="12000"/>
              </a:srgbClr>
            </a:outerShdw>
          </a:effectLst>
        </p:spPr>
      </p:sp>
      <p:sp>
        <p:nvSpPr>
          <p:cNvPr id="41" name="Text 38"/>
          <p:cNvSpPr txBox="1"/>
          <p:nvPr/>
        </p:nvSpPr>
        <p:spPr>
          <a:xfrm>
            <a:off x="6885432" y="1207008"/>
            <a:ext cx="1874520" cy="365760"/>
          </a:xfrm>
          <a:prstGeom prst="rect">
            <a:avLst/>
          </a:prstGeom>
          <a:noFill/>
          <a:ln/>
        </p:spPr>
        <p:txBody>
          <a:bodyPr wrap="square" lIns="0" tIns="0" rIns="0" bIns="0" rtlCol="0" anchor="ctr"/>
          <a:lstStyle/>
          <a:p>
            <a:pPr indent="0" marL="0">
              <a:buNone/>
            </a:pPr>
            <a:r>
              <a:rPr lang="en-US" sz="2100" b="1" dirty="0">
                <a:solidFill>
                  <a:srgbClr val="6D4AB8"/>
                </a:solidFill>
                <a:latin typeface="Calibri" pitchFamily="34" charset="0"/>
                <a:ea typeface="Calibri" pitchFamily="34" charset="-122"/>
                <a:cs typeface="Calibri" pitchFamily="34" charset="-120"/>
              </a:rPr>
              <a:t>₹44,136</a:t>
            </a:r>
            <a:endParaRPr lang="en-US" sz="2100" dirty="0"/>
          </a:p>
        </p:txBody>
      </p:sp>
      <p:sp>
        <p:nvSpPr>
          <p:cNvPr id="42" name="Text 39"/>
          <p:cNvSpPr txBox="1"/>
          <p:nvPr/>
        </p:nvSpPr>
        <p:spPr>
          <a:xfrm>
            <a:off x="6885432" y="1572768"/>
            <a:ext cx="1874520" cy="164592"/>
          </a:xfrm>
          <a:prstGeom prst="rect">
            <a:avLst/>
          </a:prstGeom>
          <a:noFill/>
          <a:ln/>
        </p:spPr>
        <p:txBody>
          <a:bodyPr wrap="square" lIns="0" tIns="0" rIns="0" bIns="0" rtlCol="0" anchor="t"/>
          <a:lstStyle/>
          <a:p>
            <a:pPr indent="0" marL="0">
              <a:buNone/>
            </a:pPr>
            <a:r>
              <a:rPr lang="en-US" sz="900" b="1" dirty="0">
                <a:solidFill>
                  <a:srgbClr val="1B2A4A"/>
                </a:solidFill>
                <a:latin typeface="Calibri" pitchFamily="34" charset="0"/>
                <a:ea typeface="Calibri" pitchFamily="34" charset="-122"/>
                <a:cs typeface="Calibri" pitchFamily="34" charset="-120"/>
              </a:rPr>
              <a:t>saved on one loan</a:t>
            </a:r>
            <a:endParaRPr lang="en-US" sz="900" dirty="0"/>
          </a:p>
        </p:txBody>
      </p:sp>
      <p:sp>
        <p:nvSpPr>
          <p:cNvPr id="43" name="Text 40"/>
          <p:cNvSpPr txBox="1"/>
          <p:nvPr/>
        </p:nvSpPr>
        <p:spPr>
          <a:xfrm>
            <a:off x="6885432" y="1783080"/>
            <a:ext cx="1874520" cy="411480"/>
          </a:xfrm>
          <a:prstGeom prst="rect">
            <a:avLst/>
          </a:prstGeom>
          <a:noFill/>
          <a:ln/>
        </p:spPr>
        <p:txBody>
          <a:bodyPr wrap="square" lIns="0" tIns="0" rIns="0" bIns="0" rtlCol="0" anchor="t"/>
          <a:lstStyle/>
          <a:p>
            <a:pPr indent="0" marL="0">
              <a:buNone/>
            </a:pPr>
            <a:r>
              <a:rPr lang="en-US" sz="800" dirty="0">
                <a:solidFill>
                  <a:srgbClr val="1F2937"/>
                </a:solidFill>
                <a:latin typeface="Calibri" pitchFamily="34" charset="0"/>
                <a:ea typeface="Calibri" pitchFamily="34" charset="-122"/>
                <a:cs typeface="Calibri" pitchFamily="34" charset="-120"/>
              </a:rPr>
              <a:t>on a woman's ₹80,000 tailoring unit, with the right grant + loan path.</a:t>
            </a:r>
            <a:endParaRPr lang="en-US" sz="800" dirty="0"/>
          </a:p>
        </p:txBody>
      </p:sp>
      <p:sp>
        <p:nvSpPr>
          <p:cNvPr id="44" name="Text 41"/>
          <p:cNvSpPr txBox="1"/>
          <p:nvPr/>
        </p:nvSpPr>
        <p:spPr>
          <a:xfrm>
            <a:off x="6885432" y="2340864"/>
            <a:ext cx="1874520" cy="146304"/>
          </a:xfrm>
          <a:prstGeom prst="rect">
            <a:avLst/>
          </a:prstGeom>
          <a:noFill/>
          <a:ln/>
        </p:spPr>
        <p:txBody>
          <a:bodyPr wrap="square" lIns="0" tIns="0" rIns="0" bIns="0" rtlCol="0" anchor="t"/>
          <a:lstStyle/>
          <a:p>
            <a:pPr indent="0" marL="0">
              <a:buNone/>
            </a:pPr>
            <a:r>
              <a:rPr lang="en-US" sz="700" dirty="0">
                <a:solidFill>
                  <a:srgbClr val="6B7280"/>
                </a:solidFill>
                <a:latin typeface="Calibri" pitchFamily="34" charset="0"/>
                <a:ea typeface="Calibri" pitchFamily="34" charset="-122"/>
                <a:cs typeface="Calibri" pitchFamily="34" charset="-120"/>
              </a:rPr>
              <a:t>our calculation</a:t>
            </a:r>
            <a:endParaRPr lang="en-US" sz="700" dirty="0"/>
          </a:p>
        </p:txBody>
      </p:sp>
      <p:sp>
        <p:nvSpPr>
          <p:cNvPr id="45" name="Shape 42"/>
          <p:cNvSpPr/>
          <p:nvPr/>
        </p:nvSpPr>
        <p:spPr>
          <a:xfrm>
            <a:off x="274320" y="2633472"/>
            <a:ext cx="8595360" cy="384048"/>
          </a:xfrm>
          <a:prstGeom prst="roundRect">
            <a:avLst>
              <a:gd name="adj" fmla="val 19048"/>
            </a:avLst>
          </a:prstGeom>
          <a:solidFill>
            <a:srgbClr val="F5F6F8"/>
          </a:solidFill>
          <a:ln w="12700">
            <a:solidFill>
              <a:srgbClr val="F5F6F8"/>
            </a:solidFill>
            <a:prstDash val="solid"/>
          </a:ln>
        </p:spPr>
      </p:sp>
      <p:sp>
        <p:nvSpPr>
          <p:cNvPr id="46" name="Shape 43"/>
          <p:cNvSpPr/>
          <p:nvPr/>
        </p:nvSpPr>
        <p:spPr>
          <a:xfrm>
            <a:off x="365760" y="2679192"/>
            <a:ext cx="292608" cy="292608"/>
          </a:xfrm>
          <a:prstGeom prst="ellipse">
            <a:avLst/>
          </a:prstGeom>
          <a:solidFill>
            <a:srgbClr val="1B2A4A"/>
          </a:solidFill>
          <a:ln w="12700">
            <a:solidFill>
              <a:srgbClr val="1B2A4A"/>
            </a:solidFill>
            <a:prstDash val="solid"/>
          </a:ln>
        </p:spPr>
      </p:sp>
      <p:pic>
        <p:nvPicPr>
          <p:cNvPr id="47" name="Image 1" descr="preencoded.png">    </p:cNvPr>
          <p:cNvPicPr>
            <a:picLocks noChangeAspect="1"/>
          </p:cNvPicPr>
          <p:nvPr/>
        </p:nvPicPr>
        <p:blipFill>
          <a:blip r:embed="rId2"/>
          <a:stretch>
            <a:fillRect/>
          </a:stretch>
        </p:blipFill>
        <p:spPr>
          <a:xfrm>
            <a:off x="435986" y="2749418"/>
            <a:ext cx="152156" cy="152156"/>
          </a:xfrm>
          <a:prstGeom prst="rect">
            <a:avLst/>
          </a:prstGeom>
        </p:spPr>
      </p:pic>
      <p:sp>
        <p:nvSpPr>
          <p:cNvPr id="48" name="Text 44"/>
          <p:cNvSpPr txBox="1"/>
          <p:nvPr/>
        </p:nvSpPr>
        <p:spPr>
          <a:xfrm>
            <a:off x="777240" y="2633472"/>
            <a:ext cx="8046720" cy="384048"/>
          </a:xfrm>
          <a:prstGeom prst="rect">
            <a:avLst/>
          </a:prstGeom>
          <a:noFill/>
          <a:ln/>
        </p:spPr>
        <p:txBody>
          <a:bodyPr wrap="square" lIns="0" tIns="0" rIns="0" bIns="0" rtlCol="0" anchor="ctr"/>
          <a:lstStyle/>
          <a:p>
            <a:pPr indent="0" marL="0">
              <a:buNone/>
            </a:pPr>
            <a:r>
              <a:rPr lang="en-US" sz="1300" b="1" dirty="0">
                <a:solidFill>
                  <a:srgbClr val="E8772E"/>
                </a:solidFill>
                <a:latin typeface="Calibri" pitchFamily="34" charset="0"/>
                <a:ea typeface="Calibri" pitchFamily="34" charset="-122"/>
                <a:cs typeface="Calibri" pitchFamily="34" charset="-120"/>
              </a:rPr>
              <a:t>~50,000</a:t>
            </a:r>
            <a:pPr indent="0" marL="0">
              <a:buNone/>
            </a:pPr>
            <a:r>
              <a:rPr lang="en-US" sz="950" dirty="0">
                <a:solidFill>
                  <a:srgbClr val="1F2937"/>
                </a:solidFill>
                <a:latin typeface="Calibri" pitchFamily="34" charset="0"/>
                <a:ea typeface="Calibri" pitchFamily="34" charset="-122"/>
                <a:cs typeface="Calibri" pitchFamily="34" charset="-120"/>
              </a:rPr>
              <a:t> GIA beneficiaries a year [S3]      </a:t>
            </a:r>
            <a:pPr indent="0" marL="0">
              <a:buNone/>
            </a:pPr>
            <a:r>
              <a:rPr lang="en-US" sz="1300" b="1" dirty="0">
                <a:solidFill>
                  <a:srgbClr val="E8772E"/>
                </a:solidFill>
                <a:latin typeface="Calibri" pitchFamily="34" charset="0"/>
                <a:ea typeface="Calibri" pitchFamily="34" charset="-122"/>
                <a:cs typeface="Calibri" pitchFamily="34" charset="-120"/>
              </a:rPr>
              <a:t>47,000+</a:t>
            </a:r>
            <a:pPr indent="0" marL="0">
              <a:buNone/>
            </a:pPr>
            <a:r>
              <a:rPr lang="en-US" sz="950" dirty="0">
                <a:solidFill>
                  <a:srgbClr val="1F2937"/>
                </a:solidFill>
                <a:latin typeface="Calibri" pitchFamily="34" charset="0"/>
                <a:ea typeface="Calibri" pitchFamily="34" charset="-122"/>
                <a:cs typeface="Calibri" pitchFamily="34" charset="-120"/>
              </a:rPr>
              <a:t> SC-majority villages already on the PM-AJAY dashboard [S10]</a:t>
            </a:r>
            <a:endParaRPr lang="en-US" sz="950" dirty="0"/>
          </a:p>
        </p:txBody>
      </p:sp>
      <p:sp>
        <p:nvSpPr>
          <p:cNvPr id="49" name="Text 45"/>
          <p:cNvSpPr txBox="1"/>
          <p:nvPr/>
        </p:nvSpPr>
        <p:spPr>
          <a:xfrm>
            <a:off x="274320" y="3127248"/>
            <a:ext cx="8595360" cy="219456"/>
          </a:xfrm>
          <a:prstGeom prst="rect">
            <a:avLst/>
          </a:prstGeom>
          <a:noFill/>
          <a:ln/>
        </p:spPr>
        <p:txBody>
          <a:bodyPr wrap="square" lIns="0" tIns="0" rIns="0" bIns="0" rtlCol="0" anchor="ctr"/>
          <a:lstStyle/>
          <a:p>
            <a:pPr indent="0" marL="0">
              <a:buNone/>
            </a:pPr>
            <a:r>
              <a:rPr lang="en-US" sz="1050" b="1" spc="150" kern="0" dirty="0">
                <a:solidFill>
                  <a:srgbClr val="0F766E"/>
                </a:solidFill>
                <a:latin typeface="Calibri" pitchFamily="34" charset="0"/>
                <a:ea typeface="Calibri" pitchFamily="34" charset="-122"/>
                <a:cs typeface="Calibri" pitchFamily="34" charset="-120"/>
              </a:rPr>
              <a:t>WHO GAINS WHAT</a:t>
            </a:r>
            <a:pPr indent="0" marL="0">
              <a:buNone/>
            </a:pPr>
            <a:r>
              <a:rPr lang="en-US" sz="1050" i="1" dirty="0">
                <a:solidFill>
                  <a:srgbClr val="6B7280"/>
                </a:solidFill>
                <a:latin typeface="Calibri" pitchFamily="34" charset="0"/>
                <a:ea typeface="Calibri" pitchFamily="34" charset="-122"/>
                <a:cs typeface="Calibri" pitchFamily="34" charset="-120"/>
              </a:rPr>
              <a:t>   social · economic · governance · environment</a:t>
            </a:r>
            <a:endParaRPr lang="en-US" sz="1050" dirty="0"/>
          </a:p>
        </p:txBody>
      </p:sp>
      <p:sp>
        <p:nvSpPr>
          <p:cNvPr id="50" name="Shape 46"/>
          <p:cNvSpPr/>
          <p:nvPr/>
        </p:nvSpPr>
        <p:spPr>
          <a:xfrm>
            <a:off x="274320" y="3383280"/>
            <a:ext cx="2075688" cy="1325880"/>
          </a:xfrm>
          <a:prstGeom prst="roundRect">
            <a:avLst>
              <a:gd name="adj" fmla="val 5517"/>
            </a:avLst>
          </a:prstGeom>
          <a:solidFill>
            <a:srgbClr val="FFFFFF"/>
          </a:solidFill>
          <a:ln w="9525">
            <a:solidFill>
              <a:srgbClr val="E5E7EB"/>
            </a:solidFill>
            <a:prstDash val="solid"/>
          </a:ln>
          <a:effectLst>
            <a:outerShdw sx="100000" sy="100000" kx="0" ky="0" algn="bl" rotWithShape="0" blurRad="50800" dist="19050" dir="5400000">
              <a:srgbClr val="000000">
                <a:alpha val="12000"/>
              </a:srgbClr>
            </a:outerShdw>
          </a:effectLst>
        </p:spPr>
      </p:sp>
      <p:sp>
        <p:nvSpPr>
          <p:cNvPr id="51" name="Shape 47"/>
          <p:cNvSpPr/>
          <p:nvPr/>
        </p:nvSpPr>
        <p:spPr>
          <a:xfrm>
            <a:off x="384048" y="3474720"/>
            <a:ext cx="384048" cy="384048"/>
          </a:xfrm>
          <a:prstGeom prst="ellipse">
            <a:avLst/>
          </a:prstGeom>
          <a:solidFill>
            <a:srgbClr val="E8772E"/>
          </a:solidFill>
          <a:ln w="12700">
            <a:solidFill>
              <a:srgbClr val="E8772E"/>
            </a:solidFill>
            <a:prstDash val="solid"/>
          </a:ln>
        </p:spPr>
      </p:sp>
      <p:pic>
        <p:nvPicPr>
          <p:cNvPr id="52" name="Image 2" descr="preencoded.png">    </p:cNvPr>
          <p:cNvPicPr>
            <a:picLocks noChangeAspect="1"/>
          </p:cNvPicPr>
          <p:nvPr/>
        </p:nvPicPr>
        <p:blipFill>
          <a:blip r:embed="rId3"/>
          <a:stretch>
            <a:fillRect/>
          </a:stretch>
        </p:blipFill>
        <p:spPr>
          <a:xfrm>
            <a:off x="476220" y="3566892"/>
            <a:ext cx="199705" cy="199705"/>
          </a:xfrm>
          <a:prstGeom prst="rect">
            <a:avLst/>
          </a:prstGeom>
        </p:spPr>
      </p:pic>
      <p:sp>
        <p:nvSpPr>
          <p:cNvPr id="53" name="Text 48"/>
          <p:cNvSpPr txBox="1"/>
          <p:nvPr/>
        </p:nvSpPr>
        <p:spPr>
          <a:xfrm>
            <a:off x="841248" y="3474720"/>
            <a:ext cx="1463040" cy="384048"/>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Social</a:t>
            </a:r>
            <a:endParaRPr lang="en-US" sz="1100" dirty="0"/>
          </a:p>
          <a:p>
            <a:pPr indent="0" marL="0">
              <a:buNone/>
            </a:pPr>
            <a:r>
              <a:rPr lang="en-US" sz="800" i="1" dirty="0">
                <a:solidFill>
                  <a:srgbClr val="E8772E"/>
                </a:solidFill>
                <a:latin typeface="Calibri" pitchFamily="34" charset="0"/>
                <a:ea typeface="Calibri" pitchFamily="34" charset="-122"/>
                <a:cs typeface="Calibri" pitchFamily="34" charset="-120"/>
              </a:rPr>
              <a:t>SC families, women, non-readers</a:t>
            </a:r>
            <a:endParaRPr lang="en-US" sz="1100" dirty="0"/>
          </a:p>
        </p:txBody>
      </p:sp>
      <p:sp>
        <p:nvSpPr>
          <p:cNvPr id="54" name="Text 49"/>
          <p:cNvSpPr txBox="1"/>
          <p:nvPr/>
        </p:nvSpPr>
        <p:spPr>
          <a:xfrm>
            <a:off x="384048" y="3931920"/>
            <a:ext cx="1874520" cy="731520"/>
          </a:xfrm>
          <a:prstGeom prst="rect">
            <a:avLst/>
          </a:prstGeom>
          <a:noFill/>
          <a:ln/>
        </p:spPr>
        <p:txBody>
          <a:bodyPr wrap="square" lIns="0" tIns="0" rIns="0" bIns="0" rtlCol="0" anchor="t"/>
          <a:lstStyle/>
          <a:p>
            <a:pPr indent="0" marL="0">
              <a:buNone/>
            </a:pPr>
            <a:r>
              <a:rPr lang="en-US" sz="850" dirty="0">
                <a:solidFill>
                  <a:srgbClr val="1F2937"/>
                </a:solidFill>
                <a:latin typeface="Calibri" pitchFamily="34" charset="0"/>
                <a:ea typeface="Calibri" pitchFamily="34" charset="-122"/>
                <a:cs typeface="Calibri" pitchFamily="34" charset="-120"/>
              </a:rPr>
              <a:t>Right course the first time, free, in their own language; women-only batches; calls until they earn.</a:t>
            </a:r>
            <a:endParaRPr lang="en-US" sz="850" dirty="0"/>
          </a:p>
        </p:txBody>
      </p:sp>
      <p:sp>
        <p:nvSpPr>
          <p:cNvPr id="55" name="Shape 50"/>
          <p:cNvSpPr/>
          <p:nvPr/>
        </p:nvSpPr>
        <p:spPr>
          <a:xfrm>
            <a:off x="2441448" y="3383280"/>
            <a:ext cx="2075688" cy="1325880"/>
          </a:xfrm>
          <a:prstGeom prst="roundRect">
            <a:avLst>
              <a:gd name="adj" fmla="val 5517"/>
            </a:avLst>
          </a:prstGeom>
          <a:solidFill>
            <a:srgbClr val="FFFFFF"/>
          </a:solidFill>
          <a:ln w="9525">
            <a:solidFill>
              <a:srgbClr val="E5E7EB"/>
            </a:solidFill>
            <a:prstDash val="solid"/>
          </a:ln>
          <a:effectLst>
            <a:outerShdw sx="100000" sy="100000" kx="0" ky="0" algn="bl" rotWithShape="0" blurRad="50800" dist="19050" dir="5400000">
              <a:srgbClr val="000000">
                <a:alpha val="12000"/>
              </a:srgbClr>
            </a:outerShdw>
          </a:effectLst>
        </p:spPr>
      </p:sp>
      <p:sp>
        <p:nvSpPr>
          <p:cNvPr id="56" name="Shape 51"/>
          <p:cNvSpPr/>
          <p:nvPr/>
        </p:nvSpPr>
        <p:spPr>
          <a:xfrm>
            <a:off x="2551176" y="3474720"/>
            <a:ext cx="384048" cy="384048"/>
          </a:xfrm>
          <a:prstGeom prst="ellipse">
            <a:avLst/>
          </a:prstGeom>
          <a:solidFill>
            <a:srgbClr val="0F766E"/>
          </a:solidFill>
          <a:ln w="12700">
            <a:solidFill>
              <a:srgbClr val="0F766E"/>
            </a:solidFill>
            <a:prstDash val="solid"/>
          </a:ln>
        </p:spPr>
      </p:sp>
      <p:pic>
        <p:nvPicPr>
          <p:cNvPr id="57" name="Image 3" descr="preencoded.png">    </p:cNvPr>
          <p:cNvPicPr>
            <a:picLocks noChangeAspect="1"/>
          </p:cNvPicPr>
          <p:nvPr/>
        </p:nvPicPr>
        <p:blipFill>
          <a:blip r:embed="rId4"/>
          <a:stretch>
            <a:fillRect/>
          </a:stretch>
        </p:blipFill>
        <p:spPr>
          <a:xfrm>
            <a:off x="2643348" y="3566892"/>
            <a:ext cx="199705" cy="199705"/>
          </a:xfrm>
          <a:prstGeom prst="rect">
            <a:avLst/>
          </a:prstGeom>
        </p:spPr>
      </p:pic>
      <p:sp>
        <p:nvSpPr>
          <p:cNvPr id="58" name="Text 52"/>
          <p:cNvSpPr txBox="1"/>
          <p:nvPr/>
        </p:nvSpPr>
        <p:spPr>
          <a:xfrm>
            <a:off x="3008376" y="3474720"/>
            <a:ext cx="1463040" cy="384048"/>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Economic</a:t>
            </a:r>
            <a:endParaRPr lang="en-US" sz="1100" dirty="0"/>
          </a:p>
          <a:p>
            <a:pPr indent="0" marL="0">
              <a:buNone/>
            </a:pPr>
            <a:r>
              <a:rPr lang="en-US" sz="800" i="1" dirty="0">
                <a:solidFill>
                  <a:srgbClr val="0F766E"/>
                </a:solidFill>
                <a:latin typeface="Calibri" pitchFamily="34" charset="0"/>
                <a:ea typeface="Calibri" pitchFamily="34" charset="-122"/>
                <a:cs typeface="Calibri" pitchFamily="34" charset="-120"/>
              </a:rPr>
              <a:t>the Ministry and the trainee</a:t>
            </a:r>
            <a:endParaRPr lang="en-US" sz="1100" dirty="0"/>
          </a:p>
        </p:txBody>
      </p:sp>
      <p:sp>
        <p:nvSpPr>
          <p:cNvPr id="59" name="Text 53"/>
          <p:cNvSpPr txBox="1"/>
          <p:nvPr/>
        </p:nvSpPr>
        <p:spPr>
          <a:xfrm>
            <a:off x="2551176" y="3931920"/>
            <a:ext cx="1874520" cy="731520"/>
          </a:xfrm>
          <a:prstGeom prst="rect">
            <a:avLst/>
          </a:prstGeom>
          <a:noFill/>
          <a:ln/>
        </p:spPr>
        <p:txBody>
          <a:bodyPr wrap="square" lIns="0" tIns="0" rIns="0" bIns="0" rtlCol="0" anchor="t"/>
          <a:lstStyle/>
          <a:p>
            <a:pPr indent="0" marL="0">
              <a:buNone/>
            </a:pPr>
            <a:r>
              <a:rPr lang="en-US" sz="850" dirty="0">
                <a:solidFill>
                  <a:srgbClr val="1F2937"/>
                </a:solidFill>
                <a:latin typeface="Calibri" pitchFamily="34" charset="0"/>
                <a:ea typeface="Calibri" pitchFamily="34" charset="-122"/>
                <a:cs typeface="Calibri" pitchFamily="34" charset="-120"/>
              </a:rPr>
              <a:t>0.24% extra per person makes sure the other 99.76% buys the right course; the cheapest loan path.</a:t>
            </a:r>
            <a:endParaRPr lang="en-US" sz="850" dirty="0"/>
          </a:p>
        </p:txBody>
      </p:sp>
      <p:sp>
        <p:nvSpPr>
          <p:cNvPr id="60" name="Shape 54"/>
          <p:cNvSpPr/>
          <p:nvPr/>
        </p:nvSpPr>
        <p:spPr>
          <a:xfrm>
            <a:off x="4608576" y="3383280"/>
            <a:ext cx="2075688" cy="1325880"/>
          </a:xfrm>
          <a:prstGeom prst="roundRect">
            <a:avLst>
              <a:gd name="adj" fmla="val 5517"/>
            </a:avLst>
          </a:prstGeom>
          <a:solidFill>
            <a:srgbClr val="FFFFFF"/>
          </a:solidFill>
          <a:ln w="9525">
            <a:solidFill>
              <a:srgbClr val="E5E7EB"/>
            </a:solidFill>
            <a:prstDash val="solid"/>
          </a:ln>
          <a:effectLst>
            <a:outerShdw sx="100000" sy="100000" kx="0" ky="0" algn="bl" rotWithShape="0" blurRad="50800" dist="19050" dir="5400000">
              <a:srgbClr val="000000">
                <a:alpha val="12000"/>
              </a:srgbClr>
            </a:outerShdw>
          </a:effectLst>
        </p:spPr>
      </p:sp>
      <p:sp>
        <p:nvSpPr>
          <p:cNvPr id="61" name="Shape 55"/>
          <p:cNvSpPr/>
          <p:nvPr/>
        </p:nvSpPr>
        <p:spPr>
          <a:xfrm>
            <a:off x="4718304" y="3474720"/>
            <a:ext cx="384048" cy="384048"/>
          </a:xfrm>
          <a:prstGeom prst="ellipse">
            <a:avLst/>
          </a:prstGeom>
          <a:solidFill>
            <a:srgbClr val="2F5DA8"/>
          </a:solidFill>
          <a:ln w="12700">
            <a:solidFill>
              <a:srgbClr val="2F5DA8"/>
            </a:solidFill>
            <a:prstDash val="solid"/>
          </a:ln>
        </p:spPr>
      </p:sp>
      <p:pic>
        <p:nvPicPr>
          <p:cNvPr id="62" name="Image 4" descr="preencoded.png">    </p:cNvPr>
          <p:cNvPicPr>
            <a:picLocks noChangeAspect="1"/>
          </p:cNvPicPr>
          <p:nvPr/>
        </p:nvPicPr>
        <p:blipFill>
          <a:blip r:embed="rId5"/>
          <a:stretch>
            <a:fillRect/>
          </a:stretch>
        </p:blipFill>
        <p:spPr>
          <a:xfrm>
            <a:off x="4810476" y="3566892"/>
            <a:ext cx="199705" cy="199705"/>
          </a:xfrm>
          <a:prstGeom prst="rect">
            <a:avLst/>
          </a:prstGeom>
        </p:spPr>
      </p:pic>
      <p:sp>
        <p:nvSpPr>
          <p:cNvPr id="63" name="Text 56"/>
          <p:cNvSpPr txBox="1"/>
          <p:nvPr/>
        </p:nvSpPr>
        <p:spPr>
          <a:xfrm>
            <a:off x="5175504" y="3474720"/>
            <a:ext cx="1463040" cy="384048"/>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Governance</a:t>
            </a:r>
            <a:endParaRPr lang="en-US" sz="1100" dirty="0"/>
          </a:p>
          <a:p>
            <a:pPr indent="0" marL="0">
              <a:buNone/>
            </a:pPr>
            <a:r>
              <a:rPr lang="en-US" sz="800" i="1" dirty="0">
                <a:solidFill>
                  <a:srgbClr val="2F5DA8"/>
                </a:solidFill>
                <a:latin typeface="Calibri" pitchFamily="34" charset="0"/>
                <a:ea typeface="Calibri" pitchFamily="34" charset="-122"/>
                <a:cs typeface="Calibri" pitchFamily="34" charset="-120"/>
              </a:rPr>
              <a:t>officers and CSC operators</a:t>
            </a:r>
            <a:endParaRPr lang="en-US" sz="1100" dirty="0"/>
          </a:p>
        </p:txBody>
      </p:sp>
      <p:sp>
        <p:nvSpPr>
          <p:cNvPr id="64" name="Text 57"/>
          <p:cNvSpPr txBox="1"/>
          <p:nvPr/>
        </p:nvSpPr>
        <p:spPr>
          <a:xfrm>
            <a:off x="4718304" y="3931920"/>
            <a:ext cx="1874520" cy="731520"/>
          </a:xfrm>
          <a:prstGeom prst="rect">
            <a:avLst/>
          </a:prstGeom>
          <a:noFill/>
          <a:ln/>
        </p:spPr>
        <p:txBody>
          <a:bodyPr wrap="square" lIns="0" tIns="0" rIns="0" bIns="0" rtlCol="0" anchor="t"/>
          <a:lstStyle/>
          <a:p>
            <a:pPr indent="0" marL="0">
              <a:buNone/>
            </a:pPr>
            <a:r>
              <a:rPr lang="en-US" sz="850" dirty="0">
                <a:solidFill>
                  <a:srgbClr val="1F2937"/>
                </a:solidFill>
                <a:latin typeface="Calibri" pitchFamily="34" charset="0"/>
                <a:ea typeface="Calibri" pitchFamily="34" charset="-122"/>
                <a:cs typeface="Calibri" pitchFamily="34" charset="-120"/>
              </a:rPr>
              <a:t>Ready profiles, one case record from call to job, block-level demand for the annual plan.</a:t>
            </a:r>
            <a:endParaRPr lang="en-US" sz="850" dirty="0"/>
          </a:p>
        </p:txBody>
      </p:sp>
      <p:sp>
        <p:nvSpPr>
          <p:cNvPr id="65" name="Shape 58"/>
          <p:cNvSpPr/>
          <p:nvPr/>
        </p:nvSpPr>
        <p:spPr>
          <a:xfrm>
            <a:off x="6775704" y="3383280"/>
            <a:ext cx="2075688" cy="1325880"/>
          </a:xfrm>
          <a:prstGeom prst="roundRect">
            <a:avLst>
              <a:gd name="adj" fmla="val 5517"/>
            </a:avLst>
          </a:prstGeom>
          <a:solidFill>
            <a:srgbClr val="FFFFFF"/>
          </a:solidFill>
          <a:ln w="9525">
            <a:solidFill>
              <a:srgbClr val="E5E7EB"/>
            </a:solidFill>
            <a:prstDash val="solid"/>
          </a:ln>
          <a:effectLst>
            <a:outerShdw sx="100000" sy="100000" kx="0" ky="0" algn="bl" rotWithShape="0" blurRad="50800" dist="19050" dir="5400000">
              <a:srgbClr val="000000">
                <a:alpha val="12000"/>
              </a:srgbClr>
            </a:outerShdw>
          </a:effectLst>
        </p:spPr>
      </p:sp>
      <p:sp>
        <p:nvSpPr>
          <p:cNvPr id="66" name="Shape 59"/>
          <p:cNvSpPr/>
          <p:nvPr/>
        </p:nvSpPr>
        <p:spPr>
          <a:xfrm>
            <a:off x="6885432" y="3474720"/>
            <a:ext cx="384048" cy="384048"/>
          </a:xfrm>
          <a:prstGeom prst="ellipse">
            <a:avLst/>
          </a:prstGeom>
          <a:solidFill>
            <a:srgbClr val="15803D"/>
          </a:solidFill>
          <a:ln w="12700">
            <a:solidFill>
              <a:srgbClr val="15803D"/>
            </a:solidFill>
            <a:prstDash val="solid"/>
          </a:ln>
        </p:spPr>
      </p:sp>
      <p:pic>
        <p:nvPicPr>
          <p:cNvPr id="67" name="Image 5" descr="preencoded.png">    </p:cNvPr>
          <p:cNvPicPr>
            <a:picLocks noChangeAspect="1"/>
          </p:cNvPicPr>
          <p:nvPr/>
        </p:nvPicPr>
        <p:blipFill>
          <a:blip r:embed="rId6"/>
          <a:stretch>
            <a:fillRect/>
          </a:stretch>
        </p:blipFill>
        <p:spPr>
          <a:xfrm>
            <a:off x="6977604" y="3566892"/>
            <a:ext cx="199705" cy="199705"/>
          </a:xfrm>
          <a:prstGeom prst="rect">
            <a:avLst/>
          </a:prstGeom>
        </p:spPr>
      </p:pic>
      <p:sp>
        <p:nvSpPr>
          <p:cNvPr id="68" name="Text 60"/>
          <p:cNvSpPr txBox="1"/>
          <p:nvPr/>
        </p:nvSpPr>
        <p:spPr>
          <a:xfrm>
            <a:off x="7342632" y="3474720"/>
            <a:ext cx="1463040" cy="384048"/>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Environment</a:t>
            </a:r>
            <a:endParaRPr lang="en-US" sz="1100" dirty="0"/>
          </a:p>
          <a:p>
            <a:pPr indent="0" marL="0">
              <a:buNone/>
            </a:pPr>
            <a:r>
              <a:rPr lang="en-US" sz="800" i="1" dirty="0">
                <a:solidFill>
                  <a:srgbClr val="15803D"/>
                </a:solidFill>
                <a:latin typeface="Calibri" pitchFamily="34" charset="0"/>
                <a:ea typeface="Calibri" pitchFamily="34" charset="-122"/>
                <a:cs typeface="Calibri" pitchFamily="34" charset="-120"/>
              </a:rPr>
              <a:t>every district office</a:t>
            </a:r>
            <a:endParaRPr lang="en-US" sz="1100" dirty="0"/>
          </a:p>
        </p:txBody>
      </p:sp>
      <p:sp>
        <p:nvSpPr>
          <p:cNvPr id="69" name="Text 61"/>
          <p:cNvSpPr txBox="1"/>
          <p:nvPr/>
        </p:nvSpPr>
        <p:spPr>
          <a:xfrm>
            <a:off x="6885432" y="3931920"/>
            <a:ext cx="1874520" cy="731520"/>
          </a:xfrm>
          <a:prstGeom prst="rect">
            <a:avLst/>
          </a:prstGeom>
          <a:noFill/>
          <a:ln/>
        </p:spPr>
        <p:txBody>
          <a:bodyPr wrap="square" lIns="0" tIns="0" rIns="0" bIns="0" rtlCol="0" anchor="t"/>
          <a:lstStyle/>
          <a:p>
            <a:pPr indent="0" marL="0">
              <a:buNone/>
            </a:pPr>
            <a:r>
              <a:rPr lang="en-US" sz="850" dirty="0">
                <a:solidFill>
                  <a:srgbClr val="1F2937"/>
                </a:solidFill>
                <a:latin typeface="Calibri" pitchFamily="34" charset="0"/>
                <a:ea typeface="Calibri" pitchFamily="34" charset="-122"/>
                <a:cs typeface="Calibri" pitchFamily="34" charset="-120"/>
              </a:rPr>
              <a:t>No paper forms, fewer trips to offices, runs on Indian cloud.</a:t>
            </a:r>
            <a:endParaRPr lang="en-US" sz="850" dirty="0"/>
          </a:p>
        </p:txBody>
      </p:sp>
      <p:sp>
        <p:nvSpPr>
          <p:cNvPr id="70" name="Text 62"/>
          <p:cNvSpPr txBox="1"/>
          <p:nvPr/>
        </p:nvSpPr>
        <p:spPr>
          <a:xfrm>
            <a:off x="2377440" y="4846320"/>
            <a:ext cx="5669280" cy="201168"/>
          </a:xfrm>
          <a:prstGeom prst="rect">
            <a:avLst/>
          </a:prstGeom>
          <a:noFill/>
          <a:ln/>
        </p:spPr>
        <p:txBody>
          <a:bodyPr wrap="square" lIns="0" tIns="0" rIns="0" bIns="0" rtlCol="0" anchor="ctr"/>
          <a:lstStyle/>
          <a:p>
            <a:pPr algn="ctr" indent="0" marL="0">
              <a:buNone/>
            </a:pPr>
            <a:r>
              <a:rPr lang="en-US" sz="850" b="1" dirty="0">
                <a:solidFill>
                  <a:srgbClr val="0F766E"/>
                </a:solidFill>
                <a:latin typeface="Calibri" pitchFamily="34" charset="0"/>
                <a:ea typeface="Calibri" pitchFamily="34" charset="-122"/>
                <a:cs typeface="Calibri" pitchFamily="34" charset="-120"/>
              </a:rPr>
              <a:t>Pilot: 6–8 blocks, ~540 people per group, results in 6 months</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28600" y="146304"/>
            <a:ext cx="1188720" cy="457200"/>
          </a:xfrm>
          <a:prstGeom prst="ellipse">
            <a:avLst/>
          </a:prstGeom>
          <a:solidFill>
            <a:srgbClr val="FFFFFF"/>
          </a:solidFill>
          <a:ln w="15875">
            <a:solidFill>
              <a:srgbClr val="1B2A4A"/>
            </a:solidFill>
            <a:prstDash val="solid"/>
          </a:ln>
        </p:spPr>
      </p:sp>
      <p:sp>
        <p:nvSpPr>
          <p:cNvPr id="3" name="Text 1"/>
          <p:cNvSpPr txBox="1"/>
          <p:nvPr/>
        </p:nvSpPr>
        <p:spPr>
          <a:xfrm>
            <a:off x="228600" y="146304"/>
            <a:ext cx="1188720" cy="457200"/>
          </a:xfrm>
          <a:prstGeom prst="rect">
            <a:avLst/>
          </a:prstGeom>
          <a:noFill/>
          <a:ln/>
        </p:spPr>
        <p:txBody>
          <a:bodyPr wrap="square" lIns="0" tIns="0" rIns="0" bIns="0" rtlCol="0" anchor="ctr"/>
          <a:lstStyle/>
          <a:p>
            <a:pPr algn="ctr" indent="0" marL="0">
              <a:buNone/>
            </a:pPr>
            <a:r>
              <a:rPr lang="en-US" sz="1200" b="1" dirty="0">
                <a:solidFill>
                  <a:srgbClr val="1B2A4A"/>
                </a:solidFill>
                <a:latin typeface="Calibri" pitchFamily="34" charset="0"/>
                <a:ea typeface="Calibri" pitchFamily="34" charset="-122"/>
                <a:cs typeface="Calibri" pitchFamily="34" charset="-120"/>
              </a:rPr>
              <a:t>Cognify</a:t>
            </a:r>
            <a:endParaRPr lang="en-US" sz="1200" dirty="0"/>
          </a:p>
        </p:txBody>
      </p:sp>
      <p:sp>
        <p:nvSpPr>
          <p:cNvPr id="4" name="Text 2"/>
          <p:cNvSpPr txBox="1"/>
          <p:nvPr/>
        </p:nvSpPr>
        <p:spPr>
          <a:xfrm>
            <a:off x="1554480" y="91440"/>
            <a:ext cx="5577840" cy="420624"/>
          </a:xfrm>
          <a:prstGeom prst="rect">
            <a:avLst/>
          </a:prstGeom>
          <a:noFill/>
          <a:ln/>
        </p:spPr>
        <p:txBody>
          <a:bodyPr wrap="square" lIns="0" tIns="0" rIns="0" bIns="0" rtlCol="0" anchor="ctr"/>
          <a:lstStyle/>
          <a:p>
            <a:pPr algn="ctr" indent="0" marL="0">
              <a:buNone/>
            </a:pPr>
            <a:r>
              <a:rPr lang="en-US" sz="2200" b="1" dirty="0">
                <a:solidFill>
                  <a:srgbClr val="1B2A4A"/>
                </a:solidFill>
                <a:latin typeface="Cambria" pitchFamily="34" charset="0"/>
                <a:ea typeface="Cambria" pitchFamily="34" charset="-122"/>
                <a:cs typeface="Cambria" pitchFamily="34" charset="-120"/>
              </a:rPr>
              <a:t>Research and References</a:t>
            </a:r>
            <a:endParaRPr lang="en-US" sz="2200" dirty="0"/>
          </a:p>
        </p:txBody>
      </p:sp>
      <p:sp>
        <p:nvSpPr>
          <p:cNvPr id="5" name="Text 3"/>
          <p:cNvSpPr txBox="1"/>
          <p:nvPr/>
        </p:nvSpPr>
        <p:spPr>
          <a:xfrm>
            <a:off x="1554480" y="502920"/>
            <a:ext cx="5577840" cy="274320"/>
          </a:xfrm>
          <a:prstGeom prst="rect">
            <a:avLst/>
          </a:prstGeom>
          <a:noFill/>
          <a:ln/>
        </p:spPr>
        <p:txBody>
          <a:bodyPr wrap="square" lIns="0" tIns="0" rIns="0" bIns="0" rtlCol="0" anchor="ctr"/>
          <a:lstStyle/>
          <a:p>
            <a:pPr algn="ctr" indent="0" marL="0">
              <a:buNone/>
            </a:pPr>
            <a:r>
              <a:rPr lang="en-US" sz="1050" i="1" dirty="0">
                <a:solidFill>
                  <a:srgbClr val="6B7280"/>
                </a:solidFill>
                <a:latin typeface="Calibri" pitchFamily="34" charset="0"/>
                <a:ea typeface="Calibri" pitchFamily="34" charset="-122"/>
                <a:cs typeface="Calibri" pitchFamily="34" charset="-120"/>
              </a:rPr>
              <a:t>Every number in this deck, with where it came from</a:t>
            </a:r>
            <a:endParaRPr lang="en-US" sz="1050" dirty="0"/>
          </a:p>
        </p:txBody>
      </p:sp>
      <p:pic>
        <p:nvPicPr>
          <p:cNvPr id="6" name="Image 0" descr="/tmp/claude-0/-home-user-hunarvaani/1a479c87-c527-500c-a3b9-10fb2a163850/scratchpad/ppt/sc/ppt/media/image-1-1.png">    </p:cNvPr>
          <p:cNvPicPr>
            <a:picLocks noChangeAspect="1"/>
          </p:cNvPicPr>
          <p:nvPr/>
        </p:nvPicPr>
        <p:blipFill>
          <a:blip r:embed="rId1"/>
          <a:stretch>
            <a:fillRect/>
          </a:stretch>
        </p:blipFill>
        <p:spPr>
          <a:xfrm>
            <a:off x="7296912" y="91440"/>
            <a:ext cx="1572768" cy="740664"/>
          </a:xfrm>
          <a:prstGeom prst="rect">
            <a:avLst/>
          </a:prstGeom>
        </p:spPr>
      </p:pic>
      <p:sp>
        <p:nvSpPr>
          <p:cNvPr id="7" name="Shape 4"/>
          <p:cNvSpPr/>
          <p:nvPr/>
        </p:nvSpPr>
        <p:spPr>
          <a:xfrm>
            <a:off x="292608" y="4901184"/>
            <a:ext cx="73152" cy="73152"/>
          </a:xfrm>
          <a:prstGeom prst="ellipse">
            <a:avLst/>
          </a:prstGeom>
          <a:solidFill>
            <a:srgbClr val="D1D5DB"/>
          </a:solidFill>
          <a:ln w="12700">
            <a:solidFill>
              <a:srgbClr val="D1D5DB"/>
            </a:solidFill>
            <a:prstDash val="solid"/>
          </a:ln>
        </p:spPr>
      </p:sp>
      <p:sp>
        <p:nvSpPr>
          <p:cNvPr id="8" name="Shape 5"/>
          <p:cNvSpPr/>
          <p:nvPr/>
        </p:nvSpPr>
        <p:spPr>
          <a:xfrm>
            <a:off x="402336" y="4956048"/>
            <a:ext cx="91440" cy="0"/>
          </a:xfrm>
          <a:prstGeom prst="line">
            <a:avLst/>
          </a:prstGeom>
          <a:noFill/>
          <a:ln w="9525">
            <a:solidFill>
              <a:srgbClr val="D1D5DB"/>
            </a:solidFill>
            <a:prstDash val="dash"/>
          </a:ln>
        </p:spPr>
      </p:sp>
      <p:sp>
        <p:nvSpPr>
          <p:cNvPr id="9" name="Shape 6"/>
          <p:cNvSpPr/>
          <p:nvPr/>
        </p:nvSpPr>
        <p:spPr>
          <a:xfrm>
            <a:off x="493776" y="4901184"/>
            <a:ext cx="73152" cy="73152"/>
          </a:xfrm>
          <a:prstGeom prst="ellipse">
            <a:avLst/>
          </a:prstGeom>
          <a:solidFill>
            <a:srgbClr val="D1D5DB"/>
          </a:solidFill>
          <a:ln w="12700">
            <a:solidFill>
              <a:srgbClr val="D1D5DB"/>
            </a:solidFill>
            <a:prstDash val="solid"/>
          </a:ln>
        </p:spPr>
      </p:sp>
      <p:sp>
        <p:nvSpPr>
          <p:cNvPr id="10" name="Shape 7"/>
          <p:cNvSpPr/>
          <p:nvPr/>
        </p:nvSpPr>
        <p:spPr>
          <a:xfrm>
            <a:off x="603504" y="4956048"/>
            <a:ext cx="91440" cy="0"/>
          </a:xfrm>
          <a:prstGeom prst="line">
            <a:avLst/>
          </a:prstGeom>
          <a:noFill/>
          <a:ln w="9525">
            <a:solidFill>
              <a:srgbClr val="D1D5DB"/>
            </a:solidFill>
            <a:prstDash val="dash"/>
          </a:ln>
        </p:spPr>
      </p:sp>
      <p:sp>
        <p:nvSpPr>
          <p:cNvPr id="11" name="Shape 8"/>
          <p:cNvSpPr/>
          <p:nvPr/>
        </p:nvSpPr>
        <p:spPr>
          <a:xfrm>
            <a:off x="694944" y="4901184"/>
            <a:ext cx="73152" cy="73152"/>
          </a:xfrm>
          <a:prstGeom prst="ellipse">
            <a:avLst/>
          </a:prstGeom>
          <a:solidFill>
            <a:srgbClr val="D1D5DB"/>
          </a:solidFill>
          <a:ln w="12700">
            <a:solidFill>
              <a:srgbClr val="D1D5DB"/>
            </a:solidFill>
            <a:prstDash val="solid"/>
          </a:ln>
        </p:spPr>
      </p:sp>
      <p:sp>
        <p:nvSpPr>
          <p:cNvPr id="12" name="Shape 9"/>
          <p:cNvSpPr/>
          <p:nvPr/>
        </p:nvSpPr>
        <p:spPr>
          <a:xfrm>
            <a:off x="804672" y="4956048"/>
            <a:ext cx="91440" cy="0"/>
          </a:xfrm>
          <a:prstGeom prst="line">
            <a:avLst/>
          </a:prstGeom>
          <a:noFill/>
          <a:ln w="9525">
            <a:solidFill>
              <a:srgbClr val="D1D5DB"/>
            </a:solidFill>
            <a:prstDash val="dash"/>
          </a:ln>
        </p:spPr>
      </p:sp>
      <p:sp>
        <p:nvSpPr>
          <p:cNvPr id="13" name="Shape 10"/>
          <p:cNvSpPr/>
          <p:nvPr/>
        </p:nvSpPr>
        <p:spPr>
          <a:xfrm>
            <a:off x="896112" y="4901184"/>
            <a:ext cx="73152" cy="73152"/>
          </a:xfrm>
          <a:prstGeom prst="ellipse">
            <a:avLst/>
          </a:prstGeom>
          <a:solidFill>
            <a:srgbClr val="D1D5DB"/>
          </a:solidFill>
          <a:ln w="12700">
            <a:solidFill>
              <a:srgbClr val="D1D5DB"/>
            </a:solidFill>
            <a:prstDash val="solid"/>
          </a:ln>
        </p:spPr>
      </p:sp>
      <p:sp>
        <p:nvSpPr>
          <p:cNvPr id="14" name="Shape 11"/>
          <p:cNvSpPr/>
          <p:nvPr/>
        </p:nvSpPr>
        <p:spPr>
          <a:xfrm>
            <a:off x="1005840" y="4956048"/>
            <a:ext cx="91440" cy="0"/>
          </a:xfrm>
          <a:prstGeom prst="line">
            <a:avLst/>
          </a:prstGeom>
          <a:noFill/>
          <a:ln w="9525">
            <a:solidFill>
              <a:srgbClr val="D1D5DB"/>
            </a:solidFill>
            <a:prstDash val="dash"/>
          </a:ln>
        </p:spPr>
      </p:sp>
      <p:sp>
        <p:nvSpPr>
          <p:cNvPr id="15" name="Shape 12"/>
          <p:cNvSpPr/>
          <p:nvPr/>
        </p:nvSpPr>
        <p:spPr>
          <a:xfrm>
            <a:off x="1097280" y="4901184"/>
            <a:ext cx="109728" cy="109728"/>
          </a:xfrm>
          <a:prstGeom prst="ellipse">
            <a:avLst/>
          </a:prstGeom>
          <a:solidFill>
            <a:srgbClr val="E8772E"/>
          </a:solidFill>
          <a:ln w="12700">
            <a:solidFill>
              <a:srgbClr val="E8772E"/>
            </a:solidFill>
            <a:prstDash val="solid"/>
          </a:ln>
        </p:spPr>
      </p:sp>
      <p:sp>
        <p:nvSpPr>
          <p:cNvPr id="16" name="Text 13"/>
          <p:cNvSpPr txBox="1"/>
          <p:nvPr/>
        </p:nvSpPr>
        <p:spPr>
          <a:xfrm>
            <a:off x="1325880" y="4846320"/>
            <a:ext cx="1097280" cy="201168"/>
          </a:xfrm>
          <a:prstGeom prst="rect">
            <a:avLst/>
          </a:prstGeom>
          <a:noFill/>
          <a:ln/>
        </p:spPr>
        <p:txBody>
          <a:bodyPr wrap="square" lIns="0" tIns="0" rIns="0" bIns="0" rtlCol="0" anchor="ctr"/>
          <a:lstStyle/>
          <a:p>
            <a:pPr indent="0" marL="0">
              <a:buNone/>
            </a:pPr>
            <a:r>
              <a:rPr lang="en-US" sz="900" b="1" dirty="0">
                <a:solidFill>
                  <a:srgbClr val="6B7280"/>
                </a:solidFill>
                <a:latin typeface="Calibri" pitchFamily="34" charset="0"/>
                <a:ea typeface="Calibri" pitchFamily="34" charset="-122"/>
                <a:cs typeface="Calibri" pitchFamily="34" charset="-120"/>
              </a:rPr>
              <a:t>HunarMarg</a:t>
            </a:r>
            <a:endParaRPr lang="en-US" sz="900" dirty="0"/>
          </a:p>
        </p:txBody>
      </p:sp>
      <p:sp>
        <p:nvSpPr>
          <p:cNvPr id="17" name="Text 14"/>
          <p:cNvSpPr txBox="1"/>
          <p:nvPr/>
        </p:nvSpPr>
        <p:spPr>
          <a:xfrm>
            <a:off x="8503920" y="4828032"/>
            <a:ext cx="365760" cy="219456"/>
          </a:xfrm>
          <a:prstGeom prst="rect">
            <a:avLst/>
          </a:prstGeom>
          <a:noFill/>
          <a:ln/>
        </p:spPr>
        <p:txBody>
          <a:bodyPr wrap="square" lIns="0" tIns="0" rIns="0" bIns="0" rtlCol="0" anchor="ctr"/>
          <a:lstStyle/>
          <a:p>
            <a:pPr algn="r" indent="0" marL="0">
              <a:buNone/>
            </a:pPr>
            <a:r>
              <a:rPr lang="en-US" sz="1100" b="1" dirty="0">
                <a:solidFill>
                  <a:srgbClr val="1B2A4A"/>
                </a:solidFill>
                <a:latin typeface="Calibri" pitchFamily="34" charset="0"/>
                <a:ea typeface="Calibri" pitchFamily="34" charset="-122"/>
                <a:cs typeface="Calibri" pitchFamily="34" charset="-120"/>
              </a:rPr>
              <a:t>6</a:t>
            </a:r>
            <a:endParaRPr lang="en-US" sz="1100" dirty="0"/>
          </a:p>
        </p:txBody>
      </p:sp>
      <p:sp>
        <p:nvSpPr>
          <p:cNvPr id="18" name="Text 15"/>
          <p:cNvSpPr txBox="1"/>
          <p:nvPr/>
        </p:nvSpPr>
        <p:spPr>
          <a:xfrm>
            <a:off x="274320" y="896112"/>
            <a:ext cx="8595360" cy="219456"/>
          </a:xfrm>
          <a:prstGeom prst="rect">
            <a:avLst/>
          </a:prstGeom>
          <a:noFill/>
          <a:ln/>
        </p:spPr>
        <p:txBody>
          <a:bodyPr wrap="square" lIns="0" tIns="0" rIns="0" bIns="0" rtlCol="0" anchor="ctr"/>
          <a:lstStyle/>
          <a:p>
            <a:pPr indent="0" marL="0">
              <a:buNone/>
            </a:pPr>
            <a:r>
              <a:rPr lang="en-US" sz="1050" b="1" spc="150" kern="0" dirty="0">
                <a:solidFill>
                  <a:srgbClr val="0F766E"/>
                </a:solidFill>
                <a:latin typeface="Calibri" pitchFamily="34" charset="0"/>
                <a:ea typeface="Calibri" pitchFamily="34" charset="-122"/>
                <a:cs typeface="Calibri" pitchFamily="34" charset="-120"/>
              </a:rPr>
              <a:t>SOURCES</a:t>
            </a:r>
            <a:pPr indent="0" marL="0">
              <a:buNone/>
            </a:pPr>
            <a:r>
              <a:rPr lang="en-US" sz="1050" i="1" dirty="0">
                <a:solidFill>
                  <a:srgbClr val="6B7280"/>
                </a:solidFill>
                <a:latin typeface="Calibri" pitchFamily="34" charset="0"/>
                <a:ea typeface="Calibri" pitchFamily="34" charset="-122"/>
                <a:cs typeface="Calibri" pitchFamily="34" charset="-120"/>
              </a:rPr>
              <a:t>   by type, each with its website</a:t>
            </a:r>
            <a:endParaRPr lang="en-US" sz="1050" dirty="0"/>
          </a:p>
        </p:txBody>
      </p:sp>
      <p:sp>
        <p:nvSpPr>
          <p:cNvPr id="19" name="Shape 16"/>
          <p:cNvSpPr/>
          <p:nvPr/>
        </p:nvSpPr>
        <p:spPr>
          <a:xfrm>
            <a:off x="274320" y="1152144"/>
            <a:ext cx="2514600" cy="2560320"/>
          </a:xfrm>
          <a:prstGeom prst="roundRect">
            <a:avLst>
              <a:gd name="adj" fmla="val 2909"/>
            </a:avLst>
          </a:prstGeom>
          <a:solidFill>
            <a:srgbClr val="EAF0FB"/>
          </a:solidFill>
          <a:ln w="12700">
            <a:solidFill>
              <a:srgbClr val="EAF0FB"/>
            </a:solidFill>
            <a:prstDash val="solid"/>
          </a:ln>
        </p:spPr>
      </p:sp>
      <p:sp>
        <p:nvSpPr>
          <p:cNvPr id="20" name="Shape 17"/>
          <p:cNvSpPr/>
          <p:nvPr/>
        </p:nvSpPr>
        <p:spPr>
          <a:xfrm>
            <a:off x="365760" y="1225296"/>
            <a:ext cx="274320" cy="274320"/>
          </a:xfrm>
          <a:prstGeom prst="ellipse">
            <a:avLst/>
          </a:prstGeom>
          <a:solidFill>
            <a:srgbClr val="2F5DA8"/>
          </a:solidFill>
          <a:ln w="12700">
            <a:solidFill>
              <a:srgbClr val="2F5DA8"/>
            </a:solidFill>
            <a:prstDash val="solid"/>
          </a:ln>
        </p:spPr>
      </p:sp>
      <p:pic>
        <p:nvPicPr>
          <p:cNvPr id="21" name="Image 1" descr="preencoded.png">    </p:cNvPr>
          <p:cNvPicPr>
            <a:picLocks noChangeAspect="1"/>
          </p:cNvPicPr>
          <p:nvPr/>
        </p:nvPicPr>
        <p:blipFill>
          <a:blip r:embed="rId2"/>
          <a:stretch>
            <a:fillRect/>
          </a:stretch>
        </p:blipFill>
        <p:spPr>
          <a:xfrm>
            <a:off x="431597" y="1291133"/>
            <a:ext cx="142646" cy="142646"/>
          </a:xfrm>
          <a:prstGeom prst="rect">
            <a:avLst/>
          </a:prstGeom>
        </p:spPr>
      </p:pic>
      <p:sp>
        <p:nvSpPr>
          <p:cNvPr id="22" name="Text 18"/>
          <p:cNvSpPr txBox="1"/>
          <p:nvPr/>
        </p:nvSpPr>
        <p:spPr>
          <a:xfrm>
            <a:off x="713232" y="1225296"/>
            <a:ext cx="2011680" cy="274320"/>
          </a:xfrm>
          <a:prstGeom prst="rect">
            <a:avLst/>
          </a:prstGeom>
          <a:noFill/>
          <a:ln/>
        </p:spPr>
        <p:txBody>
          <a:bodyPr wrap="square" lIns="0" tIns="0" rIns="0" bIns="0" rtlCol="0" anchor="ctr"/>
          <a:lstStyle/>
          <a:p>
            <a:pPr indent="0" marL="0">
              <a:buNone/>
            </a:pPr>
            <a:r>
              <a:rPr lang="en-US" sz="1000" b="1" dirty="0">
                <a:solidFill>
                  <a:srgbClr val="2F5DA8"/>
                </a:solidFill>
                <a:latin typeface="Calibri" pitchFamily="34" charset="0"/>
                <a:ea typeface="Calibri" pitchFamily="34" charset="-122"/>
                <a:cs typeface="Calibri" pitchFamily="34" charset="-120"/>
              </a:rPr>
              <a:t>Government data</a:t>
            </a:r>
            <a:endParaRPr lang="en-US" sz="1000" dirty="0"/>
          </a:p>
        </p:txBody>
      </p:sp>
      <p:sp>
        <p:nvSpPr>
          <p:cNvPr id="23" name="Text 19"/>
          <p:cNvSpPr txBox="1"/>
          <p:nvPr/>
        </p:nvSpPr>
        <p:spPr>
          <a:xfrm>
            <a:off x="365760" y="1572768"/>
            <a:ext cx="2350008" cy="2103120"/>
          </a:xfrm>
          <a:prstGeom prst="rect">
            <a:avLst/>
          </a:prstGeom>
          <a:noFill/>
          <a:ln/>
        </p:spPr>
        <p:txBody>
          <a:bodyPr wrap="square" lIns="0" tIns="0" rIns="0" bIns="0" rtlCol="0" anchor="t"/>
          <a:lstStyle/>
          <a:p>
            <a:pPr marL="114300" indent="-114300">
              <a:spcAft>
                <a:spcPts val="400"/>
              </a:spcAft>
              <a:buSzPct val="100000"/>
              <a:buChar char="•"/>
            </a:pPr>
            <a:r>
              <a:rPr lang="en-US" sz="750" dirty="0">
                <a:solidFill>
                  <a:srgbClr val="1F2937"/>
                </a:solidFill>
                <a:latin typeface="Calibri" pitchFamily="34" charset="0"/>
                <a:ea typeface="Calibri" pitchFamily="34" charset="-122"/>
                <a:cs typeface="Calibri" pitchFamily="34" charset="-120"/>
              </a:rPr>
              <a:t>S1 Census 2011 (MoSJE Handbook 2021): SC literacy 66.1% · socialjustice.gov.in</a:t>
            </a:r>
            <a:endParaRPr lang="en-US" sz="750" dirty="0"/>
          </a:p>
          <a:p>
            <a:pPr marL="114300" indent="-114300">
              <a:spcAft>
                <a:spcPts val="400"/>
              </a:spcAft>
              <a:buSzPct val="100000"/>
              <a:buChar char="•"/>
            </a:pPr>
            <a:r>
              <a:rPr lang="en-US" sz="750" dirty="0">
                <a:solidFill>
                  <a:srgbClr val="1F2937"/>
                </a:solidFill>
                <a:latin typeface="Calibri" pitchFamily="34" charset="0"/>
                <a:ea typeface="Calibri" pitchFamily="34" charset="-122"/>
                <a:cs typeface="Calibri" pitchFamily="34" charset="-120"/>
              </a:rPr>
              <a:t>S2 NSO Telecom survey 2025: phone ownership · mospi.gov.in</a:t>
            </a:r>
            <a:endParaRPr lang="en-US" sz="750" dirty="0"/>
          </a:p>
          <a:p>
            <a:pPr marL="114300" indent="-114300">
              <a:spcAft>
                <a:spcPts val="400"/>
              </a:spcAft>
              <a:buSzPct val="100000"/>
              <a:buChar char="•"/>
            </a:pPr>
            <a:r>
              <a:rPr lang="en-US" sz="750" dirty="0">
                <a:solidFill>
                  <a:srgbClr val="1F2937"/>
                </a:solidFill>
                <a:latin typeface="Calibri" pitchFamily="34" charset="0"/>
                <a:ea typeface="Calibri" pitchFamily="34" charset="-122"/>
                <a:cs typeface="Calibri" pitchFamily="34" charset="-120"/>
              </a:rPr>
              <a:t>S3 MoSJE PM-AJAY factsheet, 28 Sep 2026: ₹1,730 cr, 2.5 lakh people · pib.gov.in</a:t>
            </a:r>
            <a:endParaRPr lang="en-US" sz="750" dirty="0"/>
          </a:p>
          <a:p>
            <a:pPr marL="114300" indent="-114300">
              <a:spcAft>
                <a:spcPts val="400"/>
              </a:spcAft>
              <a:buSzPct val="100000"/>
              <a:buChar char="•"/>
            </a:pPr>
            <a:r>
              <a:rPr lang="en-US" sz="750" dirty="0">
                <a:solidFill>
                  <a:srgbClr val="1F2937"/>
                </a:solidFill>
                <a:latin typeface="Calibri" pitchFamily="34" charset="0"/>
                <a:ea typeface="Calibri" pitchFamily="34" charset="-122"/>
                <a:cs typeface="Calibri" pitchFamily="34" charset="-120"/>
              </a:rPr>
              <a:t>S4 PM-AJAY guidelines: 70% placement, 30% women · socialjustice.gov.in</a:t>
            </a:r>
            <a:endParaRPr lang="en-US" sz="750" dirty="0"/>
          </a:p>
          <a:p>
            <a:pPr marL="114300" indent="-114300">
              <a:spcAft>
                <a:spcPts val="400"/>
              </a:spcAft>
              <a:buSzPct val="100000"/>
              <a:buChar char="•"/>
            </a:pPr>
            <a:r>
              <a:rPr lang="en-US" sz="750" dirty="0">
                <a:solidFill>
                  <a:srgbClr val="1F2937"/>
                </a:solidFill>
                <a:latin typeface="Calibri" pitchFamily="34" charset="0"/>
                <a:ea typeface="Calibri" pitchFamily="34" charset="-122"/>
                <a:cs typeface="Calibri" pitchFamily="34" charset="-120"/>
              </a:rPr>
              <a:t>S5 CAG Report No. 20 of 2025: 41% placed · cag.gov.in</a:t>
            </a:r>
            <a:endParaRPr lang="en-US" sz="750" dirty="0"/>
          </a:p>
          <a:p>
            <a:pPr marL="114300" indent="-114300">
              <a:spcAft>
                <a:spcPts val="400"/>
              </a:spcAft>
              <a:buSzPct val="100000"/>
              <a:buChar char="•"/>
            </a:pPr>
            <a:r>
              <a:rPr lang="en-US" sz="750" dirty="0">
                <a:solidFill>
                  <a:srgbClr val="1F2937"/>
                </a:solidFill>
                <a:latin typeface="Calibri" pitchFamily="34" charset="0"/>
                <a:ea typeface="Calibri" pitchFamily="34" charset="-122"/>
                <a:cs typeface="Calibri" pitchFamily="34" charset="-120"/>
              </a:rPr>
              <a:t>S6 NCO-2015 · S7 NQR / NCVET · S8 NSFDC · S9 PIB PM Vishwakarma</a:t>
            </a:r>
            <a:endParaRPr lang="en-US" sz="750" dirty="0"/>
          </a:p>
          <a:p>
            <a:pPr marL="114300" indent="-114300">
              <a:spcAft>
                <a:spcPts val="400"/>
              </a:spcAft>
              <a:buSzPct val="100000"/>
              <a:buChar char="•"/>
            </a:pPr>
            <a:r>
              <a:rPr lang="en-US" sz="750" dirty="0">
                <a:solidFill>
                  <a:srgbClr val="1F2937"/>
                </a:solidFill>
                <a:latin typeface="Calibri" pitchFamily="34" charset="0"/>
                <a:ea typeface="Calibri" pitchFamily="34" charset="-122"/>
                <a:cs typeface="Calibri" pitchFamily="34" charset="-120"/>
              </a:rPr>
              <a:t>S10 PIB: PM-AJAY portal + AJAY app, 26 May 2026 · pib.gov.in</a:t>
            </a:r>
            <a:endParaRPr lang="en-US" sz="750" dirty="0"/>
          </a:p>
        </p:txBody>
      </p:sp>
      <p:sp>
        <p:nvSpPr>
          <p:cNvPr id="24" name="Shape 20"/>
          <p:cNvSpPr/>
          <p:nvPr/>
        </p:nvSpPr>
        <p:spPr>
          <a:xfrm>
            <a:off x="2880360" y="1152144"/>
            <a:ext cx="1874520" cy="2560320"/>
          </a:xfrm>
          <a:prstGeom prst="roundRect">
            <a:avLst>
              <a:gd name="adj" fmla="val 3902"/>
            </a:avLst>
          </a:prstGeom>
          <a:solidFill>
            <a:srgbClr val="F1ECFB"/>
          </a:solidFill>
          <a:ln w="12700">
            <a:solidFill>
              <a:srgbClr val="F1ECFB"/>
            </a:solidFill>
            <a:prstDash val="solid"/>
          </a:ln>
        </p:spPr>
      </p:sp>
      <p:sp>
        <p:nvSpPr>
          <p:cNvPr id="25" name="Shape 21"/>
          <p:cNvSpPr/>
          <p:nvPr/>
        </p:nvSpPr>
        <p:spPr>
          <a:xfrm>
            <a:off x="2971800" y="1225296"/>
            <a:ext cx="274320" cy="274320"/>
          </a:xfrm>
          <a:prstGeom prst="ellipse">
            <a:avLst/>
          </a:prstGeom>
          <a:solidFill>
            <a:srgbClr val="6D4AB8"/>
          </a:solidFill>
          <a:ln w="12700">
            <a:solidFill>
              <a:srgbClr val="6D4AB8"/>
            </a:solidFill>
            <a:prstDash val="solid"/>
          </a:ln>
        </p:spPr>
      </p:sp>
      <p:pic>
        <p:nvPicPr>
          <p:cNvPr id="26" name="Image 2" descr="preencoded.png">    </p:cNvPr>
          <p:cNvPicPr>
            <a:picLocks noChangeAspect="1"/>
          </p:cNvPicPr>
          <p:nvPr/>
        </p:nvPicPr>
        <p:blipFill>
          <a:blip r:embed="rId3"/>
          <a:stretch>
            <a:fillRect/>
          </a:stretch>
        </p:blipFill>
        <p:spPr>
          <a:xfrm>
            <a:off x="3037637" y="1291133"/>
            <a:ext cx="142646" cy="142646"/>
          </a:xfrm>
          <a:prstGeom prst="rect">
            <a:avLst/>
          </a:prstGeom>
        </p:spPr>
      </p:pic>
      <p:sp>
        <p:nvSpPr>
          <p:cNvPr id="27" name="Text 22"/>
          <p:cNvSpPr txBox="1"/>
          <p:nvPr/>
        </p:nvSpPr>
        <p:spPr>
          <a:xfrm>
            <a:off x="3319272" y="1225296"/>
            <a:ext cx="1371600" cy="274320"/>
          </a:xfrm>
          <a:prstGeom prst="rect">
            <a:avLst/>
          </a:prstGeom>
          <a:noFill/>
          <a:ln/>
        </p:spPr>
        <p:txBody>
          <a:bodyPr wrap="square" lIns="0" tIns="0" rIns="0" bIns="0" rtlCol="0" anchor="ctr"/>
          <a:lstStyle/>
          <a:p>
            <a:pPr indent="0" marL="0">
              <a:buNone/>
            </a:pPr>
            <a:r>
              <a:rPr lang="en-US" sz="1000" b="1" dirty="0">
                <a:solidFill>
                  <a:srgbClr val="6D4AB8"/>
                </a:solidFill>
                <a:latin typeface="Calibri" pitchFamily="34" charset="0"/>
                <a:ea typeface="Calibri" pitchFamily="34" charset="-122"/>
                <a:cs typeface="Calibri" pitchFamily="34" charset="-120"/>
              </a:rPr>
              <a:t>Research</a:t>
            </a:r>
            <a:endParaRPr lang="en-US" sz="1000" dirty="0"/>
          </a:p>
        </p:txBody>
      </p:sp>
      <p:sp>
        <p:nvSpPr>
          <p:cNvPr id="28" name="Text 23"/>
          <p:cNvSpPr txBox="1"/>
          <p:nvPr/>
        </p:nvSpPr>
        <p:spPr>
          <a:xfrm>
            <a:off x="2971800" y="1572768"/>
            <a:ext cx="1709928" cy="2103120"/>
          </a:xfrm>
          <a:prstGeom prst="rect">
            <a:avLst/>
          </a:prstGeom>
          <a:noFill/>
          <a:ln/>
        </p:spPr>
        <p:txBody>
          <a:bodyPr wrap="square" lIns="0" tIns="0" rIns="0" bIns="0" rtlCol="0" anchor="t"/>
          <a:lstStyle/>
          <a:p>
            <a:pPr marL="114300" indent="-114300">
              <a:spcAft>
                <a:spcPts val="400"/>
              </a:spcAft>
              <a:buSzPct val="100000"/>
              <a:buChar char="•"/>
            </a:pPr>
            <a:r>
              <a:rPr lang="en-US" sz="750" dirty="0">
                <a:solidFill>
                  <a:srgbClr val="1F2937"/>
                </a:solidFill>
                <a:latin typeface="Calibri" pitchFamily="34" charset="0"/>
                <a:ea typeface="Calibri" pitchFamily="34" charset="-122"/>
                <a:cs typeface="Calibri" pitchFamily="34" charset="-120"/>
              </a:rPr>
              <a:t>S11 Business Standard, Apr 2026: 22 crore feature-phone users</a:t>
            </a:r>
            <a:endParaRPr lang="en-US" sz="750" dirty="0"/>
          </a:p>
          <a:p>
            <a:pPr marL="114300" indent="-114300">
              <a:spcAft>
                <a:spcPts val="400"/>
              </a:spcAft>
              <a:buSzPct val="100000"/>
              <a:buChar char="•"/>
            </a:pPr>
            <a:r>
              <a:rPr lang="en-US" sz="750" dirty="0">
                <a:solidFill>
                  <a:srgbClr val="1F2937"/>
                </a:solidFill>
                <a:latin typeface="Calibri" pitchFamily="34" charset="0"/>
                <a:ea typeface="Calibri" pitchFamily="34" charset="-122"/>
                <a:cs typeface="Calibri" pitchFamily="34" charset="-120"/>
              </a:rPr>
              <a:t>S12 BMJ Global Health: Kilkari reach and answer rates · gh.bmj.com</a:t>
            </a:r>
            <a:endParaRPr lang="en-US" sz="750" dirty="0"/>
          </a:p>
          <a:p>
            <a:pPr marL="114300" indent="-114300">
              <a:spcAft>
                <a:spcPts val="400"/>
              </a:spcAft>
              <a:buSzPct val="100000"/>
              <a:buChar char="•"/>
            </a:pPr>
            <a:r>
              <a:rPr lang="en-US" sz="750" dirty="0">
                <a:solidFill>
                  <a:srgbClr val="1F2937"/>
                </a:solidFill>
                <a:latin typeface="Calibri" pitchFamily="34" charset="0"/>
                <a:ea typeface="Calibri" pitchFamily="34" charset="-122"/>
                <a:cs typeface="Calibri" pitchFamily="34" charset="-120"/>
              </a:rPr>
              <a:t>S13 Chakravorty et al., J-PAL: job information → retention 62% → 73% · povertyactionlab.org</a:t>
            </a:r>
            <a:endParaRPr lang="en-US" sz="750" dirty="0"/>
          </a:p>
        </p:txBody>
      </p:sp>
      <p:sp>
        <p:nvSpPr>
          <p:cNvPr id="29" name="Shape 24"/>
          <p:cNvSpPr/>
          <p:nvPr/>
        </p:nvSpPr>
        <p:spPr>
          <a:xfrm>
            <a:off x="4846320" y="1152144"/>
            <a:ext cx="2286000" cy="2560320"/>
          </a:xfrm>
          <a:prstGeom prst="roundRect">
            <a:avLst>
              <a:gd name="adj" fmla="val 3200"/>
            </a:avLst>
          </a:prstGeom>
          <a:solidFill>
            <a:srgbClr val="E6F4F1"/>
          </a:solidFill>
          <a:ln w="12700">
            <a:solidFill>
              <a:srgbClr val="E6F4F1"/>
            </a:solidFill>
            <a:prstDash val="solid"/>
          </a:ln>
        </p:spPr>
      </p:sp>
      <p:sp>
        <p:nvSpPr>
          <p:cNvPr id="30" name="Shape 25"/>
          <p:cNvSpPr/>
          <p:nvPr/>
        </p:nvSpPr>
        <p:spPr>
          <a:xfrm>
            <a:off x="4937760" y="1225296"/>
            <a:ext cx="274320" cy="274320"/>
          </a:xfrm>
          <a:prstGeom prst="ellipse">
            <a:avLst/>
          </a:prstGeom>
          <a:solidFill>
            <a:srgbClr val="0F766E"/>
          </a:solidFill>
          <a:ln w="12700">
            <a:solidFill>
              <a:srgbClr val="0F766E"/>
            </a:solidFill>
            <a:prstDash val="solid"/>
          </a:ln>
        </p:spPr>
      </p:sp>
      <p:pic>
        <p:nvPicPr>
          <p:cNvPr id="31" name="Image 3" descr="preencoded.png">    </p:cNvPr>
          <p:cNvPicPr>
            <a:picLocks noChangeAspect="1"/>
          </p:cNvPicPr>
          <p:nvPr/>
        </p:nvPicPr>
        <p:blipFill>
          <a:blip r:embed="rId4"/>
          <a:stretch>
            <a:fillRect/>
          </a:stretch>
        </p:blipFill>
        <p:spPr>
          <a:xfrm>
            <a:off x="5003597" y="1291133"/>
            <a:ext cx="142646" cy="142646"/>
          </a:xfrm>
          <a:prstGeom prst="rect">
            <a:avLst/>
          </a:prstGeom>
        </p:spPr>
      </p:pic>
      <p:sp>
        <p:nvSpPr>
          <p:cNvPr id="32" name="Text 26"/>
          <p:cNvSpPr txBox="1"/>
          <p:nvPr/>
        </p:nvSpPr>
        <p:spPr>
          <a:xfrm>
            <a:off x="5285232" y="1225296"/>
            <a:ext cx="1783080" cy="274320"/>
          </a:xfrm>
          <a:prstGeom prst="rect">
            <a:avLst/>
          </a:prstGeom>
          <a:noFill/>
          <a:ln/>
        </p:spPr>
        <p:txBody>
          <a:bodyPr wrap="square" lIns="0" tIns="0" rIns="0" bIns="0" rtlCol="0" anchor="ctr"/>
          <a:lstStyle/>
          <a:p>
            <a:pPr indent="0" marL="0">
              <a:buNone/>
            </a:pPr>
            <a:r>
              <a:rPr lang="en-US" sz="1000" b="1" dirty="0">
                <a:solidFill>
                  <a:srgbClr val="0F766E"/>
                </a:solidFill>
                <a:latin typeface="Calibri" pitchFamily="34" charset="0"/>
                <a:ea typeface="Calibri" pitchFamily="34" charset="-122"/>
                <a:cs typeface="Calibri" pitchFamily="34" charset="-120"/>
              </a:rPr>
              <a:t>Technology</a:t>
            </a:r>
            <a:endParaRPr lang="en-US" sz="1000" dirty="0"/>
          </a:p>
        </p:txBody>
      </p:sp>
      <p:sp>
        <p:nvSpPr>
          <p:cNvPr id="33" name="Text 27"/>
          <p:cNvSpPr txBox="1"/>
          <p:nvPr/>
        </p:nvSpPr>
        <p:spPr>
          <a:xfrm>
            <a:off x="4937760" y="1572768"/>
            <a:ext cx="2121408" cy="2103120"/>
          </a:xfrm>
          <a:prstGeom prst="rect">
            <a:avLst/>
          </a:prstGeom>
          <a:noFill/>
          <a:ln/>
        </p:spPr>
        <p:txBody>
          <a:bodyPr wrap="square" lIns="0" tIns="0" rIns="0" bIns="0" rtlCol="0" anchor="t"/>
          <a:lstStyle/>
          <a:p>
            <a:pPr marL="114300" indent="-114300">
              <a:spcAft>
                <a:spcPts val="400"/>
              </a:spcAft>
              <a:buSzPct val="100000"/>
              <a:buChar char="•"/>
            </a:pPr>
            <a:r>
              <a:rPr lang="en-US" sz="750" dirty="0">
                <a:solidFill>
                  <a:srgbClr val="1F2937"/>
                </a:solidFill>
                <a:latin typeface="Calibri" pitchFamily="34" charset="0"/>
                <a:ea typeface="Calibri" pitchFamily="34" charset="-122"/>
                <a:cs typeface="Calibri" pitchFamily="34" charset="-120"/>
              </a:rPr>
              <a:t>S14 Sarvam: Saaras v3, 19.31% WER on IndicVoices · sarvam.ai</a:t>
            </a:r>
            <a:endParaRPr lang="en-US" sz="750" dirty="0"/>
          </a:p>
          <a:p>
            <a:pPr marL="114300" indent="-114300">
              <a:spcAft>
                <a:spcPts val="400"/>
              </a:spcAft>
              <a:buSzPct val="100000"/>
              <a:buChar char="•"/>
            </a:pPr>
            <a:r>
              <a:rPr lang="en-US" sz="750" dirty="0">
                <a:solidFill>
                  <a:srgbClr val="1F2937"/>
                </a:solidFill>
                <a:latin typeface="Calibri" pitchFamily="34" charset="0"/>
                <a:ea typeface="Calibri" pitchFamily="34" charset="-122"/>
                <a:cs typeface="Calibri" pitchFamily="34" charset="-120"/>
              </a:rPr>
              <a:t>S15 AI4Bharat: IndicConformer, IndicVoices, Indic Parler-TTS · huggingface.co/ai4bharat</a:t>
            </a:r>
            <a:endParaRPr lang="en-US" sz="750" dirty="0"/>
          </a:p>
          <a:p>
            <a:pPr marL="114300" indent="-114300">
              <a:spcAft>
                <a:spcPts val="400"/>
              </a:spcAft>
              <a:buSzPct val="100000"/>
              <a:buChar char="•"/>
            </a:pPr>
            <a:r>
              <a:rPr lang="en-US" sz="750" dirty="0">
                <a:solidFill>
                  <a:srgbClr val="1F2937"/>
                </a:solidFill>
                <a:latin typeface="Calibri" pitchFamily="34" charset="0"/>
                <a:ea typeface="Calibri" pitchFamily="34" charset="-122"/>
                <a:cs typeface="Calibri" pitchFamily="34" charset="-120"/>
              </a:rPr>
              <a:t>S16 Sarvam-30B open weights, Apache 2.0 · huggingface.co/sarvamai</a:t>
            </a:r>
            <a:endParaRPr lang="en-US" sz="750" dirty="0"/>
          </a:p>
          <a:p>
            <a:pPr marL="114300" indent="-114300">
              <a:spcAft>
                <a:spcPts val="400"/>
              </a:spcAft>
              <a:buSzPct val="100000"/>
              <a:buChar char="•"/>
            </a:pPr>
            <a:r>
              <a:rPr lang="en-US" sz="750" dirty="0">
                <a:solidFill>
                  <a:srgbClr val="1F2937"/>
                </a:solidFill>
                <a:latin typeface="Calibri" pitchFamily="34" charset="0"/>
                <a:ea typeface="Calibri" pitchFamily="34" charset="-122"/>
                <a:cs typeface="Calibri" pitchFamily="34" charset="-120"/>
              </a:rPr>
              <a:t>S17 E2E Networks: L4 ₹49/h, L40S ₹102/h · e2enetworks.com</a:t>
            </a:r>
            <a:endParaRPr lang="en-US" sz="750" dirty="0"/>
          </a:p>
          <a:p>
            <a:pPr marL="114300" indent="-114300">
              <a:spcAft>
                <a:spcPts val="400"/>
              </a:spcAft>
              <a:buSzPct val="100000"/>
              <a:buChar char="•"/>
            </a:pPr>
            <a:r>
              <a:rPr lang="en-US" sz="750" dirty="0">
                <a:solidFill>
                  <a:srgbClr val="1F2937"/>
                </a:solidFill>
                <a:latin typeface="Calibri" pitchFamily="34" charset="0"/>
                <a:ea typeface="Calibri" pitchFamily="34" charset="-122"/>
                <a:cs typeface="Calibri" pitchFamily="34" charset="-120"/>
              </a:rPr>
              <a:t>S18 Sarvam API pricing; carrier rate cards (team research)</a:t>
            </a:r>
            <a:endParaRPr lang="en-US" sz="750" dirty="0"/>
          </a:p>
        </p:txBody>
      </p:sp>
      <p:sp>
        <p:nvSpPr>
          <p:cNvPr id="34" name="Shape 28"/>
          <p:cNvSpPr/>
          <p:nvPr/>
        </p:nvSpPr>
        <p:spPr>
          <a:xfrm>
            <a:off x="7223760" y="1152144"/>
            <a:ext cx="1645920" cy="2560320"/>
          </a:xfrm>
          <a:prstGeom prst="roundRect">
            <a:avLst>
              <a:gd name="adj" fmla="val 4444"/>
            </a:avLst>
          </a:prstGeom>
          <a:solidFill>
            <a:srgbClr val="FFF1E6"/>
          </a:solidFill>
          <a:ln w="12700">
            <a:solidFill>
              <a:srgbClr val="FFF1E6"/>
            </a:solidFill>
            <a:prstDash val="solid"/>
          </a:ln>
        </p:spPr>
      </p:sp>
      <p:sp>
        <p:nvSpPr>
          <p:cNvPr id="35" name="Shape 29"/>
          <p:cNvSpPr/>
          <p:nvPr/>
        </p:nvSpPr>
        <p:spPr>
          <a:xfrm>
            <a:off x="7315200" y="1225296"/>
            <a:ext cx="274320" cy="274320"/>
          </a:xfrm>
          <a:prstGeom prst="ellipse">
            <a:avLst/>
          </a:prstGeom>
          <a:solidFill>
            <a:srgbClr val="E8772E"/>
          </a:solidFill>
          <a:ln w="12700">
            <a:solidFill>
              <a:srgbClr val="E8772E"/>
            </a:solidFill>
            <a:prstDash val="solid"/>
          </a:ln>
        </p:spPr>
      </p:sp>
      <p:pic>
        <p:nvPicPr>
          <p:cNvPr id="36" name="Image 4" descr="preencoded.png">    </p:cNvPr>
          <p:cNvPicPr>
            <a:picLocks noChangeAspect="1"/>
          </p:cNvPicPr>
          <p:nvPr/>
        </p:nvPicPr>
        <p:blipFill>
          <a:blip r:embed="rId5"/>
          <a:stretch>
            <a:fillRect/>
          </a:stretch>
        </p:blipFill>
        <p:spPr>
          <a:xfrm>
            <a:off x="7381037" y="1291133"/>
            <a:ext cx="142646" cy="142646"/>
          </a:xfrm>
          <a:prstGeom prst="rect">
            <a:avLst/>
          </a:prstGeom>
        </p:spPr>
      </p:pic>
      <p:sp>
        <p:nvSpPr>
          <p:cNvPr id="37" name="Text 30"/>
          <p:cNvSpPr txBox="1"/>
          <p:nvPr/>
        </p:nvSpPr>
        <p:spPr>
          <a:xfrm>
            <a:off x="7662672" y="1225296"/>
            <a:ext cx="1143000" cy="274320"/>
          </a:xfrm>
          <a:prstGeom prst="rect">
            <a:avLst/>
          </a:prstGeom>
          <a:noFill/>
          <a:ln/>
        </p:spPr>
        <p:txBody>
          <a:bodyPr wrap="square" lIns="0" tIns="0" rIns="0" bIns="0" rtlCol="0" anchor="ctr"/>
          <a:lstStyle/>
          <a:p>
            <a:pPr indent="0" marL="0">
              <a:buNone/>
            </a:pPr>
            <a:r>
              <a:rPr lang="en-US" sz="1000" b="1" dirty="0">
                <a:solidFill>
                  <a:srgbClr val="E8772E"/>
                </a:solidFill>
                <a:latin typeface="Calibri" pitchFamily="34" charset="0"/>
                <a:ea typeface="Calibri" pitchFamily="34" charset="-122"/>
                <a:cs typeface="Calibri" pitchFamily="34" charset="-120"/>
              </a:rPr>
              <a:t>Policy &amp; our work</a:t>
            </a:r>
            <a:endParaRPr lang="en-US" sz="1000" dirty="0"/>
          </a:p>
        </p:txBody>
      </p:sp>
      <p:sp>
        <p:nvSpPr>
          <p:cNvPr id="38" name="Text 31"/>
          <p:cNvSpPr txBox="1"/>
          <p:nvPr/>
        </p:nvSpPr>
        <p:spPr>
          <a:xfrm>
            <a:off x="7315200" y="1572768"/>
            <a:ext cx="1481328" cy="2103120"/>
          </a:xfrm>
          <a:prstGeom prst="rect">
            <a:avLst/>
          </a:prstGeom>
          <a:noFill/>
          <a:ln/>
        </p:spPr>
        <p:txBody>
          <a:bodyPr wrap="square" lIns="0" tIns="0" rIns="0" bIns="0" rtlCol="0" anchor="t"/>
          <a:lstStyle/>
          <a:p>
            <a:pPr marL="114300" indent="-114300">
              <a:spcAft>
                <a:spcPts val="400"/>
              </a:spcAft>
              <a:buSzPct val="100000"/>
              <a:buChar char="•"/>
            </a:pPr>
            <a:r>
              <a:rPr lang="en-US" sz="750" dirty="0">
                <a:solidFill>
                  <a:srgbClr val="1F2937"/>
                </a:solidFill>
                <a:latin typeface="Calibri" pitchFamily="34" charset="0"/>
                <a:ea typeface="Calibri" pitchFamily="34" charset="-122"/>
                <a:cs typeface="Calibri" pitchFamily="34" charset="-120"/>
              </a:rPr>
              <a:t>S19 DPDP Rules 2025 (14 Nov 2025) · meity.gov.in</a:t>
            </a:r>
            <a:endParaRPr lang="en-US" sz="750" dirty="0"/>
          </a:p>
          <a:p>
            <a:pPr marL="114300" indent="-114300">
              <a:spcAft>
                <a:spcPts val="400"/>
              </a:spcAft>
              <a:buSzPct val="100000"/>
              <a:buChar char="•"/>
            </a:pPr>
            <a:r>
              <a:rPr lang="en-US" sz="750" dirty="0">
                <a:solidFill>
                  <a:srgbClr val="1F2937"/>
                </a:solidFill>
                <a:latin typeface="Calibri" pitchFamily="34" charset="0"/>
                <a:ea typeface="Calibri" pitchFamily="34" charset="-122"/>
                <a:cs typeface="Calibri" pitchFamily="34" charset="-120"/>
              </a:rPr>
              <a:t>S20 TRAI 1600 series for govt-to-citizen calls · trai.gov.in</a:t>
            </a:r>
            <a:endParaRPr lang="en-US" sz="750" dirty="0"/>
          </a:p>
          <a:p>
            <a:pPr marL="114300" indent="-114300">
              <a:spcAft>
                <a:spcPts val="400"/>
              </a:spcAft>
              <a:buSzPct val="100000"/>
              <a:buChar char="•"/>
            </a:pPr>
            <a:r>
              <a:rPr lang="en-US" sz="750" dirty="0">
                <a:solidFill>
                  <a:srgbClr val="1F2937"/>
                </a:solidFill>
                <a:latin typeface="Calibri" pitchFamily="34" charset="0"/>
                <a:ea typeface="Calibri" pitchFamily="34" charset="-122"/>
                <a:cs typeface="Calibri" pitchFamily="34" charset="-120"/>
              </a:rPr>
              <a:t>S21 Our work: prototype code, MODELS.md, cost_model.py, measure.py · GitHub</a:t>
            </a:r>
            <a:endParaRPr lang="en-US" sz="750" dirty="0"/>
          </a:p>
        </p:txBody>
      </p:sp>
      <p:sp>
        <p:nvSpPr>
          <p:cNvPr id="39" name="Text 32"/>
          <p:cNvSpPr txBox="1"/>
          <p:nvPr/>
        </p:nvSpPr>
        <p:spPr>
          <a:xfrm>
            <a:off x="274320" y="3803904"/>
            <a:ext cx="8595360" cy="219456"/>
          </a:xfrm>
          <a:prstGeom prst="rect">
            <a:avLst/>
          </a:prstGeom>
          <a:noFill/>
          <a:ln/>
        </p:spPr>
        <p:txBody>
          <a:bodyPr wrap="square" lIns="0" tIns="0" rIns="0" bIns="0" rtlCol="0" anchor="ctr"/>
          <a:lstStyle/>
          <a:p>
            <a:pPr indent="0" marL="0">
              <a:buNone/>
            </a:pPr>
            <a:r>
              <a:rPr lang="en-US" sz="1050" b="1" spc="150" kern="0" dirty="0">
                <a:solidFill>
                  <a:srgbClr val="0F766E"/>
                </a:solidFill>
                <a:latin typeface="Calibri" pitchFamily="34" charset="0"/>
                <a:ea typeface="Calibri" pitchFamily="34" charset="-122"/>
                <a:cs typeface="Calibri" pitchFamily="34" charset="-120"/>
              </a:rPr>
              <a:t>SEE MORE</a:t>
            </a:r>
            <a:pPr indent="0" marL="0">
              <a:buNone/>
            </a:pPr>
            <a:r>
              <a:rPr lang="en-US" sz="1050" i="1" dirty="0">
                <a:solidFill>
                  <a:srgbClr val="6B7280"/>
                </a:solidFill>
                <a:latin typeface="Calibri" pitchFamily="34" charset="0"/>
                <a:ea typeface="Calibri" pitchFamily="34" charset="-122"/>
                <a:cs typeface="Calibri" pitchFamily="34" charset="-120"/>
              </a:rPr>
              <a:t>   code, prototype, video and every calculation, one scan each</a:t>
            </a:r>
            <a:endParaRPr lang="en-US" sz="1050" dirty="0"/>
          </a:p>
        </p:txBody>
      </p:sp>
      <p:sp>
        <p:nvSpPr>
          <p:cNvPr id="40" name="Shape 33"/>
          <p:cNvSpPr/>
          <p:nvPr/>
        </p:nvSpPr>
        <p:spPr>
          <a:xfrm>
            <a:off x="274320" y="4059936"/>
            <a:ext cx="2075688" cy="694944"/>
          </a:xfrm>
          <a:prstGeom prst="roundRect">
            <a:avLst>
              <a:gd name="adj" fmla="val 10526"/>
            </a:avLst>
          </a:prstGeom>
          <a:solidFill>
            <a:srgbClr val="FFFFFF"/>
          </a:solidFill>
          <a:ln w="9525">
            <a:solidFill>
              <a:srgbClr val="E5E7EB"/>
            </a:solidFill>
            <a:prstDash val="solid"/>
          </a:ln>
          <a:effectLst>
            <a:outerShdw sx="100000" sy="100000" kx="0" ky="0" algn="bl" rotWithShape="0" blurRad="50800" dist="19050" dir="5400000">
              <a:srgbClr val="000000">
                <a:alpha val="12000"/>
              </a:srgbClr>
            </a:outerShdw>
          </a:effectLst>
        </p:spPr>
      </p:sp>
      <p:pic>
        <p:nvPicPr>
          <p:cNvPr id="41" name="Image 5" descr="preencoded.png">    </p:cNvPr>
          <p:cNvPicPr>
            <a:picLocks noChangeAspect="1"/>
          </p:cNvPicPr>
          <p:nvPr/>
        </p:nvPicPr>
        <p:blipFill>
          <a:blip r:embed="rId6"/>
          <a:stretch>
            <a:fillRect/>
          </a:stretch>
        </p:blipFill>
        <p:spPr>
          <a:xfrm>
            <a:off x="347472" y="4114800"/>
            <a:ext cx="585216" cy="585216"/>
          </a:xfrm>
          <a:prstGeom prst="rect">
            <a:avLst/>
          </a:prstGeom>
        </p:spPr>
      </p:pic>
      <p:sp>
        <p:nvSpPr>
          <p:cNvPr id="42" name="Text 34"/>
          <p:cNvSpPr txBox="1"/>
          <p:nvPr/>
        </p:nvSpPr>
        <p:spPr>
          <a:xfrm>
            <a:off x="1005840" y="4114800"/>
            <a:ext cx="1298448" cy="585216"/>
          </a:xfrm>
          <a:prstGeom prst="rect">
            <a:avLst/>
          </a:prstGeom>
          <a:noFill/>
          <a:ln/>
        </p:spPr>
        <p:txBody>
          <a:bodyPr wrap="square" lIns="0" tIns="0" rIns="0" bIns="0" rtlCol="0" anchor="ctr"/>
          <a:lstStyle/>
          <a:p>
            <a:pPr indent="0" marL="0">
              <a:buNone/>
            </a:pPr>
            <a:r>
              <a:rPr lang="en-US" sz="950" b="1" dirty="0">
                <a:solidFill>
                  <a:srgbClr val="1B2A4A"/>
                </a:solidFill>
                <a:latin typeface="Calibri" pitchFamily="34" charset="0"/>
                <a:ea typeface="Calibri" pitchFamily="34" charset="-122"/>
                <a:cs typeface="Calibri" pitchFamily="34" charset="-120"/>
              </a:rPr>
              <a:t>GitHub repo</a:t>
            </a:r>
            <a:endParaRPr lang="en-US" sz="950" dirty="0"/>
          </a:p>
          <a:p>
            <a:pPr indent="0" marL="0">
              <a:buNone/>
            </a:pPr>
            <a:r>
              <a:rPr lang="en-US" sz="750" dirty="0">
                <a:solidFill>
                  <a:srgbClr val="6B7280"/>
                </a:solidFill>
                <a:latin typeface="Calibri" pitchFamily="34" charset="0"/>
                <a:ea typeface="Calibri" pitchFamily="34" charset="-122"/>
                <a:cs typeface="Calibri" pitchFamily="34" charset="-120"/>
              </a:rPr>
              <a:t>code, architecture, docs/MODELS.md</a:t>
            </a:r>
            <a:endParaRPr lang="en-US" sz="950" dirty="0"/>
          </a:p>
        </p:txBody>
      </p:sp>
      <p:sp>
        <p:nvSpPr>
          <p:cNvPr id="43" name="Shape 35"/>
          <p:cNvSpPr/>
          <p:nvPr/>
        </p:nvSpPr>
        <p:spPr>
          <a:xfrm>
            <a:off x="2441448" y="4059936"/>
            <a:ext cx="2075688" cy="694944"/>
          </a:xfrm>
          <a:prstGeom prst="roundRect">
            <a:avLst>
              <a:gd name="adj" fmla="val 10526"/>
            </a:avLst>
          </a:prstGeom>
          <a:solidFill>
            <a:srgbClr val="FFFFFF"/>
          </a:solidFill>
          <a:ln w="9525">
            <a:solidFill>
              <a:srgbClr val="E5E7EB"/>
            </a:solidFill>
            <a:prstDash val="solid"/>
          </a:ln>
          <a:effectLst>
            <a:outerShdw sx="100000" sy="100000" kx="0" ky="0" algn="bl" rotWithShape="0" blurRad="50800" dist="19050" dir="5400000">
              <a:srgbClr val="000000">
                <a:alpha val="12000"/>
              </a:srgbClr>
            </a:outerShdw>
          </a:effectLst>
        </p:spPr>
      </p:sp>
      <p:sp>
        <p:nvSpPr>
          <p:cNvPr id="44" name="Shape 36"/>
          <p:cNvSpPr/>
          <p:nvPr/>
        </p:nvSpPr>
        <p:spPr>
          <a:xfrm>
            <a:off x="2514600" y="4114800"/>
            <a:ext cx="585216" cy="585216"/>
          </a:xfrm>
          <a:prstGeom prst="roundRect">
            <a:avLst>
              <a:gd name="adj" fmla="val 7813"/>
            </a:avLst>
          </a:prstGeom>
          <a:solidFill>
            <a:srgbClr val="F5F6F8"/>
          </a:solidFill>
          <a:ln w="9525">
            <a:solidFill>
              <a:srgbClr val="D1D5DB"/>
            </a:solidFill>
            <a:prstDash val="dash"/>
          </a:ln>
        </p:spPr>
      </p:sp>
      <p:pic>
        <p:nvPicPr>
          <p:cNvPr id="45" name="Image 6" descr="preencoded.png">    </p:cNvPr>
          <p:cNvPicPr>
            <a:picLocks noChangeAspect="1"/>
          </p:cNvPicPr>
          <p:nvPr/>
        </p:nvPicPr>
        <p:blipFill>
          <a:blip r:embed="rId7"/>
          <a:stretch>
            <a:fillRect/>
          </a:stretch>
        </p:blipFill>
        <p:spPr>
          <a:xfrm>
            <a:off x="2660904" y="4261104"/>
            <a:ext cx="292608" cy="292608"/>
          </a:xfrm>
          <a:prstGeom prst="rect">
            <a:avLst/>
          </a:prstGeom>
        </p:spPr>
      </p:pic>
      <p:sp>
        <p:nvSpPr>
          <p:cNvPr id="46" name="Text 37"/>
          <p:cNvSpPr txBox="1"/>
          <p:nvPr/>
        </p:nvSpPr>
        <p:spPr>
          <a:xfrm>
            <a:off x="3172968" y="4114800"/>
            <a:ext cx="1298448" cy="585216"/>
          </a:xfrm>
          <a:prstGeom prst="rect">
            <a:avLst/>
          </a:prstGeom>
          <a:noFill/>
          <a:ln/>
        </p:spPr>
        <p:txBody>
          <a:bodyPr wrap="square" lIns="0" tIns="0" rIns="0" bIns="0" rtlCol="0" anchor="ctr"/>
          <a:lstStyle/>
          <a:p>
            <a:pPr indent="0" marL="0">
              <a:buNone/>
            </a:pPr>
            <a:r>
              <a:rPr lang="en-US" sz="950" b="1" dirty="0">
                <a:solidFill>
                  <a:srgbClr val="1B2A4A"/>
                </a:solidFill>
                <a:latin typeface="Calibri" pitchFamily="34" charset="0"/>
                <a:ea typeface="Calibri" pitchFamily="34" charset="-122"/>
                <a:cs typeface="Calibri" pitchFamily="34" charset="-120"/>
              </a:rPr>
              <a:t>Try the prototype</a:t>
            </a:r>
            <a:endParaRPr lang="en-US" sz="950" dirty="0"/>
          </a:p>
          <a:p>
            <a:pPr indent="0" marL="0">
              <a:buNone/>
            </a:pPr>
            <a:r>
              <a:rPr lang="en-US" sz="750" dirty="0">
                <a:solidFill>
                  <a:srgbClr val="6B7280"/>
                </a:solidFill>
                <a:latin typeface="Calibri" pitchFamily="34" charset="0"/>
                <a:ea typeface="Calibri" pitchFamily="34" charset="-122"/>
                <a:cs typeface="Calibri" pitchFamily="34" charset="-120"/>
              </a:rPr>
              <a:t>call number + PIN (add)</a:t>
            </a:r>
            <a:endParaRPr lang="en-US" sz="950" dirty="0"/>
          </a:p>
        </p:txBody>
      </p:sp>
      <p:sp>
        <p:nvSpPr>
          <p:cNvPr id="47" name="Shape 38"/>
          <p:cNvSpPr/>
          <p:nvPr/>
        </p:nvSpPr>
        <p:spPr>
          <a:xfrm>
            <a:off x="4608576" y="4059936"/>
            <a:ext cx="2075688" cy="694944"/>
          </a:xfrm>
          <a:prstGeom prst="roundRect">
            <a:avLst>
              <a:gd name="adj" fmla="val 10526"/>
            </a:avLst>
          </a:prstGeom>
          <a:solidFill>
            <a:srgbClr val="FFFFFF"/>
          </a:solidFill>
          <a:ln w="9525">
            <a:solidFill>
              <a:srgbClr val="E5E7EB"/>
            </a:solidFill>
            <a:prstDash val="solid"/>
          </a:ln>
          <a:effectLst>
            <a:outerShdw sx="100000" sy="100000" kx="0" ky="0" algn="bl" rotWithShape="0" blurRad="50800" dist="19050" dir="5400000">
              <a:srgbClr val="000000">
                <a:alpha val="12000"/>
              </a:srgbClr>
            </a:outerShdw>
          </a:effectLst>
        </p:spPr>
      </p:sp>
      <p:sp>
        <p:nvSpPr>
          <p:cNvPr id="48" name="Shape 39"/>
          <p:cNvSpPr/>
          <p:nvPr/>
        </p:nvSpPr>
        <p:spPr>
          <a:xfrm>
            <a:off x="4681728" y="4114800"/>
            <a:ext cx="585216" cy="585216"/>
          </a:xfrm>
          <a:prstGeom prst="roundRect">
            <a:avLst>
              <a:gd name="adj" fmla="val 7813"/>
            </a:avLst>
          </a:prstGeom>
          <a:solidFill>
            <a:srgbClr val="F5F6F8"/>
          </a:solidFill>
          <a:ln w="9525">
            <a:solidFill>
              <a:srgbClr val="D1D5DB"/>
            </a:solidFill>
            <a:prstDash val="dash"/>
          </a:ln>
        </p:spPr>
      </p:sp>
      <p:pic>
        <p:nvPicPr>
          <p:cNvPr id="49" name="Image 7" descr="preencoded.png">    </p:cNvPr>
          <p:cNvPicPr>
            <a:picLocks noChangeAspect="1"/>
          </p:cNvPicPr>
          <p:nvPr/>
        </p:nvPicPr>
        <p:blipFill>
          <a:blip r:embed="rId8"/>
          <a:stretch>
            <a:fillRect/>
          </a:stretch>
        </p:blipFill>
        <p:spPr>
          <a:xfrm>
            <a:off x="4828032" y="4261104"/>
            <a:ext cx="292608" cy="292608"/>
          </a:xfrm>
          <a:prstGeom prst="rect">
            <a:avLst/>
          </a:prstGeom>
        </p:spPr>
      </p:pic>
      <p:sp>
        <p:nvSpPr>
          <p:cNvPr id="50" name="Text 40"/>
          <p:cNvSpPr txBox="1"/>
          <p:nvPr/>
        </p:nvSpPr>
        <p:spPr>
          <a:xfrm>
            <a:off x="5340096" y="4114800"/>
            <a:ext cx="1298448" cy="585216"/>
          </a:xfrm>
          <a:prstGeom prst="rect">
            <a:avLst/>
          </a:prstGeom>
          <a:noFill/>
          <a:ln/>
        </p:spPr>
        <p:txBody>
          <a:bodyPr wrap="square" lIns="0" tIns="0" rIns="0" bIns="0" rtlCol="0" anchor="ctr"/>
          <a:lstStyle/>
          <a:p>
            <a:pPr indent="0" marL="0">
              <a:buNone/>
            </a:pPr>
            <a:r>
              <a:rPr lang="en-US" sz="950" b="1" dirty="0">
                <a:solidFill>
                  <a:srgbClr val="1B2A4A"/>
                </a:solidFill>
                <a:latin typeface="Calibri" pitchFamily="34" charset="0"/>
                <a:ea typeface="Calibri" pitchFamily="34" charset="-122"/>
                <a:cs typeface="Calibri" pitchFamily="34" charset="-120"/>
              </a:rPr>
              <a:t>Demo video</a:t>
            </a:r>
            <a:endParaRPr lang="en-US" sz="950" dirty="0"/>
          </a:p>
          <a:p>
            <a:pPr indent="0" marL="0">
              <a:buNone/>
            </a:pPr>
            <a:r>
              <a:rPr lang="en-US" sz="750" dirty="0">
                <a:solidFill>
                  <a:srgbClr val="6B7280"/>
                </a:solidFill>
                <a:latin typeface="Calibri" pitchFamily="34" charset="0"/>
                <a:ea typeface="Calibri" pitchFamily="34" charset="-122"/>
                <a:cs typeface="Calibri" pitchFamily="34" charset="-120"/>
              </a:rPr>
              <a:t>a real call, start to finish (add link)</a:t>
            </a:r>
            <a:endParaRPr lang="en-US" sz="950" dirty="0"/>
          </a:p>
        </p:txBody>
      </p:sp>
      <p:sp>
        <p:nvSpPr>
          <p:cNvPr id="51" name="Shape 41"/>
          <p:cNvSpPr/>
          <p:nvPr/>
        </p:nvSpPr>
        <p:spPr>
          <a:xfrm>
            <a:off x="6775704" y="4059936"/>
            <a:ext cx="2075688" cy="694944"/>
          </a:xfrm>
          <a:prstGeom prst="roundRect">
            <a:avLst>
              <a:gd name="adj" fmla="val 10526"/>
            </a:avLst>
          </a:prstGeom>
          <a:solidFill>
            <a:srgbClr val="FFFFFF"/>
          </a:solidFill>
          <a:ln w="9525">
            <a:solidFill>
              <a:srgbClr val="E5E7EB"/>
            </a:solidFill>
            <a:prstDash val="solid"/>
          </a:ln>
          <a:effectLst>
            <a:outerShdw sx="100000" sy="100000" kx="0" ky="0" algn="bl" rotWithShape="0" blurRad="50800" dist="19050" dir="5400000">
              <a:srgbClr val="000000">
                <a:alpha val="12000"/>
              </a:srgbClr>
            </a:outerShdw>
          </a:effectLst>
        </p:spPr>
      </p:sp>
      <p:pic>
        <p:nvPicPr>
          <p:cNvPr id="52" name="Image 8" descr="preencoded.png">    </p:cNvPr>
          <p:cNvPicPr>
            <a:picLocks noChangeAspect="1"/>
          </p:cNvPicPr>
          <p:nvPr/>
        </p:nvPicPr>
        <p:blipFill>
          <a:blip r:embed="rId9"/>
          <a:stretch>
            <a:fillRect/>
          </a:stretch>
        </p:blipFill>
        <p:spPr>
          <a:xfrm>
            <a:off x="6848856" y="4114800"/>
            <a:ext cx="585216" cy="585216"/>
          </a:xfrm>
          <a:prstGeom prst="rect">
            <a:avLst/>
          </a:prstGeom>
        </p:spPr>
      </p:pic>
      <p:sp>
        <p:nvSpPr>
          <p:cNvPr id="53" name="Text 42"/>
          <p:cNvSpPr txBox="1"/>
          <p:nvPr/>
        </p:nvSpPr>
        <p:spPr>
          <a:xfrm>
            <a:off x="7507224" y="4114800"/>
            <a:ext cx="1298448" cy="585216"/>
          </a:xfrm>
          <a:prstGeom prst="rect">
            <a:avLst/>
          </a:prstGeom>
          <a:noFill/>
          <a:ln/>
        </p:spPr>
        <p:txBody>
          <a:bodyPr wrap="square" lIns="0" tIns="0" rIns="0" bIns="0" rtlCol="0" anchor="ctr"/>
          <a:lstStyle/>
          <a:p>
            <a:pPr indent="0" marL="0">
              <a:buNone/>
            </a:pPr>
            <a:r>
              <a:rPr lang="en-US" sz="950" b="1" dirty="0">
                <a:solidFill>
                  <a:srgbClr val="1B2A4A"/>
                </a:solidFill>
                <a:latin typeface="Calibri" pitchFamily="34" charset="0"/>
                <a:ea typeface="Calibri" pitchFamily="34" charset="-122"/>
                <a:cs typeface="Calibri" pitchFamily="34" charset="-120"/>
              </a:rPr>
              <a:t>Calculations</a:t>
            </a:r>
            <a:endParaRPr lang="en-US" sz="950" dirty="0"/>
          </a:p>
          <a:p>
            <a:pPr indent="0" marL="0">
              <a:buNone/>
            </a:pPr>
            <a:r>
              <a:rPr lang="en-US" sz="750" dirty="0">
                <a:solidFill>
                  <a:srgbClr val="6B7280"/>
                </a:solidFill>
                <a:latin typeface="Calibri" pitchFamily="34" charset="0"/>
                <a:ea typeface="Calibri" pitchFamily="34" charset="-122"/>
                <a:cs typeface="Calibri" pitchFamily="34" charset="-120"/>
              </a:rPr>
              <a:t>scripts/cost_model.py: every rate + source</a:t>
            </a:r>
            <a:endParaRPr lang="en-US" sz="950" dirty="0"/>
          </a:p>
        </p:txBody>
      </p:sp>
      <p:sp>
        <p:nvSpPr>
          <p:cNvPr id="54" name="Text 43"/>
          <p:cNvSpPr txBox="1"/>
          <p:nvPr/>
        </p:nvSpPr>
        <p:spPr>
          <a:xfrm>
            <a:off x="2377440" y="4846320"/>
            <a:ext cx="6035040" cy="201168"/>
          </a:xfrm>
          <a:prstGeom prst="rect">
            <a:avLst/>
          </a:prstGeom>
          <a:noFill/>
          <a:ln/>
        </p:spPr>
        <p:txBody>
          <a:bodyPr wrap="square" lIns="0" tIns="0" rIns="0" bIns="0" rtlCol="0" anchor="ctr"/>
          <a:lstStyle/>
          <a:p>
            <a:pPr algn="ctr" indent="0" marL="0">
              <a:buNone/>
            </a:pPr>
            <a:r>
              <a:rPr lang="en-US" sz="700" i="1" dirty="0">
                <a:solidFill>
                  <a:srgbClr val="6B7280"/>
                </a:solidFill>
                <a:latin typeface="Calibri" pitchFamily="34" charset="0"/>
                <a:ea typeface="Calibri" pitchFamily="34" charset="-122"/>
                <a:cs typeface="Calibri" pitchFamily="34" charset="-120"/>
              </a:rPr>
              <a:t>Ideas credited to: SkillCall, VoicePath, Kaushal Saathi, Sahayak, Saksham, MSOL · estimates are marked and fully worked on GitHub</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HunarMarg · SIH26097</dc:title>
  <dc:subject>PptxGenJS Presentation</dc:subject>
  <dc:creator>PptxGenJS</dc:creator>
  <cp:lastModifiedBy>PptxGenJS</cp:lastModifiedBy>
  <cp:revision>1</cp:revision>
  <dcterms:created xsi:type="dcterms:W3CDTF">2026-09-30T12:45:07Z</dcterms:created>
  <dcterms:modified xsi:type="dcterms:W3CDTF">2026-09-30T12:45:07Z</dcterms:modified>
</cp:coreProperties>
</file>